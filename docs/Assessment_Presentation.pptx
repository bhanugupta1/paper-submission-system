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286000"/>
            <a:ext cx="457200" cy="73152"/>
          </a:xfrm>
          <a:prstGeom prst="rect">
            <a:avLst/>
          </a:prstGeom>
          <a:solidFill>
            <a:srgbClr val="F4B94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4688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8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AI-AUGMENTED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2926080"/>
            <a:ext cx="10972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Paper Submission</a:t>
            </a:r>
            <a:endParaRPr lang="en-US" sz="5600" dirty="0"/>
          </a:p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&amp; Peer-Review System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548640" y="4754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Reimagining a course project with Generative AI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58521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Bhanu Gupta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6172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 in Practice  ·  Assessment 1  ·  May 2026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0728655" y="548640"/>
            <a:ext cx="822960" cy="822960"/>
          </a:xfrm>
          <a:prstGeom prst="ellipse">
            <a:avLst/>
          </a:prstGeom>
          <a:solidFill>
            <a:srgbClr val="141C49"/>
          </a:solidFill>
          <a:ln w="12700">
            <a:solidFill>
              <a:srgbClr val="F4B942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11535" y="73152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5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original project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peer-review system I built for a previous web-development course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4846320" cy="4389120"/>
          </a:xfrm>
          <a:prstGeom prst="rect">
            <a:avLst/>
          </a:prstGeom>
          <a:solidFill>
            <a:srgbClr val="F7F8FB"/>
          </a:solidFill>
          <a:ln w="12700">
            <a:solidFill>
              <a:srgbClr val="E2E5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554480"/>
            <a:ext cx="73152" cy="43891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69164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2011680"/>
            <a:ext cx="438912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0F15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· Express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0F15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EJS server-rendered views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0F15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(sqlite3 driver)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0F15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 + express-session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0F15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multer file uploads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0F15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ExcelJS export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420624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" y="45262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0F15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 submits manuscript + abstract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0F15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Editor manually assigns reviewers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0F15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Reviewer writes free-text feedback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0F15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reader feed of accepted papers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852160" y="1691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&amp; FLOW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852160" y="210312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5852160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720840" y="21488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5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720840" y="2432304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manuscript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172200" y="2743200"/>
            <a:ext cx="0" cy="274320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52160" y="301752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5852160" y="3017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720840" y="30632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5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EDITOR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720840" y="3346704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reviewer (random)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172200" y="3657600"/>
            <a:ext cx="0" cy="274320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852160" y="393192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3" name="Text 21"/>
          <p:cNvSpPr/>
          <p:nvPr/>
        </p:nvSpPr>
        <p:spPr>
          <a:xfrm>
            <a:off x="5852160" y="3931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6720840" y="39776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5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REVIEWER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720840" y="4261104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Free-text feedback + decision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172200" y="4572000"/>
            <a:ext cx="0" cy="274320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852160" y="484632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8" name="Text 26"/>
          <p:cNvSpPr/>
          <p:nvPr/>
        </p:nvSpPr>
        <p:spPr>
          <a:xfrm>
            <a:off x="5852160" y="4846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6720840" y="48920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5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READER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720840" y="5175504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accepted papers (public)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Bhanu Gupta · Generative AI in Practice · Assessment 1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5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Limitations of the original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an honest audit surfaced — and why GenAI is the right cure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3520440" cy="2194560"/>
          </a:xfrm>
          <a:prstGeom prst="rect">
            <a:avLst/>
          </a:prstGeom>
          <a:solidFill>
            <a:srgbClr val="F7F8FB"/>
          </a:solidFill>
          <a:ln w="12700">
            <a:solidFill>
              <a:srgbClr val="E2E5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874520"/>
            <a:ext cx="502920" cy="502920"/>
          </a:xfrm>
          <a:prstGeom prst="ellipse">
            <a:avLst/>
          </a:prstGeom>
          <a:solidFill>
            <a:srgbClr val="FCE7E5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1975104"/>
            <a:ext cx="301752" cy="30175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17320" y="18745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5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Buggy auth wiring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77240" y="256032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express-session never imported; mixed req.session shape across routes; broken author-id lookup.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526280" y="1645920"/>
            <a:ext cx="3520440" cy="2194560"/>
          </a:xfrm>
          <a:prstGeom prst="rect">
            <a:avLst/>
          </a:prstGeom>
          <a:solidFill>
            <a:srgbClr val="F7F8FB"/>
          </a:solidFill>
          <a:ln w="12700">
            <a:solidFill>
              <a:srgbClr val="E2E5EE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754880" y="1874520"/>
            <a:ext cx="502920" cy="502920"/>
          </a:xfrm>
          <a:prstGeom prst="ellipse">
            <a:avLst/>
          </a:prstGeom>
          <a:solidFill>
            <a:srgbClr val="FCE7E5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5464" y="1975104"/>
            <a:ext cx="301752" cy="30175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94960" y="18745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5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reviewer assignment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4754880" y="256032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Math.random() picks any reviewer regardless of expertise — a real workshop never operates this way.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8503920" y="1645920"/>
            <a:ext cx="3520440" cy="2194560"/>
          </a:xfrm>
          <a:prstGeom prst="rect">
            <a:avLst/>
          </a:prstGeom>
          <a:solidFill>
            <a:srgbClr val="F7F8FB"/>
          </a:solidFill>
          <a:ln w="12700">
            <a:solidFill>
              <a:srgbClr val="E2E5EE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8732520" y="1874520"/>
            <a:ext cx="502920" cy="502920"/>
          </a:xfrm>
          <a:prstGeom prst="ellipse">
            <a:avLst/>
          </a:prstGeom>
          <a:solidFill>
            <a:srgbClr val="FCE7E5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33104" y="1975104"/>
            <a:ext cx="301752" cy="30175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372600" y="18745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5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integrity checks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8732520" y="256032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plagiarism detection, no duplicate-submission detection, no AI-generated-text flagging.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548640" y="4114800"/>
            <a:ext cx="3520440" cy="2194560"/>
          </a:xfrm>
          <a:prstGeom prst="rect">
            <a:avLst/>
          </a:prstGeom>
          <a:solidFill>
            <a:srgbClr val="F7F8FB"/>
          </a:solidFill>
          <a:ln w="12700">
            <a:solidFill>
              <a:srgbClr val="E2E5EE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777240" y="4343400"/>
            <a:ext cx="502920" cy="502920"/>
          </a:xfrm>
          <a:prstGeom prst="ellipse">
            <a:avLst/>
          </a:prstGeom>
          <a:solidFill>
            <a:srgbClr val="FCE7E5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7824" y="4443984"/>
            <a:ext cx="301752" cy="30175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417320" y="43434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5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Unstructured reviews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777240" y="502920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textarea per review. No comparable scores, no aggregation, no recommendation field.</a:t>
            </a:r>
            <a:endParaRPr lang="en-US" sz="1200" dirty="0"/>
          </a:p>
        </p:txBody>
      </p:sp>
      <p:sp>
        <p:nvSpPr>
          <p:cNvPr id="25" name="Shape 19"/>
          <p:cNvSpPr/>
          <p:nvPr/>
        </p:nvSpPr>
        <p:spPr>
          <a:xfrm>
            <a:off x="4526280" y="4114800"/>
            <a:ext cx="3520440" cy="2194560"/>
          </a:xfrm>
          <a:prstGeom prst="rect">
            <a:avLst/>
          </a:prstGeom>
          <a:solidFill>
            <a:srgbClr val="F7F8FB"/>
          </a:solidFill>
          <a:ln w="12700">
            <a:solidFill>
              <a:srgbClr val="E2E5EE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4754880" y="4343400"/>
            <a:ext cx="502920" cy="502920"/>
          </a:xfrm>
          <a:prstGeom prst="ellipse">
            <a:avLst/>
          </a:prstGeom>
          <a:solidFill>
            <a:srgbClr val="FCE7E5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55464" y="4443984"/>
            <a:ext cx="301752" cy="301752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5394960" y="43434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5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author tooling</a:t>
            </a:r>
            <a:endParaRPr lang="en-US" sz="1600" dirty="0"/>
          </a:p>
        </p:txBody>
      </p:sp>
      <p:sp>
        <p:nvSpPr>
          <p:cNvPr id="29" name="Text 22"/>
          <p:cNvSpPr/>
          <p:nvPr/>
        </p:nvSpPr>
        <p:spPr>
          <a:xfrm>
            <a:off x="4754880" y="502920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Authors get zero feedback before submitting — no abstract polish, no keyword extraction, no title help.</a:t>
            </a:r>
            <a:endParaRPr lang="en-US" sz="1200" dirty="0"/>
          </a:p>
        </p:txBody>
      </p:sp>
      <p:sp>
        <p:nvSpPr>
          <p:cNvPr id="30" name="Shape 23"/>
          <p:cNvSpPr/>
          <p:nvPr/>
        </p:nvSpPr>
        <p:spPr>
          <a:xfrm>
            <a:off x="8503920" y="4114800"/>
            <a:ext cx="3520440" cy="2194560"/>
          </a:xfrm>
          <a:prstGeom prst="rect">
            <a:avLst/>
          </a:prstGeom>
          <a:solidFill>
            <a:srgbClr val="F7F8FB"/>
          </a:solidFill>
          <a:ln w="12700">
            <a:solidFill>
              <a:srgbClr val="E2E5EE"/>
            </a:solidFill>
            <a:prstDash val="solid"/>
          </a:ln>
        </p:spPr>
      </p:sp>
      <p:sp>
        <p:nvSpPr>
          <p:cNvPr id="31" name="Shape 24"/>
          <p:cNvSpPr/>
          <p:nvPr/>
        </p:nvSpPr>
        <p:spPr>
          <a:xfrm>
            <a:off x="8732520" y="4343400"/>
            <a:ext cx="502920" cy="502920"/>
          </a:xfrm>
          <a:prstGeom prst="ellipse">
            <a:avLst/>
          </a:prstGeom>
          <a:solidFill>
            <a:srgbClr val="FCE7E5"/>
          </a:solidFill>
          <a:ln/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33104" y="4443984"/>
            <a:ext cx="301752" cy="301752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9372600" y="43434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5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tests, no Docker, no CI</a:t>
            </a:r>
            <a:endParaRPr lang="en-US" sz="1600" dirty="0"/>
          </a:p>
        </p:txBody>
      </p:sp>
      <p:sp>
        <p:nvSpPr>
          <p:cNvPr id="34" name="Text 26"/>
          <p:cNvSpPr/>
          <p:nvPr/>
        </p:nvSpPr>
        <p:spPr>
          <a:xfrm>
            <a:off x="8732520" y="502920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Single-file app.js, hardcoded session secret, two stray .db files. Won't survive code review.</a:t>
            </a:r>
            <a:endParaRPr lang="en-US" sz="1200" dirty="0"/>
          </a:p>
        </p:txBody>
      </p:sp>
      <p:sp>
        <p:nvSpPr>
          <p:cNvPr id="35" name="Text 27"/>
          <p:cNvSpPr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Bhanu Gupta · Generative AI in Practice · Assessment 1</a:t>
            </a:r>
            <a:endParaRPr lang="en-US" sz="1000" dirty="0"/>
          </a:p>
        </p:txBody>
      </p:sp>
      <p:sp>
        <p:nvSpPr>
          <p:cNvPr id="36" name="Text 28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5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Generative AI?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weakness above maps to something today's AI can directly support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2377440" cy="14630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645920"/>
            <a:ext cx="2377440" cy="54864"/>
          </a:xfrm>
          <a:prstGeom prst="rect">
            <a:avLst/>
          </a:prstGeom>
          <a:solidFill>
            <a:srgbClr val="F4B942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69164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5600" dirty="0"/>
          </a:p>
        </p:txBody>
      </p:sp>
      <p:sp>
        <p:nvSpPr>
          <p:cNvPr id="8" name="Text 6"/>
          <p:cNvSpPr/>
          <p:nvPr/>
        </p:nvSpPr>
        <p:spPr>
          <a:xfrm>
            <a:off x="548640" y="26060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features planned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520440" y="1645920"/>
            <a:ext cx="2377440" cy="14630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0" name="Shape 8"/>
          <p:cNvSpPr/>
          <p:nvPr/>
        </p:nvSpPr>
        <p:spPr>
          <a:xfrm>
            <a:off x="3520440" y="1645920"/>
            <a:ext cx="2377440" cy="54864"/>
          </a:xfrm>
          <a:prstGeom prst="rect">
            <a:avLst/>
          </a:prstGeom>
          <a:solidFill>
            <a:srgbClr val="F4B942"/>
          </a:solidFill>
          <a:ln/>
        </p:spPr>
      </p:sp>
      <p:sp>
        <p:nvSpPr>
          <p:cNvPr id="11" name="Text 9"/>
          <p:cNvSpPr/>
          <p:nvPr/>
        </p:nvSpPr>
        <p:spPr>
          <a:xfrm>
            <a:off x="3520440" y="169164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5600" dirty="0"/>
          </a:p>
        </p:txBody>
      </p:sp>
      <p:sp>
        <p:nvSpPr>
          <p:cNvPr id="12" name="Text 10"/>
          <p:cNvSpPr/>
          <p:nvPr/>
        </p:nvSpPr>
        <p:spPr>
          <a:xfrm>
            <a:off x="3520440" y="26060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provider backends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92240" y="1645920"/>
            <a:ext cx="2377440" cy="14630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4" name="Shape 12"/>
          <p:cNvSpPr/>
          <p:nvPr/>
        </p:nvSpPr>
        <p:spPr>
          <a:xfrm>
            <a:off x="6492240" y="1645920"/>
            <a:ext cx="2377440" cy="54864"/>
          </a:xfrm>
          <a:prstGeom prst="rect">
            <a:avLst/>
          </a:prstGeom>
          <a:solidFill>
            <a:srgbClr val="F4B942"/>
          </a:solidFill>
          <a:ln/>
        </p:spPr>
      </p:sp>
      <p:sp>
        <p:nvSpPr>
          <p:cNvPr id="15" name="Text 13"/>
          <p:cNvSpPr/>
          <p:nvPr/>
        </p:nvSpPr>
        <p:spPr>
          <a:xfrm>
            <a:off x="6492240" y="169164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0$</a:t>
            </a:r>
            <a:endParaRPr lang="en-US" sz="5600" dirty="0"/>
          </a:p>
        </p:txBody>
      </p:sp>
      <p:sp>
        <p:nvSpPr>
          <p:cNvPr id="16" name="Text 14"/>
          <p:cNvSpPr/>
          <p:nvPr/>
        </p:nvSpPr>
        <p:spPr>
          <a:xfrm>
            <a:off x="6492240" y="26060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Zero-cost demo mode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9464040" y="1645920"/>
            <a:ext cx="2377440" cy="14630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8" name="Shape 16"/>
          <p:cNvSpPr/>
          <p:nvPr/>
        </p:nvSpPr>
        <p:spPr>
          <a:xfrm>
            <a:off x="9464040" y="1645920"/>
            <a:ext cx="2377440" cy="54864"/>
          </a:xfrm>
          <a:prstGeom prst="rect">
            <a:avLst/>
          </a:prstGeom>
          <a:solidFill>
            <a:srgbClr val="F4B942"/>
          </a:solidFill>
          <a:ln/>
        </p:spPr>
      </p:sp>
      <p:sp>
        <p:nvSpPr>
          <p:cNvPr id="19" name="Text 17"/>
          <p:cNvSpPr/>
          <p:nvPr/>
        </p:nvSpPr>
        <p:spPr>
          <a:xfrm>
            <a:off x="9464040" y="169164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5600" dirty="0"/>
          </a:p>
        </p:txBody>
      </p:sp>
      <p:sp>
        <p:nvSpPr>
          <p:cNvPr id="20" name="Text 18"/>
          <p:cNvSpPr/>
          <p:nvPr/>
        </p:nvSpPr>
        <p:spPr>
          <a:xfrm>
            <a:off x="9464040" y="26060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roles supported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3657600"/>
            <a:ext cx="3520440" cy="2377440"/>
          </a:xfrm>
          <a:prstGeom prst="rect">
            <a:avLst/>
          </a:prstGeom>
          <a:solidFill>
            <a:srgbClr val="F7F8FB"/>
          </a:solidFill>
          <a:ln w="12700">
            <a:solidFill>
              <a:srgbClr val="E2E5E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77240" y="3886200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4005072"/>
            <a:ext cx="365760" cy="365760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1508760" y="3904488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5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777240" y="4617720"/>
            <a:ext cx="31089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read an abstract and emit structured prose: review drafts, polished text, alternative titles.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4526280" y="3657600"/>
            <a:ext cx="3520440" cy="2377440"/>
          </a:xfrm>
          <a:prstGeom prst="rect">
            <a:avLst/>
          </a:prstGeom>
          <a:solidFill>
            <a:srgbClr val="F7F8FB"/>
          </a:solidFill>
          <a:ln w="12700">
            <a:solidFill>
              <a:srgbClr val="E2E5EE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4754880" y="3886200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3752" y="4005072"/>
            <a:ext cx="365760" cy="365760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5486400" y="3904488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5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</a:t>
            </a:r>
            <a:endParaRPr lang="en-US" sz="1800" dirty="0"/>
          </a:p>
        </p:txBody>
      </p:sp>
      <p:sp>
        <p:nvSpPr>
          <p:cNvPr id="30" name="Text 26"/>
          <p:cNvSpPr/>
          <p:nvPr/>
        </p:nvSpPr>
        <p:spPr>
          <a:xfrm>
            <a:off x="4754880" y="4617720"/>
            <a:ext cx="31089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 turn text into vectors — reviewer matching and plagiarism become numeric distance problems.</a:t>
            </a:r>
            <a:endParaRPr lang="en-US" sz="1300" dirty="0"/>
          </a:p>
        </p:txBody>
      </p:sp>
      <p:sp>
        <p:nvSpPr>
          <p:cNvPr id="31" name="Shape 27"/>
          <p:cNvSpPr/>
          <p:nvPr/>
        </p:nvSpPr>
        <p:spPr>
          <a:xfrm>
            <a:off x="8503920" y="3657600"/>
            <a:ext cx="3520440" cy="2377440"/>
          </a:xfrm>
          <a:prstGeom prst="rect">
            <a:avLst/>
          </a:prstGeom>
          <a:solidFill>
            <a:srgbClr val="F7F8FB"/>
          </a:solidFill>
          <a:ln w="12700">
            <a:solidFill>
              <a:srgbClr val="E2E5EE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8732520" y="3886200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1392" y="4005072"/>
            <a:ext cx="365760" cy="365760"/>
          </a:xfrm>
          <a:prstGeom prst="rect">
            <a:avLst/>
          </a:prstGeom>
        </p:spPr>
      </p:pic>
      <p:sp>
        <p:nvSpPr>
          <p:cNvPr id="34" name="Text 29"/>
          <p:cNvSpPr/>
          <p:nvPr/>
        </p:nvSpPr>
        <p:spPr>
          <a:xfrm>
            <a:off x="9464040" y="3904488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5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support</a:t>
            </a:r>
            <a:endParaRPr lang="en-US" sz="1800" dirty="0"/>
          </a:p>
        </p:txBody>
      </p:sp>
      <p:sp>
        <p:nvSpPr>
          <p:cNvPr id="35" name="Text 30"/>
          <p:cNvSpPr/>
          <p:nvPr/>
        </p:nvSpPr>
        <p:spPr>
          <a:xfrm>
            <a:off x="8732520" y="4617720"/>
            <a:ext cx="31089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never decides. It surfaces signals; humans accept, override, and stay accountable.</a:t>
            </a:r>
            <a:endParaRPr lang="en-US" sz="1300" dirty="0"/>
          </a:p>
        </p:txBody>
      </p:sp>
      <p:sp>
        <p:nvSpPr>
          <p:cNvPr id="36" name="Text 31"/>
          <p:cNvSpPr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Bhanu Gupta · Generative AI in Practice · Assessment 1</a:t>
            </a:r>
            <a:endParaRPr lang="en-US" sz="1000" dirty="0"/>
          </a:p>
        </p:txBody>
      </p:sp>
      <p:sp>
        <p:nvSpPr>
          <p:cNvPr id="37" name="Text 32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5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planned GenAI features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addresses a specific weakness from the audit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5486400" cy="2148840"/>
          </a:xfrm>
          <a:prstGeom prst="rect">
            <a:avLst/>
          </a:prstGeom>
          <a:solidFill>
            <a:srgbClr val="F7F8FB"/>
          </a:solidFill>
          <a:ln w="12700">
            <a:solidFill>
              <a:srgbClr val="E2E5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645920"/>
            <a:ext cx="73152" cy="21488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Shape 5"/>
          <p:cNvSpPr/>
          <p:nvPr/>
        </p:nvSpPr>
        <p:spPr>
          <a:xfrm>
            <a:off x="868680" y="196596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6696" y="2093976"/>
            <a:ext cx="384048" cy="38404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691640" y="19202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5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 writing assistant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4983480" y="2011680"/>
            <a:ext cx="868680" cy="32004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11" name="Text 8"/>
          <p:cNvSpPr/>
          <p:nvPr/>
        </p:nvSpPr>
        <p:spPr>
          <a:xfrm>
            <a:off x="4983480" y="2011680"/>
            <a:ext cx="868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868680" y="2697480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Polishes the abstract, suggests alternative titles, extracts keywords on demand. Author edits and accepts.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199632" y="1645920"/>
            <a:ext cx="5486400" cy="2148840"/>
          </a:xfrm>
          <a:prstGeom prst="rect">
            <a:avLst/>
          </a:prstGeom>
          <a:solidFill>
            <a:srgbClr val="F7F8FB"/>
          </a:solidFill>
          <a:ln w="12700">
            <a:solidFill>
              <a:srgbClr val="E2E5EE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199632" y="1645920"/>
            <a:ext cx="73152" cy="21488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5" name="Shape 12"/>
          <p:cNvSpPr/>
          <p:nvPr/>
        </p:nvSpPr>
        <p:spPr>
          <a:xfrm>
            <a:off x="6519672" y="196596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7688" y="2093976"/>
            <a:ext cx="384048" cy="384048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7342632" y="19202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5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reviewer matching</a:t>
            </a:r>
            <a:endParaRPr lang="en-US" sz="1700" dirty="0"/>
          </a:p>
        </p:txBody>
      </p:sp>
      <p:sp>
        <p:nvSpPr>
          <p:cNvPr id="18" name="Shape 14"/>
          <p:cNvSpPr/>
          <p:nvPr/>
        </p:nvSpPr>
        <p:spPr>
          <a:xfrm>
            <a:off x="10634472" y="2011680"/>
            <a:ext cx="868680" cy="32004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19" name="Text 15"/>
          <p:cNvSpPr/>
          <p:nvPr/>
        </p:nvSpPr>
        <p:spPr>
          <a:xfrm>
            <a:off x="10634472" y="2011680"/>
            <a:ext cx="868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</a:t>
            </a:r>
            <a:endParaRPr lang="en-US" sz="1000" dirty="0"/>
          </a:p>
        </p:txBody>
      </p:sp>
      <p:sp>
        <p:nvSpPr>
          <p:cNvPr id="20" name="Text 16"/>
          <p:cNvSpPr/>
          <p:nvPr/>
        </p:nvSpPr>
        <p:spPr>
          <a:xfrm>
            <a:off x="6519672" y="2697480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similarity over reviewer expertise tags. Editor sees a top-3 ranked list with scores and can override.</a:t>
            </a:r>
            <a:endParaRPr lang="en-US" sz="1300" dirty="0"/>
          </a:p>
        </p:txBody>
      </p:sp>
      <p:sp>
        <p:nvSpPr>
          <p:cNvPr id="21" name="Shape 17"/>
          <p:cNvSpPr/>
          <p:nvPr/>
        </p:nvSpPr>
        <p:spPr>
          <a:xfrm>
            <a:off x="548640" y="3977640"/>
            <a:ext cx="5486400" cy="2148840"/>
          </a:xfrm>
          <a:prstGeom prst="rect">
            <a:avLst/>
          </a:prstGeom>
          <a:solidFill>
            <a:srgbClr val="F7F8FB"/>
          </a:solidFill>
          <a:ln w="12700">
            <a:solidFill>
              <a:srgbClr val="E2E5EE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548640" y="3977640"/>
            <a:ext cx="73152" cy="21488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3" name="Shape 19"/>
          <p:cNvSpPr/>
          <p:nvPr/>
        </p:nvSpPr>
        <p:spPr>
          <a:xfrm>
            <a:off x="868680" y="429768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696" y="4425696"/>
            <a:ext cx="384048" cy="384048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1691640" y="42519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5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Plagiarism + AI-text flag</a:t>
            </a:r>
            <a:endParaRPr lang="en-US" sz="1700" dirty="0"/>
          </a:p>
        </p:txBody>
      </p:sp>
      <p:sp>
        <p:nvSpPr>
          <p:cNvPr id="26" name="Shape 21"/>
          <p:cNvSpPr/>
          <p:nvPr/>
        </p:nvSpPr>
        <p:spPr>
          <a:xfrm>
            <a:off x="4983480" y="4343400"/>
            <a:ext cx="868680" cy="32004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27" name="Text 22"/>
          <p:cNvSpPr/>
          <p:nvPr/>
        </p:nvSpPr>
        <p:spPr>
          <a:xfrm>
            <a:off x="4983480" y="4343400"/>
            <a:ext cx="868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</a:t>
            </a:r>
            <a:endParaRPr lang="en-US" sz="1000" dirty="0"/>
          </a:p>
        </p:txBody>
      </p:sp>
      <p:sp>
        <p:nvSpPr>
          <p:cNvPr id="28" name="Text 23"/>
          <p:cNvSpPr/>
          <p:nvPr/>
        </p:nvSpPr>
        <p:spPr>
          <a:xfrm>
            <a:off x="868680" y="5029200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similarity to existing corpus + transparent stylometric AI-text score. Flag, never verdict.</a:t>
            </a:r>
            <a:endParaRPr lang="en-US" sz="1300" dirty="0"/>
          </a:p>
        </p:txBody>
      </p:sp>
      <p:sp>
        <p:nvSpPr>
          <p:cNvPr id="29" name="Shape 24"/>
          <p:cNvSpPr/>
          <p:nvPr/>
        </p:nvSpPr>
        <p:spPr>
          <a:xfrm>
            <a:off x="6199632" y="3977640"/>
            <a:ext cx="5486400" cy="2148840"/>
          </a:xfrm>
          <a:prstGeom prst="rect">
            <a:avLst/>
          </a:prstGeom>
          <a:solidFill>
            <a:srgbClr val="F7F8FB"/>
          </a:solidFill>
          <a:ln w="12700">
            <a:solidFill>
              <a:srgbClr val="E2E5EE"/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>
            <a:off x="6199632" y="3977640"/>
            <a:ext cx="73152" cy="21488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1" name="Shape 26"/>
          <p:cNvSpPr/>
          <p:nvPr/>
        </p:nvSpPr>
        <p:spPr>
          <a:xfrm>
            <a:off x="6519672" y="429768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7688" y="4425696"/>
            <a:ext cx="384048" cy="38404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7342632" y="42519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5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reviewer assistant</a:t>
            </a:r>
            <a:endParaRPr lang="en-US" sz="1700" dirty="0"/>
          </a:p>
        </p:txBody>
      </p:sp>
      <p:sp>
        <p:nvSpPr>
          <p:cNvPr id="34" name="Shape 28"/>
          <p:cNvSpPr/>
          <p:nvPr/>
        </p:nvSpPr>
        <p:spPr>
          <a:xfrm>
            <a:off x="10634472" y="4343400"/>
            <a:ext cx="868680" cy="32004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35" name="Text 29"/>
          <p:cNvSpPr/>
          <p:nvPr/>
        </p:nvSpPr>
        <p:spPr>
          <a:xfrm>
            <a:off x="10634472" y="4343400"/>
            <a:ext cx="868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1000" dirty="0"/>
          </a:p>
        </p:txBody>
      </p:sp>
      <p:sp>
        <p:nvSpPr>
          <p:cNvPr id="36" name="Text 30"/>
          <p:cNvSpPr/>
          <p:nvPr/>
        </p:nvSpPr>
        <p:spPr>
          <a:xfrm>
            <a:off x="6519672" y="5029200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Drafts structured first-pass review (summary / strengths / weaknesses / 1-5 scores / recommendation).</a:t>
            </a:r>
            <a:endParaRPr lang="en-US" sz="1300" dirty="0"/>
          </a:p>
        </p:txBody>
      </p:sp>
      <p:sp>
        <p:nvSpPr>
          <p:cNvPr id="37" name="Text 31"/>
          <p:cNvSpPr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Bhanu Gupta · Generative AI in Practice · Assessment 1</a:t>
            </a:r>
            <a:endParaRPr lang="en-US" sz="1000" dirty="0"/>
          </a:p>
        </p:txBody>
      </p:sp>
      <p:sp>
        <p:nvSpPr>
          <p:cNvPr id="38" name="Text 32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5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Architecture I have prepared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Provider-agnostic LLM abstraction, MVC layout, audit logging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668780"/>
            <a:ext cx="2286000" cy="777240"/>
          </a:xfrm>
          <a:prstGeom prst="rect">
            <a:avLst/>
          </a:prstGeom>
          <a:solidFill>
            <a:srgbClr val="CADCFC"/>
          </a:solidFill>
          <a:ln w="12700">
            <a:solidFill>
              <a:srgbClr val="D5D9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66878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(EJS + Tailwind)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834640" y="1947672"/>
            <a:ext cx="548640" cy="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3383280" y="1554480"/>
            <a:ext cx="274320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83280" y="1554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App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383280" y="21031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helmet · CSP · session · CSRF · rate-limit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126480" y="1947672"/>
            <a:ext cx="548640" cy="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6675120" y="1668780"/>
            <a:ext cx="4937760" cy="777240"/>
          </a:xfrm>
          <a:prstGeom prst="rect">
            <a:avLst/>
          </a:prstGeom>
          <a:solidFill>
            <a:srgbClr val="F7F8FB"/>
          </a:solidFill>
          <a:ln w="12700">
            <a:solidFill>
              <a:srgbClr val="D5D9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75120" y="16687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5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→ Controllers → Services → Models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2926080"/>
            <a:ext cx="21031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299008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reviewerMatcher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33832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C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cosine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43200" y="2926080"/>
            <a:ext cx="21031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0" y="299008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plagiarism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743200" y="33832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C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+ stylometry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937760" y="2926080"/>
            <a:ext cx="21031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37760" y="299008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aiReviewer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937760" y="33832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C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draft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132320" y="2926080"/>
            <a:ext cx="21031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132320" y="299008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writingAssistant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132320" y="33832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C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polish + titles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9326880" y="2926080"/>
            <a:ext cx="21031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326880" y="299008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embeddings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9326880" y="33832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C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vectoriser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48640" y="4114800"/>
            <a:ext cx="11064240" cy="1645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0" name="Shape 28"/>
          <p:cNvSpPr/>
          <p:nvPr/>
        </p:nvSpPr>
        <p:spPr>
          <a:xfrm>
            <a:off x="548640" y="4114800"/>
            <a:ext cx="11064240" cy="54864"/>
          </a:xfrm>
          <a:prstGeom prst="rect">
            <a:avLst/>
          </a:prstGeom>
          <a:solidFill>
            <a:srgbClr val="F4B942"/>
          </a:solidFill>
          <a:ln/>
        </p:spPr>
      </p:sp>
      <p:sp>
        <p:nvSpPr>
          <p:cNvPr id="31" name="Text 29"/>
          <p:cNvSpPr/>
          <p:nvPr/>
        </p:nvSpPr>
        <p:spPr>
          <a:xfrm>
            <a:off x="777240" y="425196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PROVIDER SWITCH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77240" y="4617720"/>
            <a:ext cx="5349240" cy="1005840"/>
          </a:xfrm>
          <a:prstGeom prst="rect">
            <a:avLst/>
          </a:prstGeom>
          <a:solidFill>
            <a:srgbClr val="141C49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60120" y="47091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heuristic   (default)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960120" y="50749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JS · offline · zero-cost · ships today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263640" y="4617720"/>
            <a:ext cx="5349240" cy="1005840"/>
          </a:xfrm>
          <a:prstGeom prst="rect">
            <a:avLst/>
          </a:prstGeom>
          <a:solidFill>
            <a:srgbClr val="141C49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46520" y="47091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      (when key set)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6446520" y="50749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Claude Sonnet 4.6 · one-line upgrade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548640" y="5897880"/>
            <a:ext cx="5486400" cy="640080"/>
          </a:xfrm>
          <a:prstGeom prst="rect">
            <a:avLst/>
          </a:prstGeom>
          <a:solidFill>
            <a:srgbClr val="F7F8FB"/>
          </a:solidFill>
          <a:ln w="12700">
            <a:solidFill>
              <a:srgbClr val="D5D9E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48640" y="589788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5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SQLite (WAL · FK on)  ·  users · papers · reviews · embeddings · ai_audit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217920" y="5897880"/>
            <a:ext cx="5394960" cy="640080"/>
          </a:xfrm>
          <a:prstGeom prst="rect">
            <a:avLst/>
          </a:prstGeom>
          <a:solidFill>
            <a:srgbClr val="F7F8FB"/>
          </a:solidFill>
          <a:ln w="12700">
            <a:solidFill>
              <a:srgbClr val="D5D9E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217920" y="5897880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0F15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AI call logged in ai_audit  →  ethics auditing &amp; cost tracking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5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Implementation status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scaffolded · what is fully wired · what is intentionally pending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64592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74920" y="16459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629400" y="164592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103120"/>
            <a:ext cx="11064240" cy="411480"/>
          </a:xfrm>
          <a:prstGeom prst="rect">
            <a:avLst/>
          </a:prstGeom>
          <a:solidFill>
            <a:srgbClr val="F7F8FB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10312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5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MVC project structure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074920" y="2167128"/>
            <a:ext cx="1371600" cy="292608"/>
          </a:xfrm>
          <a:prstGeom prst="rect">
            <a:avLst/>
          </a:prstGeom>
          <a:solidFill>
            <a:srgbClr val="2E8B57"/>
          </a:solidFill>
          <a:ln/>
        </p:spPr>
      </p:sp>
      <p:sp>
        <p:nvSpPr>
          <p:cNvPr id="12" name="Text 10"/>
          <p:cNvSpPr/>
          <p:nvPr/>
        </p:nvSpPr>
        <p:spPr>
          <a:xfrm>
            <a:off x="5074920" y="216712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629400" y="210312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C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/ controllers / services / models / views all in place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77240" y="251460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5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Auth, sessions, RBAC for 5 roles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074920" y="2578608"/>
            <a:ext cx="1371600" cy="292608"/>
          </a:xfrm>
          <a:prstGeom prst="rect">
            <a:avLst/>
          </a:prstGeom>
          <a:solidFill>
            <a:srgbClr val="2E8B57"/>
          </a:solidFill>
          <a:ln/>
        </p:spPr>
      </p:sp>
      <p:sp>
        <p:nvSpPr>
          <p:cNvPr id="16" name="Text 14"/>
          <p:cNvSpPr/>
          <p:nvPr/>
        </p:nvSpPr>
        <p:spPr>
          <a:xfrm>
            <a:off x="5074920" y="257860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629400" y="251460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C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helmet, CSP, rate-limit, SQLite session store, role middleware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2926080"/>
            <a:ext cx="11064240" cy="411480"/>
          </a:xfrm>
          <a:prstGeom prst="rect">
            <a:avLst/>
          </a:prstGeom>
          <a:solidFill>
            <a:srgbClr val="F7F8FB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292608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5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Reviewer matching (TF-IDF + cosine)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074920" y="2990088"/>
            <a:ext cx="1371600" cy="292608"/>
          </a:xfrm>
          <a:prstGeom prst="rect">
            <a:avLst/>
          </a:prstGeom>
          <a:solidFill>
            <a:srgbClr val="2E8B57"/>
          </a:solidFill>
          <a:ln/>
        </p:spPr>
      </p:sp>
      <p:sp>
        <p:nvSpPr>
          <p:cNvPr id="21" name="Text 19"/>
          <p:cNvSpPr/>
          <p:nvPr/>
        </p:nvSpPr>
        <p:spPr>
          <a:xfrm>
            <a:off x="5074920" y="299008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629400" y="292608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C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today on the heuristic backend — verifiable in the editor dashboard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77240" y="333756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5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Plagiarism similarity scoring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074920" y="3401568"/>
            <a:ext cx="1371600" cy="292608"/>
          </a:xfrm>
          <a:prstGeom prst="rect">
            <a:avLst/>
          </a:prstGeom>
          <a:solidFill>
            <a:srgbClr val="2E8B57"/>
          </a:solidFill>
          <a:ln/>
        </p:spPr>
      </p:sp>
      <p:sp>
        <p:nvSpPr>
          <p:cNvPr id="25" name="Text 23"/>
          <p:cNvSpPr/>
          <p:nvPr/>
        </p:nvSpPr>
        <p:spPr>
          <a:xfrm>
            <a:off x="5074920" y="340156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629400" y="333756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C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on every submission against the existing corpus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48640" y="3749040"/>
            <a:ext cx="11064240" cy="411480"/>
          </a:xfrm>
          <a:prstGeom prst="rect">
            <a:avLst/>
          </a:prstGeom>
          <a:solidFill>
            <a:srgbClr val="F7F8FB"/>
          </a:solidFill>
          <a:ln/>
        </p:spPr>
      </p:sp>
      <p:sp>
        <p:nvSpPr>
          <p:cNvPr id="28" name="Text 26"/>
          <p:cNvSpPr/>
          <p:nvPr/>
        </p:nvSpPr>
        <p:spPr>
          <a:xfrm>
            <a:off x="777240" y="374904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5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AI-text stylometric flag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074920" y="3813048"/>
            <a:ext cx="1371600" cy="292608"/>
          </a:xfrm>
          <a:prstGeom prst="rect">
            <a:avLst/>
          </a:prstGeom>
          <a:solidFill>
            <a:srgbClr val="2E8B57"/>
          </a:solidFill>
          <a:ln/>
        </p:spPr>
      </p:sp>
      <p:sp>
        <p:nvSpPr>
          <p:cNvPr id="30" name="Text 28"/>
          <p:cNvSpPr/>
          <p:nvPr/>
        </p:nvSpPr>
        <p:spPr>
          <a:xfrm>
            <a:off x="5074920" y="381304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629400" y="374904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C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 sub-signals exposed to the editor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77240" y="416052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5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reviewer draft (heuristic templates)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074920" y="4224528"/>
            <a:ext cx="1371600" cy="292608"/>
          </a:xfrm>
          <a:prstGeom prst="rect">
            <a:avLst/>
          </a:prstGeom>
          <a:solidFill>
            <a:srgbClr val="F4B942"/>
          </a:solidFill>
          <a:ln/>
        </p:spPr>
      </p:sp>
      <p:sp>
        <p:nvSpPr>
          <p:cNvPr id="34" name="Text 32"/>
          <p:cNvSpPr/>
          <p:nvPr/>
        </p:nvSpPr>
        <p:spPr>
          <a:xfrm>
            <a:off x="5074920" y="422452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SCAFFOLDED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629400" y="416052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C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+ API in place; switches to real LLM once API key supplied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48640" y="4572000"/>
            <a:ext cx="11064240" cy="411480"/>
          </a:xfrm>
          <a:prstGeom prst="rect">
            <a:avLst/>
          </a:prstGeom>
          <a:solidFill>
            <a:srgbClr val="F7F8FB"/>
          </a:solidFill>
          <a:ln/>
        </p:spPr>
      </p:sp>
      <p:sp>
        <p:nvSpPr>
          <p:cNvPr id="37" name="Text 35"/>
          <p:cNvSpPr/>
          <p:nvPr/>
        </p:nvSpPr>
        <p:spPr>
          <a:xfrm>
            <a:off x="777240" y="457200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5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 writing assistant (heuristic)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5074920" y="4636008"/>
            <a:ext cx="1371600" cy="292608"/>
          </a:xfrm>
          <a:prstGeom prst="rect">
            <a:avLst/>
          </a:prstGeom>
          <a:solidFill>
            <a:srgbClr val="F4B942"/>
          </a:solidFill>
          <a:ln/>
        </p:spPr>
      </p:sp>
      <p:sp>
        <p:nvSpPr>
          <p:cNvPr id="39" name="Text 37"/>
          <p:cNvSpPr/>
          <p:nvPr/>
        </p:nvSpPr>
        <p:spPr>
          <a:xfrm>
            <a:off x="5074920" y="463600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SCAFFOLDED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629400" y="457200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C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Polish / titles / keywords scaffolded; LLM call ready to flip on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777240" y="498348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5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API integration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5074920" y="5047488"/>
            <a:ext cx="1371600" cy="29260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3" name="Text 41"/>
          <p:cNvSpPr/>
          <p:nvPr/>
        </p:nvSpPr>
        <p:spPr>
          <a:xfrm>
            <a:off x="5074920" y="504748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629400" y="498348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C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Adapter committed; activates with one env var; deferred until budget approved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548640" y="5394960"/>
            <a:ext cx="11064240" cy="411480"/>
          </a:xfrm>
          <a:prstGeom prst="rect">
            <a:avLst/>
          </a:prstGeom>
          <a:solidFill>
            <a:srgbClr val="F7F8FB"/>
          </a:solidFill>
          <a:ln/>
        </p:spPr>
      </p:sp>
      <p:sp>
        <p:nvSpPr>
          <p:cNvPr id="46" name="Text 44"/>
          <p:cNvSpPr/>
          <p:nvPr/>
        </p:nvSpPr>
        <p:spPr>
          <a:xfrm>
            <a:off x="777240" y="539496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5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Sentence-transformer embeddings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5074920" y="5458968"/>
            <a:ext cx="1371600" cy="29260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8" name="Text 46"/>
          <p:cNvSpPr/>
          <p:nvPr/>
        </p:nvSpPr>
        <p:spPr>
          <a:xfrm>
            <a:off x="5074920" y="545896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6629400" y="539496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C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item for Assessment 2 — replaces TF-IDF for richer matching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777240" y="580644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5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study + benchmarking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5074920" y="5870448"/>
            <a:ext cx="1371600" cy="29260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2" name="Text 50"/>
          <p:cNvSpPr/>
          <p:nvPr/>
        </p:nvSpPr>
        <p:spPr>
          <a:xfrm>
            <a:off x="5074920" y="587044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6629400" y="580644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C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for Assessment 2; ai_audit table already collects the data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Bhanu Gupta · Generative AI in Practice · Assessment 1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5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tools &amp; models I will use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Cost-aware: free defaults today, premium models when budget unlocks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3520440" cy="4023360"/>
          </a:xfrm>
          <a:prstGeom prst="rect">
            <a:avLst/>
          </a:prstGeom>
          <a:solidFill>
            <a:srgbClr val="F7F8FB"/>
          </a:solidFill>
          <a:ln w="12700">
            <a:solidFill>
              <a:srgbClr val="E2E5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645920"/>
            <a:ext cx="3520440" cy="7315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Shape 5"/>
          <p:cNvSpPr/>
          <p:nvPr/>
        </p:nvSpPr>
        <p:spPr>
          <a:xfrm>
            <a:off x="822960" y="1874520"/>
            <a:ext cx="777240" cy="7772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2057400"/>
            <a:ext cx="411480" cy="4114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18745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5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Claude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737360" y="22860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claude-sonnet-4-6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822960" y="2834640"/>
            <a:ext cx="3017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drafting · abstract polishing · title suggestion · keyword extraction. Activated by ANTHROPIC_API_KEY.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822960" y="5120640"/>
            <a:ext cx="2971800" cy="41148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13" name="Text 10"/>
          <p:cNvSpPr/>
          <p:nvPr/>
        </p:nvSpPr>
        <p:spPr>
          <a:xfrm>
            <a:off x="822960" y="512064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~$3 / 1M in tokens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526280" y="1645920"/>
            <a:ext cx="3520440" cy="4023360"/>
          </a:xfrm>
          <a:prstGeom prst="rect">
            <a:avLst/>
          </a:prstGeom>
          <a:solidFill>
            <a:srgbClr val="F7F8FB"/>
          </a:solidFill>
          <a:ln w="12700">
            <a:solidFill>
              <a:srgbClr val="E2E5EE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526280" y="1645920"/>
            <a:ext cx="3520440" cy="7315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6" name="Shape 13"/>
          <p:cNvSpPr/>
          <p:nvPr/>
        </p:nvSpPr>
        <p:spPr>
          <a:xfrm>
            <a:off x="4800600" y="1874520"/>
            <a:ext cx="777240" cy="7772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2057400"/>
            <a:ext cx="411480" cy="41148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5715000" y="18745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5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embeddings</a:t>
            </a:r>
            <a:endParaRPr lang="en-US" sz="1800" dirty="0"/>
          </a:p>
        </p:txBody>
      </p:sp>
      <p:sp>
        <p:nvSpPr>
          <p:cNvPr id="19" name="Text 15"/>
          <p:cNvSpPr/>
          <p:nvPr/>
        </p:nvSpPr>
        <p:spPr>
          <a:xfrm>
            <a:off x="5715000" y="22860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pure JavaScript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4800600" y="2834640"/>
            <a:ext cx="3017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Reviewer matching and plagiarism similarity. No model download, no API call, fully explainable.</a:t>
            </a:r>
            <a:endParaRPr lang="en-US" sz="1300" dirty="0"/>
          </a:p>
        </p:txBody>
      </p:sp>
      <p:sp>
        <p:nvSpPr>
          <p:cNvPr id="21" name="Shape 17"/>
          <p:cNvSpPr/>
          <p:nvPr/>
        </p:nvSpPr>
        <p:spPr>
          <a:xfrm>
            <a:off x="4800600" y="5120640"/>
            <a:ext cx="2971800" cy="41148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22" name="Text 18"/>
          <p:cNvSpPr/>
          <p:nvPr/>
        </p:nvSpPr>
        <p:spPr>
          <a:xfrm>
            <a:off x="4800600" y="512064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free, ships today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8503920" y="1645920"/>
            <a:ext cx="3520440" cy="4023360"/>
          </a:xfrm>
          <a:prstGeom prst="rect">
            <a:avLst/>
          </a:prstGeom>
          <a:solidFill>
            <a:srgbClr val="F7F8FB"/>
          </a:solidFill>
          <a:ln w="12700">
            <a:solidFill>
              <a:srgbClr val="E2E5EE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8503920" y="1645920"/>
            <a:ext cx="3520440" cy="7315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5" name="Shape 21"/>
          <p:cNvSpPr/>
          <p:nvPr/>
        </p:nvSpPr>
        <p:spPr>
          <a:xfrm>
            <a:off x="8778240" y="1874520"/>
            <a:ext cx="777240" cy="7772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0" y="2057400"/>
            <a:ext cx="411480" cy="411480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9692640" y="18745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5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sentence-transformers</a:t>
            </a:r>
            <a:endParaRPr lang="en-US" sz="1800" dirty="0"/>
          </a:p>
        </p:txBody>
      </p:sp>
      <p:sp>
        <p:nvSpPr>
          <p:cNvPr id="28" name="Text 23"/>
          <p:cNvSpPr/>
          <p:nvPr/>
        </p:nvSpPr>
        <p:spPr>
          <a:xfrm>
            <a:off x="9692640" y="22860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@xenova/transformers</a:t>
            </a:r>
            <a:endParaRPr lang="en-US" sz="1100" dirty="0"/>
          </a:p>
        </p:txBody>
      </p:sp>
      <p:sp>
        <p:nvSpPr>
          <p:cNvPr id="29" name="Text 24"/>
          <p:cNvSpPr/>
          <p:nvPr/>
        </p:nvSpPr>
        <p:spPr>
          <a:xfrm>
            <a:off x="8778240" y="2834640"/>
            <a:ext cx="3017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upgrade for richer semantic matching. Runs locally in Node — still no API cost.</a:t>
            </a:r>
            <a:endParaRPr lang="en-US" sz="1300" dirty="0"/>
          </a:p>
        </p:txBody>
      </p:sp>
      <p:sp>
        <p:nvSpPr>
          <p:cNvPr id="30" name="Shape 25"/>
          <p:cNvSpPr/>
          <p:nvPr/>
        </p:nvSpPr>
        <p:spPr>
          <a:xfrm>
            <a:off x="8778240" y="5120640"/>
            <a:ext cx="2971800" cy="41148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31" name="Text 26"/>
          <p:cNvSpPr/>
          <p:nvPr/>
        </p:nvSpPr>
        <p:spPr>
          <a:xfrm>
            <a:off x="8778240" y="512064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free, Assessment 2</a:t>
            </a:r>
            <a:endParaRPr lang="en-US" sz="1100" dirty="0"/>
          </a:p>
        </p:txBody>
      </p:sp>
      <p:sp>
        <p:nvSpPr>
          <p:cNvPr id="32" name="Shape 27"/>
          <p:cNvSpPr/>
          <p:nvPr/>
        </p:nvSpPr>
        <p:spPr>
          <a:xfrm>
            <a:off x="548640" y="5852160"/>
            <a:ext cx="11064240" cy="6400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3" name="Text 28"/>
          <p:cNvSpPr/>
          <p:nvPr/>
        </p:nvSpPr>
        <p:spPr>
          <a:xfrm>
            <a:off x="548640" y="58521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Supporting toolchain  ·  pino logging  ·  ExcelJS export  ·  mammoth + pdf-parse text extraction  ·  bcrypt + helmet + CSP  ·  Jest tests  ·  Docker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5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Ethical considerations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 review affects careers — we engineer for human accountability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5486400" cy="2148840"/>
          </a:xfrm>
          <a:prstGeom prst="rect">
            <a:avLst/>
          </a:prstGeom>
          <a:solidFill>
            <a:srgbClr val="F7F8FB"/>
          </a:solidFill>
          <a:ln w="12700">
            <a:solidFill>
              <a:srgbClr val="E2E5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201168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6696" y="2139696"/>
            <a:ext cx="384048" cy="3840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91640" y="196596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5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Authorship &amp; accountability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868680" y="2743200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drafts; humans submit. ai_assisted flag on every review. The model never autonomously approves anything.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199632" y="1645920"/>
            <a:ext cx="5486400" cy="2148840"/>
          </a:xfrm>
          <a:prstGeom prst="rect">
            <a:avLst/>
          </a:prstGeom>
          <a:solidFill>
            <a:srgbClr val="F7F8FB"/>
          </a:solidFill>
          <a:ln w="12700">
            <a:solidFill>
              <a:srgbClr val="E2E5EE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519672" y="201168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7688" y="2139696"/>
            <a:ext cx="384048" cy="38404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342632" y="196596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5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 &amp; fairness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6519672" y="2743200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bias inherited from training data; expertise tags can under-represent niche fields. Editor override + audit trail mitigate.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548640" y="3977640"/>
            <a:ext cx="5486400" cy="2148840"/>
          </a:xfrm>
          <a:prstGeom prst="rect">
            <a:avLst/>
          </a:prstGeom>
          <a:solidFill>
            <a:srgbClr val="F7F8FB"/>
          </a:solidFill>
          <a:ln w="12700">
            <a:solidFill>
              <a:srgbClr val="E2E5EE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868680" y="434340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696" y="4471416"/>
            <a:ext cx="384048" cy="38404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691640" y="429768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5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&amp; data minimisation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868680" y="5074920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Defaults to local heuristic backend. When Claude is on, only title + abstract leave the trust boundary. Every external call audited.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6199632" y="3977640"/>
            <a:ext cx="5486400" cy="2148840"/>
          </a:xfrm>
          <a:prstGeom prst="rect">
            <a:avLst/>
          </a:prstGeom>
          <a:solidFill>
            <a:srgbClr val="F7F8FB"/>
          </a:solidFill>
          <a:ln w="12700">
            <a:solidFill>
              <a:srgbClr val="E2E5EE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6519672" y="434340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7688" y="4471416"/>
            <a:ext cx="384048" cy="38404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342632" y="429768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5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AI-text detection limits</a:t>
            </a:r>
            <a:endParaRPr lang="en-US" sz="1700" dirty="0"/>
          </a:p>
        </p:txBody>
      </p:sp>
      <p:sp>
        <p:nvSpPr>
          <p:cNvPr id="24" name="Text 18"/>
          <p:cNvSpPr/>
          <p:nvPr/>
        </p:nvSpPr>
        <p:spPr>
          <a:xfrm>
            <a:off x="6519672" y="5074920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Stylometric score is a flag, not a verdict. Sub-signals are exposed; submission is never blocked solely on this score.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Bhanu Gupta · Generative AI in Practice · Assessment 1</a:t>
            </a:r>
            <a:endParaRPr lang="en-US" sz="1000" dirty="0"/>
          </a:p>
        </p:txBody>
      </p:sp>
      <p:sp>
        <p:nvSpPr>
          <p:cNvPr id="26" name="Text 20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5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Live demo: the recreated v2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running — five role-aware dashboards with AI affordances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645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325880" y="16459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5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 submit page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25880" y="20116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AI buttons (Polish · Suggest titles · Extract keywords) sit alongside the abstract.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78892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788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325880" y="27889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5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Editor dashboard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325880" y="31546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Top-3 AI-ranked reviewers per paper with cosine score, plus manual override and final decision.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93192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931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325880" y="39319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5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Reviewer review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325880" y="42976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"Generate AI draft" populates summary / strengths / weaknesses / scores / recommendation.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507492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5074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325880" y="50749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5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reader feed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325880" y="54406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Newspaper-style grid of accepted articles, full-text search, public download — no login.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315200" y="1645920"/>
            <a:ext cx="4297680" cy="4206240"/>
          </a:xfrm>
          <a:prstGeom prst="rect">
            <a:avLst/>
          </a:prstGeom>
          <a:solidFill>
            <a:srgbClr val="141C49"/>
          </a:solidFill>
          <a:ln/>
        </p:spPr>
      </p:sp>
      <p:sp>
        <p:nvSpPr>
          <p:cNvPr id="22" name="Text 20"/>
          <p:cNvSpPr/>
          <p:nvPr/>
        </p:nvSpPr>
        <p:spPr>
          <a:xfrm>
            <a:off x="7498080" y="17830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RUN LOCALLY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498080" y="2194560"/>
            <a:ext cx="39319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cd paper-submission-system-v2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npm install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npm run setup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npm start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4B9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http://localhost:3000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Demo accounts (Password123!):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alice / bob — author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reviewer_ml / db / se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editor — manual+AI assignment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admin — audit dashboard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reader — public feed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48640" y="5989320"/>
            <a:ext cx="11064240" cy="45720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59893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mode: heuristic backend (zero cost).  Add ANTHROPIC_API_KEY + LLM_PROVIDER=claude to upgrade — no other code changes.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5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Roadmap to Assessment 2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five-step plan from today through the Assessment 2 submission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211580" y="1828800"/>
            <a:ext cx="1097280" cy="1097280"/>
          </a:xfrm>
          <a:prstGeom prst="ellipse">
            <a:avLst/>
          </a:prstGeom>
          <a:solidFill>
            <a:srgbClr val="2E8B57"/>
          </a:solidFill>
          <a:ln/>
        </p:spPr>
      </p:sp>
      <p:sp>
        <p:nvSpPr>
          <p:cNvPr id="6" name="Text 4"/>
          <p:cNvSpPr/>
          <p:nvPr/>
        </p:nvSpPr>
        <p:spPr>
          <a:xfrm>
            <a:off x="1211580" y="182880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2308860" y="2377440"/>
            <a:ext cx="1143000" cy="0"/>
          </a:xfrm>
          <a:prstGeom prst="line">
            <a:avLst/>
          </a:prstGeom>
          <a:noFill/>
          <a:ln w="38100">
            <a:solidFill>
              <a:srgbClr val="D5D9E5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640080" y="31089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5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85800" y="3520440"/>
            <a:ext cx="21488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 codebase live · heuristic backend covers all four AI features end-to-end · audit table collecting usage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51860" y="1828800"/>
            <a:ext cx="1097280" cy="1097280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1" name="Text 9"/>
          <p:cNvSpPr/>
          <p:nvPr/>
        </p:nvSpPr>
        <p:spPr>
          <a:xfrm>
            <a:off x="3451860" y="182880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3600" dirty="0"/>
          </a:p>
        </p:txBody>
      </p:sp>
      <p:sp>
        <p:nvSpPr>
          <p:cNvPr id="12" name="Shape 10"/>
          <p:cNvSpPr/>
          <p:nvPr/>
        </p:nvSpPr>
        <p:spPr>
          <a:xfrm>
            <a:off x="4549140" y="2377440"/>
            <a:ext cx="1143000" cy="0"/>
          </a:xfrm>
          <a:prstGeom prst="line">
            <a:avLst/>
          </a:prstGeom>
          <a:noFill/>
          <a:ln w="38100">
            <a:solidFill>
              <a:srgbClr val="D5D9E5"/>
            </a:solidFill>
            <a:prstDash val="dash"/>
          </a:ln>
        </p:spPr>
      </p:sp>
      <p:sp>
        <p:nvSpPr>
          <p:cNvPr id="13" name="Text 11"/>
          <p:cNvSpPr/>
          <p:nvPr/>
        </p:nvSpPr>
        <p:spPr>
          <a:xfrm>
            <a:off x="2880360" y="31089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5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1-2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926080" y="3520440"/>
            <a:ext cx="21488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Activate Claude provider · benchmark draft quality vs heuristic on 10 sample papers · cost &amp; latency telemetry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692140" y="1828800"/>
            <a:ext cx="1097280" cy="10972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5692140" y="182880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600" dirty="0"/>
          </a:p>
        </p:txBody>
      </p:sp>
      <p:sp>
        <p:nvSpPr>
          <p:cNvPr id="17" name="Shape 15"/>
          <p:cNvSpPr/>
          <p:nvPr/>
        </p:nvSpPr>
        <p:spPr>
          <a:xfrm>
            <a:off x="6789420" y="2377440"/>
            <a:ext cx="1143000" cy="0"/>
          </a:xfrm>
          <a:prstGeom prst="line">
            <a:avLst/>
          </a:prstGeom>
          <a:noFill/>
          <a:ln w="38100">
            <a:solidFill>
              <a:srgbClr val="D5D9E5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5120640" y="31089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5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3-4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166360" y="3520440"/>
            <a:ext cx="21488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TF-IDF with sentence-transformers (@xenova/transformers, local) · re-evaluate matching precision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932420" y="1828800"/>
            <a:ext cx="1097280" cy="10972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7932420" y="182880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3600" dirty="0"/>
          </a:p>
        </p:txBody>
      </p:sp>
      <p:sp>
        <p:nvSpPr>
          <p:cNvPr id="22" name="Shape 20"/>
          <p:cNvSpPr/>
          <p:nvPr/>
        </p:nvSpPr>
        <p:spPr>
          <a:xfrm>
            <a:off x="9029700" y="2377440"/>
            <a:ext cx="1143000" cy="0"/>
          </a:xfrm>
          <a:prstGeom prst="line">
            <a:avLst/>
          </a:prstGeom>
          <a:noFill/>
          <a:ln w="38100">
            <a:solidFill>
              <a:srgbClr val="D5D9E5"/>
            </a:solidFill>
            <a:prstDash val="dash"/>
          </a:ln>
        </p:spPr>
      </p:sp>
      <p:sp>
        <p:nvSpPr>
          <p:cNvPr id="23" name="Text 21"/>
          <p:cNvSpPr/>
          <p:nvPr/>
        </p:nvSpPr>
        <p:spPr>
          <a:xfrm>
            <a:off x="7360920" y="31089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5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5-6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406640" y="3520440"/>
            <a:ext cx="21488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conflict-of-interest detector (institutional + co-authorship) · automated tests for regression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10172700" y="1828800"/>
            <a:ext cx="1097280" cy="10972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6" name="Text 24"/>
          <p:cNvSpPr/>
          <p:nvPr/>
        </p:nvSpPr>
        <p:spPr>
          <a:xfrm>
            <a:off x="10172700" y="182880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3600" dirty="0"/>
          </a:p>
        </p:txBody>
      </p:sp>
      <p:sp>
        <p:nvSpPr>
          <p:cNvPr id="27" name="Text 25"/>
          <p:cNvSpPr/>
          <p:nvPr/>
        </p:nvSpPr>
        <p:spPr>
          <a:xfrm>
            <a:off x="9601200" y="31089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5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Submission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9646920" y="3520440"/>
            <a:ext cx="21488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user study with peers comparing reviewer thoroughness with vs without AI draft assistance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48640" y="5943600"/>
            <a:ext cx="11064240" cy="5486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0" name="Text 28"/>
          <p:cNvSpPr/>
          <p:nvPr/>
        </p:nvSpPr>
        <p:spPr>
          <a:xfrm>
            <a:off x="548640" y="59436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Takeaway: every Assessment-2 experiment has scaffolding waiting for it — the v2 codebase is the platform, not the prototype.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377440"/>
            <a:ext cx="457200" cy="73152"/>
          </a:xfrm>
          <a:prstGeom prst="rect">
            <a:avLst/>
          </a:prstGeom>
          <a:solidFill>
            <a:srgbClr val="F4B94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8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" y="3108960"/>
            <a:ext cx="10972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Questions, suggestions, or</a:t>
            </a:r>
            <a:endParaRPr lang="en-US" sz="4800" dirty="0"/>
          </a:p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budget approvals welcome.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548640" y="51206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Bhanu Gupta  ·  bhanuguptagarg@gmail.com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54864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Repo: paper-submission-system-v2  ·  Report: Assessment_Report.docx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0728655" y="548640"/>
            <a:ext cx="822960" cy="822960"/>
          </a:xfrm>
          <a:prstGeom prst="ellipse">
            <a:avLst/>
          </a:prstGeom>
          <a:solidFill>
            <a:srgbClr val="141C49"/>
          </a:solidFill>
          <a:ln w="12700">
            <a:solidFill>
              <a:srgbClr val="F4B942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11535" y="73152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AI-augmented Paper Submission System</dc:title>
  <dc:subject>PptxGenJS Presentation</dc:subject>
  <dc:creator>Bhanu Gupta</dc:creator>
  <cp:lastModifiedBy>Bhanu Gupta</cp:lastModifiedBy>
  <cp:revision>1</cp:revision>
  <dcterms:created xsi:type="dcterms:W3CDTF">2026-05-04T09:27:49Z</dcterms:created>
  <dcterms:modified xsi:type="dcterms:W3CDTF">2026-05-04T09:27:49Z</dcterms:modified>
</cp:coreProperties>
</file>