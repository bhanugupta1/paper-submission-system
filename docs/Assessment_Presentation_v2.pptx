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4709" autoAdjust="0"/>
  </p:normalViewPr>
  <p:slideViewPr>
    <p:cSldViewPr snapToGrid="0" snapToObjects="1">
      <p:cViewPr varScale="1">
        <p:scale>
          <a:sx n="75" d="100"/>
          <a:sy n="75" d="100"/>
        </p:scale>
        <p:origin x="94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2167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Quick context, I had this paper submission system from a previous course. Worked, but it was basic. Now I am rebuilding it with GenAI features and treating it like something a real conference might actually use. That is what this presentation is about.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original. Three roles plus a public reader. Author submits, editor picks a reviewer, reviewer writes feedback, reader reads what got accepted. Built with Node and SQLite, classic web stuff. It worked, but only just barely.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that bothered me. Auth was held together with tape. Reviewers got assigned by Math.random, which is absurd. No plagiarism check. Reviews were one giant text box, no scores. Authors got zero help before submitting. And the code itself, no tests, no Docker. You cannot show that to anyone serious. Each gap maps to something AI can fix, which is the whole pitch.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every weakness has an AI fix. LLMs draft structured text. Embeddings match topics to people. AI gives signals, humans decide. That last part matters because peer review affects careers. AI helps, never decides.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features. Two use language models for writing tasks. Two use embeddings for matching and similarity. The author gets writing help. The editor gets ranked reviewer suggestions. Every paper gets an integrity check. Every reviewer gets a draft they can edit, never a final review.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The interesting bit is the LLM provider switch in the middle. By default everything runs locally, no API key, costs zero. Flip one env variable and it talks to Claude instead. Same code, just upgraded. Every AI call gets logged in an audit table so we can review usage later. That detail matters for the ethics conversation in slide 9.</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Green is fully working today, you can run it now. Yellow is scaffolded, the wiring is there, just needs the API key turned on. Navy is planned for Assessment 2. So matching, plagiarism, AI-text flag, all running. Claude integration is one line of config away. Sentence transformers and the user study are next term.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how I built this, not what runs inside it. Claude is the main coding partner, designed the architecture and wrote most of the code. Whisper Flow lets me prompt by voice, way faster than typing. Cursor handles inline edits in the editor. Plus ChatGPT for sanity checks, Copilot for boring code, Excalidraw for diagrams. The point is, this is not a thing I built in a week. It is a thing I built in days because I knew which AI tools to chain together.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ethics points. One, AI drafts and humans submit. The reviewer is still accountable, and we record whether AI was used. Two, bias is real, so editors can override the AI suggestions. Three, privacy. By default nothing leaves the machine. When Claude is on, only the abstract goes out, never the full paper. Four, the AI-text detector is a flag, not a verdict. Real detectors fail on non-native English speakers. We say so in the UI.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demo plan. Author submits a paper, three AI buttons sit next to the abstract. Editor sees AI-ranked reviewers with scores and can override. Reviewer hits Generate AI draft to start. Reader gets a public newspaper-style feed. All running locally, all five roles accessible with the demo accounts on the right. Same password for everyone, Password123!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Now we have the platform. Next two weeks I activate Claude and benchmark it against the heuristic. Then upgrade matching to sentence transformers. Then add a conflict-of-interest detector. By submission, a small user study comparing reviewer thoroughness with and without AI assistance. The point is, Assessment 2 is real experiments, not building from scratch.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Questions welcome. I'd rather get picked apart now than write a v3 with the same gaps.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548640" y="2286000"/>
            <a:ext cx="457200" cy="73152"/>
          </a:xfrm>
          <a:prstGeom prst="rect">
            <a:avLst/>
          </a:prstGeom>
          <a:solidFill>
            <a:srgbClr val="F4B942"/>
          </a:solidFill>
          <a:ln/>
        </p:spPr>
        <p:txBody>
          <a:bodyPr/>
          <a:lstStyle/>
          <a:p>
            <a:endParaRPr lang="en-US"/>
          </a:p>
        </p:txBody>
      </p:sp>
      <p:sp>
        <p:nvSpPr>
          <p:cNvPr id="3" name="Text 1"/>
          <p:cNvSpPr/>
          <p:nvPr/>
        </p:nvSpPr>
        <p:spPr>
          <a:xfrm>
            <a:off x="548640" y="2468880"/>
            <a:ext cx="10972800" cy="548640"/>
          </a:xfrm>
          <a:prstGeom prst="rect">
            <a:avLst/>
          </a:prstGeom>
          <a:noFill/>
          <a:ln/>
        </p:spPr>
        <p:txBody>
          <a:bodyPr wrap="square" lIns="0" tIns="0" rIns="0" bIns="0" rtlCol="0" anchor="ctr"/>
          <a:lstStyle/>
          <a:p>
            <a:pPr marL="0" indent="0">
              <a:buNone/>
            </a:pPr>
            <a:r>
              <a:rPr lang="en-US" sz="1800" b="1" kern="0" spc="800" dirty="0">
                <a:solidFill>
                  <a:srgbClr val="CADCFC"/>
                </a:solidFill>
                <a:latin typeface="Calibri" pitchFamily="34" charset="0"/>
                <a:ea typeface="Calibri" pitchFamily="34" charset="-122"/>
                <a:cs typeface="Calibri" pitchFamily="34" charset="-120"/>
              </a:rPr>
              <a:t>AI-AUGMENTED</a:t>
            </a:r>
            <a:endParaRPr lang="en-US" sz="1800" dirty="0"/>
          </a:p>
        </p:txBody>
      </p:sp>
      <p:sp>
        <p:nvSpPr>
          <p:cNvPr id="4" name="Text 2"/>
          <p:cNvSpPr/>
          <p:nvPr/>
        </p:nvSpPr>
        <p:spPr>
          <a:xfrm>
            <a:off x="548640" y="2926080"/>
            <a:ext cx="10972800" cy="1828800"/>
          </a:xfrm>
          <a:prstGeom prst="rect">
            <a:avLst/>
          </a:prstGeom>
          <a:noFill/>
          <a:ln/>
        </p:spPr>
        <p:txBody>
          <a:bodyPr wrap="square" lIns="0" tIns="0" rIns="0" bIns="0" rtlCol="0" anchor="ctr"/>
          <a:lstStyle/>
          <a:p>
            <a:pPr marL="0" indent="0">
              <a:buNone/>
            </a:pPr>
            <a:r>
              <a:rPr lang="en-US" sz="5600" b="1" dirty="0">
                <a:solidFill>
                  <a:srgbClr val="FFFFFF"/>
                </a:solidFill>
                <a:latin typeface="Georgia" pitchFamily="34" charset="0"/>
                <a:ea typeface="Georgia" pitchFamily="34" charset="-122"/>
                <a:cs typeface="Georgia" pitchFamily="34" charset="-120"/>
              </a:rPr>
              <a:t>Paper Submission</a:t>
            </a:r>
            <a:endParaRPr lang="en-US" sz="5600" dirty="0"/>
          </a:p>
          <a:p>
            <a:pPr marL="0" indent="0">
              <a:buNone/>
            </a:pPr>
            <a:r>
              <a:rPr lang="en-US" sz="5600" b="1" dirty="0">
                <a:solidFill>
                  <a:srgbClr val="FFFFFF"/>
                </a:solidFill>
                <a:latin typeface="Georgia" pitchFamily="34" charset="0"/>
                <a:ea typeface="Georgia" pitchFamily="34" charset="-122"/>
                <a:cs typeface="Georgia" pitchFamily="34" charset="-120"/>
              </a:rPr>
              <a:t>&amp; Peer-Review System</a:t>
            </a:r>
            <a:endParaRPr lang="en-US" sz="5600" dirty="0"/>
          </a:p>
        </p:txBody>
      </p:sp>
      <p:sp>
        <p:nvSpPr>
          <p:cNvPr id="5" name="Text 3"/>
          <p:cNvSpPr/>
          <p:nvPr/>
        </p:nvSpPr>
        <p:spPr>
          <a:xfrm>
            <a:off x="548640" y="4754880"/>
            <a:ext cx="10972800" cy="457200"/>
          </a:xfrm>
          <a:prstGeom prst="rect">
            <a:avLst/>
          </a:prstGeom>
          <a:noFill/>
          <a:ln/>
        </p:spPr>
        <p:txBody>
          <a:bodyPr wrap="square" lIns="0" tIns="0" rIns="0" bIns="0"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Reimagining a course project with Generative AI</a:t>
            </a:r>
            <a:endParaRPr lang="en-US" sz="1800" dirty="0"/>
          </a:p>
        </p:txBody>
      </p:sp>
      <p:sp>
        <p:nvSpPr>
          <p:cNvPr id="6" name="Text 4"/>
          <p:cNvSpPr/>
          <p:nvPr/>
        </p:nvSpPr>
        <p:spPr>
          <a:xfrm>
            <a:off x="548640" y="5852160"/>
            <a:ext cx="54864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Bhanu Gupta</a:t>
            </a:r>
            <a:endParaRPr lang="en-US" sz="1600" dirty="0"/>
          </a:p>
        </p:txBody>
      </p:sp>
      <p:sp>
        <p:nvSpPr>
          <p:cNvPr id="7" name="Text 5"/>
          <p:cNvSpPr/>
          <p:nvPr/>
        </p:nvSpPr>
        <p:spPr>
          <a:xfrm>
            <a:off x="548640" y="6172200"/>
            <a:ext cx="7315200" cy="36576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Generative AI in Practice  ·  Assessment 1  ·  May 2026</a:t>
            </a:r>
            <a:endParaRPr lang="en-US" sz="1200" dirty="0"/>
          </a:p>
        </p:txBody>
      </p:sp>
      <p:sp>
        <p:nvSpPr>
          <p:cNvPr id="8" name="Shape 6"/>
          <p:cNvSpPr/>
          <p:nvPr/>
        </p:nvSpPr>
        <p:spPr>
          <a:xfrm>
            <a:off x="10728655" y="548640"/>
            <a:ext cx="822960" cy="822960"/>
          </a:xfrm>
          <a:prstGeom prst="ellipse">
            <a:avLst/>
          </a:prstGeom>
          <a:solidFill>
            <a:srgbClr val="141C49"/>
          </a:solidFill>
          <a:ln w="12700">
            <a:solidFill>
              <a:srgbClr val="F4B942"/>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0911535" y="731520"/>
            <a:ext cx="45720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10972800" cy="640080"/>
          </a:xfrm>
          <a:prstGeom prst="rect">
            <a:avLst/>
          </a:prstGeom>
          <a:noFill/>
          <a:ln/>
        </p:spPr>
        <p:txBody>
          <a:bodyPr wrap="square" lIns="0" tIns="0" rIns="0" bIns="0" rtlCol="0" anchor="ctr"/>
          <a:lstStyle/>
          <a:p>
            <a:pPr marL="0" indent="0">
              <a:buNone/>
            </a:pPr>
            <a:r>
              <a:rPr lang="en-US" sz="3200" b="1" dirty="0">
                <a:solidFill>
                  <a:srgbClr val="0F1538"/>
                </a:solidFill>
                <a:latin typeface="Georgia" pitchFamily="34" charset="0"/>
                <a:ea typeface="Georgia" pitchFamily="34" charset="-122"/>
                <a:cs typeface="Georgia" pitchFamily="34" charset="-120"/>
              </a:rPr>
              <a:t>The original project</a:t>
            </a:r>
            <a:endParaRPr lang="en-US" sz="3200" dirty="0"/>
          </a:p>
        </p:txBody>
      </p:sp>
      <p:sp>
        <p:nvSpPr>
          <p:cNvPr id="4" name="Text 2"/>
          <p:cNvSpPr/>
          <p:nvPr/>
        </p:nvSpPr>
        <p:spPr>
          <a:xfrm>
            <a:off x="548640" y="960120"/>
            <a:ext cx="10972800" cy="365760"/>
          </a:xfrm>
          <a:prstGeom prst="rect">
            <a:avLst/>
          </a:prstGeom>
          <a:noFill/>
          <a:ln/>
        </p:spPr>
        <p:txBody>
          <a:bodyPr wrap="square" lIns="0" tIns="0" rIns="0" bIns="0" rtlCol="0" anchor="ctr"/>
          <a:lstStyle/>
          <a:p>
            <a:pPr marL="0" indent="0">
              <a:buNone/>
            </a:pPr>
            <a:r>
              <a:rPr lang="en-US" sz="1400" i="1" dirty="0">
                <a:solidFill>
                  <a:srgbClr val="5C6488"/>
                </a:solidFill>
                <a:latin typeface="Calibri" pitchFamily="34" charset="0"/>
                <a:ea typeface="Calibri" pitchFamily="34" charset="-122"/>
                <a:cs typeface="Calibri" pitchFamily="34" charset="-120"/>
              </a:rPr>
              <a:t>A peer-review system I built for a previous web-development course</a:t>
            </a:r>
            <a:endParaRPr lang="en-US" sz="1400" dirty="0"/>
          </a:p>
        </p:txBody>
      </p:sp>
      <p:sp>
        <p:nvSpPr>
          <p:cNvPr id="5" name="Shape 3"/>
          <p:cNvSpPr/>
          <p:nvPr/>
        </p:nvSpPr>
        <p:spPr>
          <a:xfrm>
            <a:off x="548640" y="1554480"/>
            <a:ext cx="4846320" cy="4389120"/>
          </a:xfrm>
          <a:prstGeom prst="rect">
            <a:avLst/>
          </a:prstGeom>
          <a:solidFill>
            <a:srgbClr val="F7F8FB"/>
          </a:solidFill>
          <a:ln w="12700">
            <a:solidFill>
              <a:srgbClr val="E2E5EE"/>
            </a:solidFill>
            <a:prstDash val="solid"/>
          </a:ln>
        </p:spPr>
        <p:txBody>
          <a:bodyPr/>
          <a:lstStyle/>
          <a:p>
            <a:endParaRPr lang="en-US"/>
          </a:p>
        </p:txBody>
      </p:sp>
      <p:sp>
        <p:nvSpPr>
          <p:cNvPr id="6" name="Shape 4"/>
          <p:cNvSpPr/>
          <p:nvPr/>
        </p:nvSpPr>
        <p:spPr>
          <a:xfrm>
            <a:off x="548640" y="1554480"/>
            <a:ext cx="73152" cy="4389120"/>
          </a:xfrm>
          <a:prstGeom prst="rect">
            <a:avLst/>
          </a:prstGeom>
          <a:solidFill>
            <a:srgbClr val="1E2761"/>
          </a:solidFill>
          <a:ln/>
        </p:spPr>
        <p:txBody>
          <a:bodyPr/>
          <a:lstStyle/>
          <a:p>
            <a:endParaRPr lang="en-US"/>
          </a:p>
        </p:txBody>
      </p:sp>
      <p:sp>
        <p:nvSpPr>
          <p:cNvPr id="7" name="Text 5"/>
          <p:cNvSpPr/>
          <p:nvPr/>
        </p:nvSpPr>
        <p:spPr>
          <a:xfrm>
            <a:off x="822960" y="1691640"/>
            <a:ext cx="4389120" cy="274320"/>
          </a:xfrm>
          <a:prstGeom prst="rect">
            <a:avLst/>
          </a:prstGeom>
          <a:noFill/>
          <a:ln/>
        </p:spPr>
        <p:txBody>
          <a:bodyPr wrap="square" lIns="0" tIns="0" rIns="0" bIns="0" rtlCol="0" anchor="ctr"/>
          <a:lstStyle/>
          <a:p>
            <a:pPr marL="0" indent="0">
              <a:buNone/>
            </a:pPr>
            <a:r>
              <a:rPr lang="en-US" sz="1100" b="1" kern="0" spc="400" dirty="0">
                <a:solidFill>
                  <a:srgbClr val="1E2761"/>
                </a:solidFill>
                <a:latin typeface="Calibri" pitchFamily="34" charset="0"/>
                <a:ea typeface="Calibri" pitchFamily="34" charset="-122"/>
                <a:cs typeface="Calibri" pitchFamily="34" charset="-120"/>
              </a:rPr>
              <a:t>TECH STACK</a:t>
            </a:r>
            <a:endParaRPr lang="en-US" sz="1100" dirty="0"/>
          </a:p>
        </p:txBody>
      </p:sp>
      <p:sp>
        <p:nvSpPr>
          <p:cNvPr id="8" name="Text 6"/>
          <p:cNvSpPr/>
          <p:nvPr/>
        </p:nvSpPr>
        <p:spPr>
          <a:xfrm>
            <a:off x="822960" y="2011680"/>
            <a:ext cx="4389120" cy="2194560"/>
          </a:xfrm>
          <a:prstGeom prst="rect">
            <a:avLst/>
          </a:prstGeom>
          <a:noFill/>
          <a:ln/>
        </p:spPr>
        <p:txBody>
          <a:bodyPr wrap="square" rtlCol="0" anchor="ctr"/>
          <a:lstStyle/>
          <a:p>
            <a:pPr marL="342900" indent="-342900">
              <a:spcAft>
                <a:spcPts val="400"/>
              </a:spcAft>
              <a:buSzPct val="100000"/>
              <a:buChar char="•"/>
            </a:pPr>
            <a:r>
              <a:rPr lang="en-US" sz="1400" dirty="0">
                <a:solidFill>
                  <a:srgbClr val="0F1538"/>
                </a:solidFill>
                <a:latin typeface="Calibri" pitchFamily="34" charset="0"/>
                <a:ea typeface="Calibri" pitchFamily="34" charset="-122"/>
                <a:cs typeface="Calibri" pitchFamily="34" charset="-120"/>
              </a:rPr>
              <a:t>Node.js · Express</a:t>
            </a:r>
            <a:endParaRPr lang="en-US" sz="1400" dirty="0"/>
          </a:p>
          <a:p>
            <a:pPr marL="342900" indent="-342900">
              <a:spcAft>
                <a:spcPts val="400"/>
              </a:spcAft>
              <a:buSzPct val="100000"/>
              <a:buChar char="•"/>
            </a:pPr>
            <a:r>
              <a:rPr lang="en-US" sz="1400" dirty="0">
                <a:solidFill>
                  <a:srgbClr val="0F1538"/>
                </a:solidFill>
                <a:latin typeface="Calibri" pitchFamily="34" charset="0"/>
                <a:ea typeface="Calibri" pitchFamily="34" charset="-122"/>
                <a:cs typeface="Calibri" pitchFamily="34" charset="-120"/>
              </a:rPr>
              <a:t>EJS server-rendered views</a:t>
            </a:r>
            <a:endParaRPr lang="en-US" sz="1400" dirty="0"/>
          </a:p>
          <a:p>
            <a:pPr marL="342900" indent="-342900">
              <a:spcAft>
                <a:spcPts val="400"/>
              </a:spcAft>
              <a:buSzPct val="100000"/>
              <a:buChar char="•"/>
            </a:pPr>
            <a:r>
              <a:rPr lang="en-US" sz="1400" dirty="0">
                <a:solidFill>
                  <a:srgbClr val="0F1538"/>
                </a:solidFill>
                <a:latin typeface="Calibri" pitchFamily="34" charset="0"/>
                <a:ea typeface="Calibri" pitchFamily="34" charset="-122"/>
                <a:cs typeface="Calibri" pitchFamily="34" charset="-120"/>
              </a:rPr>
              <a:t>SQLite (sqlite3 driver)</a:t>
            </a:r>
            <a:endParaRPr lang="en-US" sz="1400" dirty="0"/>
          </a:p>
          <a:p>
            <a:pPr marL="342900" indent="-342900">
              <a:spcAft>
                <a:spcPts val="400"/>
              </a:spcAft>
              <a:buSzPct val="100000"/>
              <a:buChar char="•"/>
            </a:pPr>
            <a:r>
              <a:rPr lang="en-US" sz="1400" dirty="0">
                <a:solidFill>
                  <a:srgbClr val="0F1538"/>
                </a:solidFill>
                <a:latin typeface="Calibri" pitchFamily="34" charset="0"/>
                <a:ea typeface="Calibri" pitchFamily="34" charset="-122"/>
                <a:cs typeface="Calibri" pitchFamily="34" charset="-120"/>
              </a:rPr>
              <a:t>bcrypt + express-session</a:t>
            </a:r>
            <a:endParaRPr lang="en-US" sz="1400" dirty="0"/>
          </a:p>
          <a:p>
            <a:pPr marL="342900" indent="-342900">
              <a:spcAft>
                <a:spcPts val="400"/>
              </a:spcAft>
              <a:buSzPct val="100000"/>
              <a:buChar char="•"/>
            </a:pPr>
            <a:r>
              <a:rPr lang="en-US" sz="1400" dirty="0">
                <a:solidFill>
                  <a:srgbClr val="0F1538"/>
                </a:solidFill>
                <a:latin typeface="Calibri" pitchFamily="34" charset="0"/>
                <a:ea typeface="Calibri" pitchFamily="34" charset="-122"/>
                <a:cs typeface="Calibri" pitchFamily="34" charset="-120"/>
              </a:rPr>
              <a:t>multer file uploads</a:t>
            </a:r>
            <a:endParaRPr lang="en-US" sz="1400" dirty="0"/>
          </a:p>
          <a:p>
            <a:pPr marL="342900" indent="-342900">
              <a:spcAft>
                <a:spcPts val="400"/>
              </a:spcAft>
              <a:buSzPct val="100000"/>
              <a:buChar char="•"/>
            </a:pPr>
            <a:r>
              <a:rPr lang="en-US" sz="1400" dirty="0">
                <a:solidFill>
                  <a:srgbClr val="0F1538"/>
                </a:solidFill>
                <a:latin typeface="Calibri" pitchFamily="34" charset="0"/>
                <a:ea typeface="Calibri" pitchFamily="34" charset="-122"/>
                <a:cs typeface="Calibri" pitchFamily="34" charset="-120"/>
              </a:rPr>
              <a:t>ExcelJS export</a:t>
            </a:r>
            <a:endParaRPr lang="en-US" sz="1400" dirty="0"/>
          </a:p>
        </p:txBody>
      </p:sp>
      <p:sp>
        <p:nvSpPr>
          <p:cNvPr id="9" name="Text 7"/>
          <p:cNvSpPr/>
          <p:nvPr/>
        </p:nvSpPr>
        <p:spPr>
          <a:xfrm>
            <a:off x="822960" y="4206240"/>
            <a:ext cx="4389120" cy="274320"/>
          </a:xfrm>
          <a:prstGeom prst="rect">
            <a:avLst/>
          </a:prstGeom>
          <a:noFill/>
          <a:ln/>
        </p:spPr>
        <p:txBody>
          <a:bodyPr wrap="square" lIns="0" tIns="0" rIns="0" bIns="0" rtlCol="0" anchor="ctr"/>
          <a:lstStyle/>
          <a:p>
            <a:pPr marL="0" indent="0">
              <a:buNone/>
            </a:pPr>
            <a:r>
              <a:rPr lang="en-US" sz="1100" b="1" kern="0" spc="400" dirty="0">
                <a:solidFill>
                  <a:srgbClr val="1E2761"/>
                </a:solidFill>
                <a:latin typeface="Calibri" pitchFamily="34" charset="0"/>
                <a:ea typeface="Calibri" pitchFamily="34" charset="-122"/>
                <a:cs typeface="Calibri" pitchFamily="34" charset="-120"/>
              </a:rPr>
              <a:t>FEATURES</a:t>
            </a:r>
            <a:endParaRPr lang="en-US" sz="1100" dirty="0"/>
          </a:p>
        </p:txBody>
      </p:sp>
      <p:sp>
        <p:nvSpPr>
          <p:cNvPr id="10" name="Text 8"/>
          <p:cNvSpPr/>
          <p:nvPr/>
        </p:nvSpPr>
        <p:spPr>
          <a:xfrm>
            <a:off x="822960" y="4526280"/>
            <a:ext cx="4389120" cy="1371600"/>
          </a:xfrm>
          <a:prstGeom prst="rect">
            <a:avLst/>
          </a:prstGeom>
          <a:noFill/>
          <a:ln/>
        </p:spPr>
        <p:txBody>
          <a:bodyPr wrap="square" rtlCol="0" anchor="ctr"/>
          <a:lstStyle/>
          <a:p>
            <a:pPr marL="342900" indent="-342900">
              <a:spcAft>
                <a:spcPts val="300"/>
              </a:spcAft>
              <a:buSzPct val="100000"/>
              <a:buChar char="•"/>
            </a:pPr>
            <a:r>
              <a:rPr lang="en-US" sz="1400" dirty="0">
                <a:solidFill>
                  <a:srgbClr val="0F1538"/>
                </a:solidFill>
                <a:latin typeface="Calibri" pitchFamily="34" charset="0"/>
                <a:ea typeface="Calibri" pitchFamily="34" charset="-122"/>
                <a:cs typeface="Calibri" pitchFamily="34" charset="-120"/>
              </a:rPr>
              <a:t>Author submits manuscript + abstract</a:t>
            </a:r>
            <a:endParaRPr lang="en-US" sz="1400" dirty="0"/>
          </a:p>
          <a:p>
            <a:pPr marL="342900" indent="-342900">
              <a:spcAft>
                <a:spcPts val="300"/>
              </a:spcAft>
              <a:buSzPct val="100000"/>
              <a:buChar char="•"/>
            </a:pPr>
            <a:r>
              <a:rPr lang="en-US" sz="1400" dirty="0">
                <a:solidFill>
                  <a:srgbClr val="0F1538"/>
                </a:solidFill>
                <a:latin typeface="Calibri" pitchFamily="34" charset="0"/>
                <a:ea typeface="Calibri" pitchFamily="34" charset="-122"/>
                <a:cs typeface="Calibri" pitchFamily="34" charset="-120"/>
              </a:rPr>
              <a:t>Editor manually assigns reviewers</a:t>
            </a:r>
            <a:endParaRPr lang="en-US" sz="1400" dirty="0"/>
          </a:p>
          <a:p>
            <a:pPr marL="342900" indent="-342900">
              <a:spcAft>
                <a:spcPts val="300"/>
              </a:spcAft>
              <a:buSzPct val="100000"/>
              <a:buChar char="•"/>
            </a:pPr>
            <a:r>
              <a:rPr lang="en-US" sz="1400" dirty="0">
                <a:solidFill>
                  <a:srgbClr val="0F1538"/>
                </a:solidFill>
                <a:latin typeface="Calibri" pitchFamily="34" charset="0"/>
                <a:ea typeface="Calibri" pitchFamily="34" charset="-122"/>
                <a:cs typeface="Calibri" pitchFamily="34" charset="-120"/>
              </a:rPr>
              <a:t>Reviewer writes free-text feedback</a:t>
            </a:r>
            <a:endParaRPr lang="en-US" sz="1400" dirty="0"/>
          </a:p>
          <a:p>
            <a:pPr marL="342900" indent="-342900">
              <a:spcAft>
                <a:spcPts val="300"/>
              </a:spcAft>
              <a:buSzPct val="100000"/>
              <a:buChar char="•"/>
            </a:pPr>
            <a:r>
              <a:rPr lang="en-US" sz="1400" dirty="0">
                <a:solidFill>
                  <a:srgbClr val="0F1538"/>
                </a:solidFill>
                <a:latin typeface="Calibri" pitchFamily="34" charset="0"/>
                <a:ea typeface="Calibri" pitchFamily="34" charset="-122"/>
                <a:cs typeface="Calibri" pitchFamily="34" charset="-120"/>
              </a:rPr>
              <a:t>Public reader feed of accepted papers</a:t>
            </a:r>
            <a:endParaRPr lang="en-US" sz="1400" dirty="0"/>
          </a:p>
        </p:txBody>
      </p:sp>
      <p:sp>
        <p:nvSpPr>
          <p:cNvPr id="11" name="Text 9"/>
          <p:cNvSpPr/>
          <p:nvPr/>
        </p:nvSpPr>
        <p:spPr>
          <a:xfrm>
            <a:off x="5852160" y="1691640"/>
            <a:ext cx="5486400" cy="274320"/>
          </a:xfrm>
          <a:prstGeom prst="rect">
            <a:avLst/>
          </a:prstGeom>
          <a:noFill/>
          <a:ln/>
        </p:spPr>
        <p:txBody>
          <a:bodyPr wrap="square" lIns="0" tIns="0" rIns="0" bIns="0" rtlCol="0" anchor="ctr"/>
          <a:lstStyle/>
          <a:p>
            <a:pPr marL="0" indent="0">
              <a:buNone/>
            </a:pPr>
            <a:r>
              <a:rPr lang="en-US" sz="1100" b="1" kern="0" spc="400" dirty="0">
                <a:solidFill>
                  <a:srgbClr val="1E2761"/>
                </a:solidFill>
                <a:latin typeface="Calibri" pitchFamily="34" charset="0"/>
                <a:ea typeface="Calibri" pitchFamily="34" charset="-122"/>
                <a:cs typeface="Calibri" pitchFamily="34" charset="-120"/>
              </a:rPr>
              <a:t>ROLES &amp; FLOW</a:t>
            </a:r>
            <a:endParaRPr lang="en-US" sz="1100" dirty="0"/>
          </a:p>
        </p:txBody>
      </p:sp>
      <p:sp>
        <p:nvSpPr>
          <p:cNvPr id="12" name="Shape 10"/>
          <p:cNvSpPr/>
          <p:nvPr/>
        </p:nvSpPr>
        <p:spPr>
          <a:xfrm>
            <a:off x="5852160" y="2103120"/>
            <a:ext cx="640080" cy="640080"/>
          </a:xfrm>
          <a:prstGeom prst="ellipse">
            <a:avLst/>
          </a:prstGeom>
          <a:solidFill>
            <a:srgbClr val="1E2761"/>
          </a:solidFill>
          <a:ln/>
        </p:spPr>
        <p:txBody>
          <a:bodyPr/>
          <a:lstStyle/>
          <a:p>
            <a:endParaRPr lang="en-US"/>
          </a:p>
        </p:txBody>
      </p:sp>
      <p:sp>
        <p:nvSpPr>
          <p:cNvPr id="13" name="Text 11"/>
          <p:cNvSpPr/>
          <p:nvPr/>
        </p:nvSpPr>
        <p:spPr>
          <a:xfrm>
            <a:off x="5852160" y="21031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14" name="Text 12"/>
          <p:cNvSpPr/>
          <p:nvPr/>
        </p:nvSpPr>
        <p:spPr>
          <a:xfrm>
            <a:off x="6720840" y="2148840"/>
            <a:ext cx="5029200" cy="27432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AUTHOR</a:t>
            </a:r>
            <a:endParaRPr lang="en-US" sz="1600" dirty="0"/>
          </a:p>
        </p:txBody>
      </p:sp>
      <p:sp>
        <p:nvSpPr>
          <p:cNvPr id="15" name="Text 13"/>
          <p:cNvSpPr/>
          <p:nvPr/>
        </p:nvSpPr>
        <p:spPr>
          <a:xfrm>
            <a:off x="6720840" y="2432304"/>
            <a:ext cx="5029200" cy="27432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Submit manuscript</a:t>
            </a:r>
            <a:endParaRPr lang="en-US" sz="1300" dirty="0"/>
          </a:p>
        </p:txBody>
      </p:sp>
      <p:sp>
        <p:nvSpPr>
          <p:cNvPr id="16" name="Shape 14"/>
          <p:cNvSpPr/>
          <p:nvPr/>
        </p:nvSpPr>
        <p:spPr>
          <a:xfrm>
            <a:off x="6172200" y="2743200"/>
            <a:ext cx="0" cy="274320"/>
          </a:xfrm>
          <a:prstGeom prst="line">
            <a:avLst/>
          </a:prstGeom>
          <a:noFill/>
          <a:ln w="25400">
            <a:solidFill>
              <a:srgbClr val="CADCFC"/>
            </a:solidFill>
            <a:prstDash val="solid"/>
          </a:ln>
        </p:spPr>
        <p:txBody>
          <a:bodyPr/>
          <a:lstStyle/>
          <a:p>
            <a:endParaRPr lang="en-US"/>
          </a:p>
        </p:txBody>
      </p:sp>
      <p:sp>
        <p:nvSpPr>
          <p:cNvPr id="17" name="Shape 15"/>
          <p:cNvSpPr/>
          <p:nvPr/>
        </p:nvSpPr>
        <p:spPr>
          <a:xfrm>
            <a:off x="5852160" y="3017520"/>
            <a:ext cx="640080" cy="640080"/>
          </a:xfrm>
          <a:prstGeom prst="ellipse">
            <a:avLst/>
          </a:prstGeom>
          <a:solidFill>
            <a:srgbClr val="1E2761"/>
          </a:solidFill>
          <a:ln/>
        </p:spPr>
        <p:txBody>
          <a:bodyPr/>
          <a:lstStyle/>
          <a:p>
            <a:endParaRPr lang="en-US"/>
          </a:p>
        </p:txBody>
      </p:sp>
      <p:sp>
        <p:nvSpPr>
          <p:cNvPr id="18" name="Text 16"/>
          <p:cNvSpPr/>
          <p:nvPr/>
        </p:nvSpPr>
        <p:spPr>
          <a:xfrm>
            <a:off x="5852160" y="30175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9" name="Text 17"/>
          <p:cNvSpPr/>
          <p:nvPr/>
        </p:nvSpPr>
        <p:spPr>
          <a:xfrm>
            <a:off x="6720840" y="3063240"/>
            <a:ext cx="5029200" cy="27432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EDITOR</a:t>
            </a:r>
            <a:endParaRPr lang="en-US" sz="1600" dirty="0"/>
          </a:p>
        </p:txBody>
      </p:sp>
      <p:sp>
        <p:nvSpPr>
          <p:cNvPr id="20" name="Text 18"/>
          <p:cNvSpPr/>
          <p:nvPr/>
        </p:nvSpPr>
        <p:spPr>
          <a:xfrm>
            <a:off x="6720840" y="3346704"/>
            <a:ext cx="5029200" cy="27432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Assign reviewer (random)</a:t>
            </a:r>
            <a:endParaRPr lang="en-US" sz="1300" dirty="0"/>
          </a:p>
        </p:txBody>
      </p:sp>
      <p:sp>
        <p:nvSpPr>
          <p:cNvPr id="21" name="Shape 19"/>
          <p:cNvSpPr/>
          <p:nvPr/>
        </p:nvSpPr>
        <p:spPr>
          <a:xfrm>
            <a:off x="6172200" y="3657600"/>
            <a:ext cx="0" cy="274320"/>
          </a:xfrm>
          <a:prstGeom prst="line">
            <a:avLst/>
          </a:prstGeom>
          <a:noFill/>
          <a:ln w="25400">
            <a:solidFill>
              <a:srgbClr val="CADCFC"/>
            </a:solidFill>
            <a:prstDash val="solid"/>
          </a:ln>
        </p:spPr>
        <p:txBody>
          <a:bodyPr/>
          <a:lstStyle/>
          <a:p>
            <a:endParaRPr lang="en-US"/>
          </a:p>
        </p:txBody>
      </p:sp>
      <p:sp>
        <p:nvSpPr>
          <p:cNvPr id="22" name="Shape 20"/>
          <p:cNvSpPr/>
          <p:nvPr/>
        </p:nvSpPr>
        <p:spPr>
          <a:xfrm>
            <a:off x="5852160" y="3931920"/>
            <a:ext cx="640080" cy="640080"/>
          </a:xfrm>
          <a:prstGeom prst="ellipse">
            <a:avLst/>
          </a:prstGeom>
          <a:solidFill>
            <a:srgbClr val="1E2761"/>
          </a:solidFill>
          <a:ln/>
        </p:spPr>
        <p:txBody>
          <a:bodyPr/>
          <a:lstStyle/>
          <a:p>
            <a:endParaRPr lang="en-US"/>
          </a:p>
        </p:txBody>
      </p:sp>
      <p:sp>
        <p:nvSpPr>
          <p:cNvPr id="23" name="Text 21"/>
          <p:cNvSpPr/>
          <p:nvPr/>
        </p:nvSpPr>
        <p:spPr>
          <a:xfrm>
            <a:off x="5852160" y="39319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24" name="Text 22"/>
          <p:cNvSpPr/>
          <p:nvPr/>
        </p:nvSpPr>
        <p:spPr>
          <a:xfrm>
            <a:off x="6720840" y="3977640"/>
            <a:ext cx="5029200" cy="27432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REVIEWER</a:t>
            </a:r>
            <a:endParaRPr lang="en-US" sz="1600" dirty="0"/>
          </a:p>
        </p:txBody>
      </p:sp>
      <p:sp>
        <p:nvSpPr>
          <p:cNvPr id="25" name="Text 23"/>
          <p:cNvSpPr/>
          <p:nvPr/>
        </p:nvSpPr>
        <p:spPr>
          <a:xfrm>
            <a:off x="6720840" y="4261104"/>
            <a:ext cx="5029200" cy="27432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Free-text feedback + decision</a:t>
            </a:r>
            <a:endParaRPr lang="en-US" sz="1300" dirty="0"/>
          </a:p>
        </p:txBody>
      </p:sp>
      <p:sp>
        <p:nvSpPr>
          <p:cNvPr id="26" name="Shape 24"/>
          <p:cNvSpPr/>
          <p:nvPr/>
        </p:nvSpPr>
        <p:spPr>
          <a:xfrm>
            <a:off x="6172200" y="4572000"/>
            <a:ext cx="0" cy="274320"/>
          </a:xfrm>
          <a:prstGeom prst="line">
            <a:avLst/>
          </a:prstGeom>
          <a:noFill/>
          <a:ln w="25400">
            <a:solidFill>
              <a:srgbClr val="CADCFC"/>
            </a:solidFill>
            <a:prstDash val="solid"/>
          </a:ln>
        </p:spPr>
        <p:txBody>
          <a:bodyPr/>
          <a:lstStyle/>
          <a:p>
            <a:endParaRPr lang="en-US"/>
          </a:p>
        </p:txBody>
      </p:sp>
      <p:sp>
        <p:nvSpPr>
          <p:cNvPr id="27" name="Shape 25"/>
          <p:cNvSpPr/>
          <p:nvPr/>
        </p:nvSpPr>
        <p:spPr>
          <a:xfrm>
            <a:off x="5852160" y="4846320"/>
            <a:ext cx="640080" cy="640080"/>
          </a:xfrm>
          <a:prstGeom prst="ellipse">
            <a:avLst/>
          </a:prstGeom>
          <a:solidFill>
            <a:srgbClr val="1E2761"/>
          </a:solidFill>
          <a:ln/>
        </p:spPr>
        <p:txBody>
          <a:bodyPr/>
          <a:lstStyle/>
          <a:p>
            <a:endParaRPr lang="en-US"/>
          </a:p>
        </p:txBody>
      </p:sp>
      <p:sp>
        <p:nvSpPr>
          <p:cNvPr id="28" name="Text 26"/>
          <p:cNvSpPr/>
          <p:nvPr/>
        </p:nvSpPr>
        <p:spPr>
          <a:xfrm>
            <a:off x="5852160" y="48463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9" name="Text 27"/>
          <p:cNvSpPr/>
          <p:nvPr/>
        </p:nvSpPr>
        <p:spPr>
          <a:xfrm>
            <a:off x="6720840" y="4892040"/>
            <a:ext cx="5029200" cy="27432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READER</a:t>
            </a:r>
            <a:endParaRPr lang="en-US" sz="1600" dirty="0"/>
          </a:p>
        </p:txBody>
      </p:sp>
      <p:sp>
        <p:nvSpPr>
          <p:cNvPr id="30" name="Text 28"/>
          <p:cNvSpPr/>
          <p:nvPr/>
        </p:nvSpPr>
        <p:spPr>
          <a:xfrm>
            <a:off x="6720840" y="5175504"/>
            <a:ext cx="5029200" cy="27432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Browse accepted papers (public)</a:t>
            </a:r>
            <a:endParaRPr lang="en-US" sz="1300" dirty="0"/>
          </a:p>
        </p:txBody>
      </p:sp>
      <p:sp>
        <p:nvSpPr>
          <p:cNvPr id="31" name="Text 29"/>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32" name="Text 30"/>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10972800" cy="640080"/>
          </a:xfrm>
          <a:prstGeom prst="rect">
            <a:avLst/>
          </a:prstGeom>
          <a:noFill/>
          <a:ln/>
        </p:spPr>
        <p:txBody>
          <a:bodyPr wrap="square" lIns="0" tIns="0" rIns="0" bIns="0" rtlCol="0" anchor="ctr"/>
          <a:lstStyle/>
          <a:p>
            <a:pPr marL="0" indent="0">
              <a:buNone/>
            </a:pPr>
            <a:r>
              <a:rPr lang="en-US" sz="3200" b="1" dirty="0">
                <a:solidFill>
                  <a:srgbClr val="0F1538"/>
                </a:solidFill>
                <a:latin typeface="Georgia" pitchFamily="34" charset="0"/>
                <a:ea typeface="Georgia" pitchFamily="34" charset="-122"/>
                <a:cs typeface="Georgia" pitchFamily="34" charset="-120"/>
              </a:rPr>
              <a:t>Limitations of the original</a:t>
            </a:r>
            <a:endParaRPr lang="en-US" sz="3200" dirty="0"/>
          </a:p>
        </p:txBody>
      </p:sp>
      <p:sp>
        <p:nvSpPr>
          <p:cNvPr id="4" name="Text 2"/>
          <p:cNvSpPr/>
          <p:nvPr/>
        </p:nvSpPr>
        <p:spPr>
          <a:xfrm>
            <a:off x="548640" y="960120"/>
            <a:ext cx="10972800" cy="365760"/>
          </a:xfrm>
          <a:prstGeom prst="rect">
            <a:avLst/>
          </a:prstGeom>
          <a:noFill/>
          <a:ln/>
        </p:spPr>
        <p:txBody>
          <a:bodyPr wrap="square" lIns="0" tIns="0" rIns="0" bIns="0" rtlCol="0" anchor="ctr"/>
          <a:lstStyle/>
          <a:p>
            <a:pPr marL="0" indent="0">
              <a:buNone/>
            </a:pPr>
            <a:r>
              <a:rPr lang="en-US" sz="1400" i="1" dirty="0">
                <a:solidFill>
                  <a:srgbClr val="5C6488"/>
                </a:solidFill>
                <a:latin typeface="Calibri" pitchFamily="34" charset="0"/>
                <a:ea typeface="Calibri" pitchFamily="34" charset="-122"/>
                <a:cs typeface="Calibri" pitchFamily="34" charset="-120"/>
              </a:rPr>
              <a:t>What an honest audit surfaced — and why GenAI is the right cure</a:t>
            </a:r>
            <a:endParaRPr lang="en-US" sz="1400" dirty="0"/>
          </a:p>
        </p:txBody>
      </p:sp>
      <p:sp>
        <p:nvSpPr>
          <p:cNvPr id="5" name="Shape 3"/>
          <p:cNvSpPr/>
          <p:nvPr/>
        </p:nvSpPr>
        <p:spPr>
          <a:xfrm>
            <a:off x="548640" y="1645920"/>
            <a:ext cx="3520440" cy="2194560"/>
          </a:xfrm>
          <a:prstGeom prst="rect">
            <a:avLst/>
          </a:prstGeom>
          <a:solidFill>
            <a:srgbClr val="F7F8FB"/>
          </a:solidFill>
          <a:ln w="12700">
            <a:solidFill>
              <a:srgbClr val="E2E5EE"/>
            </a:solidFill>
            <a:prstDash val="solid"/>
          </a:ln>
        </p:spPr>
        <p:txBody>
          <a:bodyPr/>
          <a:lstStyle/>
          <a:p>
            <a:endParaRPr lang="en-US"/>
          </a:p>
        </p:txBody>
      </p:sp>
      <p:sp>
        <p:nvSpPr>
          <p:cNvPr id="6" name="Shape 4"/>
          <p:cNvSpPr/>
          <p:nvPr/>
        </p:nvSpPr>
        <p:spPr>
          <a:xfrm>
            <a:off x="777240" y="1874520"/>
            <a:ext cx="502920" cy="502920"/>
          </a:xfrm>
          <a:prstGeom prst="ellipse">
            <a:avLst/>
          </a:prstGeom>
          <a:solidFill>
            <a:srgbClr val="FCE7E5"/>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877824" y="1975104"/>
            <a:ext cx="301752" cy="301752"/>
          </a:xfrm>
          <a:prstGeom prst="rect">
            <a:avLst/>
          </a:prstGeom>
        </p:spPr>
      </p:pic>
      <p:sp>
        <p:nvSpPr>
          <p:cNvPr id="8" name="Text 5"/>
          <p:cNvSpPr/>
          <p:nvPr/>
        </p:nvSpPr>
        <p:spPr>
          <a:xfrm>
            <a:off x="1417320" y="187452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Buggy auth wiring</a:t>
            </a:r>
            <a:endParaRPr lang="en-US" sz="1600" dirty="0"/>
          </a:p>
        </p:txBody>
      </p:sp>
      <p:sp>
        <p:nvSpPr>
          <p:cNvPr id="9" name="Text 6"/>
          <p:cNvSpPr/>
          <p:nvPr/>
        </p:nvSpPr>
        <p:spPr>
          <a:xfrm>
            <a:off x="777240" y="256032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express-session never imported; mixed req.session shape across routes; broken author-id lookup.</a:t>
            </a:r>
            <a:endParaRPr lang="en-US" sz="1200" dirty="0"/>
          </a:p>
        </p:txBody>
      </p:sp>
      <p:sp>
        <p:nvSpPr>
          <p:cNvPr id="10" name="Shape 7"/>
          <p:cNvSpPr/>
          <p:nvPr/>
        </p:nvSpPr>
        <p:spPr>
          <a:xfrm>
            <a:off x="4526280" y="1645920"/>
            <a:ext cx="3520440" cy="2194560"/>
          </a:xfrm>
          <a:prstGeom prst="rect">
            <a:avLst/>
          </a:prstGeom>
          <a:solidFill>
            <a:srgbClr val="F7F8FB"/>
          </a:solidFill>
          <a:ln w="12700">
            <a:solidFill>
              <a:srgbClr val="E2E5EE"/>
            </a:solidFill>
            <a:prstDash val="solid"/>
          </a:ln>
        </p:spPr>
        <p:txBody>
          <a:bodyPr/>
          <a:lstStyle/>
          <a:p>
            <a:endParaRPr lang="en-US"/>
          </a:p>
        </p:txBody>
      </p:sp>
      <p:sp>
        <p:nvSpPr>
          <p:cNvPr id="11" name="Shape 8"/>
          <p:cNvSpPr/>
          <p:nvPr/>
        </p:nvSpPr>
        <p:spPr>
          <a:xfrm>
            <a:off x="4754880" y="1874520"/>
            <a:ext cx="502920" cy="502920"/>
          </a:xfrm>
          <a:prstGeom prst="ellipse">
            <a:avLst/>
          </a:prstGeom>
          <a:solidFill>
            <a:srgbClr val="FCE7E5"/>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855464" y="1975104"/>
            <a:ext cx="301752" cy="301752"/>
          </a:xfrm>
          <a:prstGeom prst="rect">
            <a:avLst/>
          </a:prstGeom>
        </p:spPr>
      </p:pic>
      <p:sp>
        <p:nvSpPr>
          <p:cNvPr id="13" name="Text 9"/>
          <p:cNvSpPr/>
          <p:nvPr/>
        </p:nvSpPr>
        <p:spPr>
          <a:xfrm>
            <a:off x="5394960" y="187452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Random reviewer assignment</a:t>
            </a:r>
            <a:endParaRPr lang="en-US" sz="1600" dirty="0"/>
          </a:p>
        </p:txBody>
      </p:sp>
      <p:sp>
        <p:nvSpPr>
          <p:cNvPr id="14" name="Text 10"/>
          <p:cNvSpPr/>
          <p:nvPr/>
        </p:nvSpPr>
        <p:spPr>
          <a:xfrm>
            <a:off x="4754880" y="256032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Math.random() picks any reviewer regardless of expertise — a real workshop never operates this way.</a:t>
            </a:r>
            <a:endParaRPr lang="en-US" sz="1200" dirty="0"/>
          </a:p>
        </p:txBody>
      </p:sp>
      <p:sp>
        <p:nvSpPr>
          <p:cNvPr id="15" name="Shape 11"/>
          <p:cNvSpPr/>
          <p:nvPr/>
        </p:nvSpPr>
        <p:spPr>
          <a:xfrm>
            <a:off x="8503920" y="1645920"/>
            <a:ext cx="3520440" cy="2194560"/>
          </a:xfrm>
          <a:prstGeom prst="rect">
            <a:avLst/>
          </a:prstGeom>
          <a:solidFill>
            <a:srgbClr val="F7F8FB"/>
          </a:solidFill>
          <a:ln w="12700">
            <a:solidFill>
              <a:srgbClr val="E2E5EE"/>
            </a:solidFill>
            <a:prstDash val="solid"/>
          </a:ln>
        </p:spPr>
        <p:txBody>
          <a:bodyPr/>
          <a:lstStyle/>
          <a:p>
            <a:endParaRPr lang="en-US"/>
          </a:p>
        </p:txBody>
      </p:sp>
      <p:sp>
        <p:nvSpPr>
          <p:cNvPr id="16" name="Shape 12"/>
          <p:cNvSpPr/>
          <p:nvPr/>
        </p:nvSpPr>
        <p:spPr>
          <a:xfrm>
            <a:off x="8732520" y="1874520"/>
            <a:ext cx="502920" cy="502920"/>
          </a:xfrm>
          <a:prstGeom prst="ellipse">
            <a:avLst/>
          </a:prstGeom>
          <a:solidFill>
            <a:srgbClr val="FCE7E5"/>
          </a:solidFill>
          <a:ln/>
        </p:spPr>
        <p:txBody>
          <a:bodyPr/>
          <a:lstStyle/>
          <a:p>
            <a:endParaRPr lang="en-US"/>
          </a:p>
        </p:txBody>
      </p:sp>
      <p:pic>
        <p:nvPicPr>
          <p:cNvPr id="17" name="Image 2" descr="preencoded.png"/>
          <p:cNvPicPr>
            <a:picLocks noChangeAspect="1"/>
          </p:cNvPicPr>
          <p:nvPr/>
        </p:nvPicPr>
        <p:blipFill>
          <a:blip r:embed="rId4"/>
          <a:stretch>
            <a:fillRect/>
          </a:stretch>
        </p:blipFill>
        <p:spPr>
          <a:xfrm>
            <a:off x="8833104" y="1975104"/>
            <a:ext cx="301752" cy="301752"/>
          </a:xfrm>
          <a:prstGeom prst="rect">
            <a:avLst/>
          </a:prstGeom>
        </p:spPr>
      </p:pic>
      <p:sp>
        <p:nvSpPr>
          <p:cNvPr id="18" name="Text 13"/>
          <p:cNvSpPr/>
          <p:nvPr/>
        </p:nvSpPr>
        <p:spPr>
          <a:xfrm>
            <a:off x="9372600" y="187452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No integrity checks</a:t>
            </a:r>
            <a:endParaRPr lang="en-US" sz="1600" dirty="0"/>
          </a:p>
        </p:txBody>
      </p:sp>
      <p:sp>
        <p:nvSpPr>
          <p:cNvPr id="19" name="Text 14"/>
          <p:cNvSpPr/>
          <p:nvPr/>
        </p:nvSpPr>
        <p:spPr>
          <a:xfrm>
            <a:off x="8732520" y="256032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No plagiarism detection, no duplicate-submission detection, no AI-generated-text flagging.</a:t>
            </a:r>
            <a:endParaRPr lang="en-US" sz="1200" dirty="0"/>
          </a:p>
        </p:txBody>
      </p:sp>
      <p:sp>
        <p:nvSpPr>
          <p:cNvPr id="20" name="Shape 15"/>
          <p:cNvSpPr/>
          <p:nvPr/>
        </p:nvSpPr>
        <p:spPr>
          <a:xfrm>
            <a:off x="548640" y="4114800"/>
            <a:ext cx="3520440" cy="2194560"/>
          </a:xfrm>
          <a:prstGeom prst="rect">
            <a:avLst/>
          </a:prstGeom>
          <a:solidFill>
            <a:srgbClr val="F7F8FB"/>
          </a:solidFill>
          <a:ln w="12700">
            <a:solidFill>
              <a:srgbClr val="E2E5EE"/>
            </a:solidFill>
            <a:prstDash val="solid"/>
          </a:ln>
        </p:spPr>
        <p:txBody>
          <a:bodyPr/>
          <a:lstStyle/>
          <a:p>
            <a:endParaRPr lang="en-US"/>
          </a:p>
        </p:txBody>
      </p:sp>
      <p:sp>
        <p:nvSpPr>
          <p:cNvPr id="21" name="Shape 16"/>
          <p:cNvSpPr/>
          <p:nvPr/>
        </p:nvSpPr>
        <p:spPr>
          <a:xfrm>
            <a:off x="777240" y="4343400"/>
            <a:ext cx="502920" cy="502920"/>
          </a:xfrm>
          <a:prstGeom prst="ellipse">
            <a:avLst/>
          </a:prstGeom>
          <a:solidFill>
            <a:srgbClr val="FCE7E5"/>
          </a:solidFill>
          <a:ln/>
        </p:spPr>
        <p:txBody>
          <a:bodyPr/>
          <a:lstStyle/>
          <a:p>
            <a:endParaRPr lang="en-US"/>
          </a:p>
        </p:txBody>
      </p:sp>
      <p:pic>
        <p:nvPicPr>
          <p:cNvPr id="22" name="Image 3" descr="preencoded.png"/>
          <p:cNvPicPr>
            <a:picLocks noChangeAspect="1"/>
          </p:cNvPicPr>
          <p:nvPr/>
        </p:nvPicPr>
        <p:blipFill>
          <a:blip r:embed="rId3"/>
          <a:stretch>
            <a:fillRect/>
          </a:stretch>
        </p:blipFill>
        <p:spPr>
          <a:xfrm>
            <a:off x="877824" y="4443984"/>
            <a:ext cx="301752" cy="301752"/>
          </a:xfrm>
          <a:prstGeom prst="rect">
            <a:avLst/>
          </a:prstGeom>
        </p:spPr>
      </p:pic>
      <p:sp>
        <p:nvSpPr>
          <p:cNvPr id="23" name="Text 17"/>
          <p:cNvSpPr/>
          <p:nvPr/>
        </p:nvSpPr>
        <p:spPr>
          <a:xfrm>
            <a:off x="1417320" y="434340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Unstructured reviews</a:t>
            </a:r>
            <a:endParaRPr lang="en-US" sz="1600" dirty="0"/>
          </a:p>
        </p:txBody>
      </p:sp>
      <p:sp>
        <p:nvSpPr>
          <p:cNvPr id="24" name="Text 18"/>
          <p:cNvSpPr/>
          <p:nvPr/>
        </p:nvSpPr>
        <p:spPr>
          <a:xfrm>
            <a:off x="777240" y="502920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A single textarea per review. No comparable scores, no aggregation, no recommendation field.</a:t>
            </a:r>
            <a:endParaRPr lang="en-US" sz="1200" dirty="0"/>
          </a:p>
        </p:txBody>
      </p:sp>
      <p:sp>
        <p:nvSpPr>
          <p:cNvPr id="25" name="Shape 19"/>
          <p:cNvSpPr/>
          <p:nvPr/>
        </p:nvSpPr>
        <p:spPr>
          <a:xfrm>
            <a:off x="4526280" y="4114800"/>
            <a:ext cx="3520440" cy="2194560"/>
          </a:xfrm>
          <a:prstGeom prst="rect">
            <a:avLst/>
          </a:prstGeom>
          <a:solidFill>
            <a:srgbClr val="F7F8FB"/>
          </a:solidFill>
          <a:ln w="12700">
            <a:solidFill>
              <a:srgbClr val="E2E5EE"/>
            </a:solidFill>
            <a:prstDash val="solid"/>
          </a:ln>
        </p:spPr>
        <p:txBody>
          <a:bodyPr/>
          <a:lstStyle/>
          <a:p>
            <a:endParaRPr lang="en-US"/>
          </a:p>
        </p:txBody>
      </p:sp>
      <p:sp>
        <p:nvSpPr>
          <p:cNvPr id="26" name="Shape 20"/>
          <p:cNvSpPr/>
          <p:nvPr/>
        </p:nvSpPr>
        <p:spPr>
          <a:xfrm>
            <a:off x="4754880" y="4343400"/>
            <a:ext cx="502920" cy="502920"/>
          </a:xfrm>
          <a:prstGeom prst="ellipse">
            <a:avLst/>
          </a:prstGeom>
          <a:solidFill>
            <a:srgbClr val="FCE7E5"/>
          </a:solidFill>
          <a:ln/>
        </p:spPr>
        <p:txBody>
          <a:bodyPr/>
          <a:lstStyle/>
          <a:p>
            <a:endParaRPr lang="en-US"/>
          </a:p>
        </p:txBody>
      </p:sp>
      <p:pic>
        <p:nvPicPr>
          <p:cNvPr id="27" name="Image 4" descr="preencoded.png"/>
          <p:cNvPicPr>
            <a:picLocks noChangeAspect="1"/>
          </p:cNvPicPr>
          <p:nvPr/>
        </p:nvPicPr>
        <p:blipFill>
          <a:blip r:embed="rId4"/>
          <a:stretch>
            <a:fillRect/>
          </a:stretch>
        </p:blipFill>
        <p:spPr>
          <a:xfrm>
            <a:off x="4855464" y="4443984"/>
            <a:ext cx="301752" cy="301752"/>
          </a:xfrm>
          <a:prstGeom prst="rect">
            <a:avLst/>
          </a:prstGeom>
        </p:spPr>
      </p:pic>
      <p:sp>
        <p:nvSpPr>
          <p:cNvPr id="28" name="Text 21"/>
          <p:cNvSpPr/>
          <p:nvPr/>
        </p:nvSpPr>
        <p:spPr>
          <a:xfrm>
            <a:off x="5394960" y="434340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No author tooling</a:t>
            </a:r>
            <a:endParaRPr lang="en-US" sz="1600" dirty="0"/>
          </a:p>
        </p:txBody>
      </p:sp>
      <p:sp>
        <p:nvSpPr>
          <p:cNvPr id="29" name="Text 22"/>
          <p:cNvSpPr/>
          <p:nvPr/>
        </p:nvSpPr>
        <p:spPr>
          <a:xfrm>
            <a:off x="4754880" y="502920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Authors get zero feedback before submitting — no abstract polish, no keyword extraction, no title help.</a:t>
            </a:r>
            <a:endParaRPr lang="en-US" sz="1200" dirty="0"/>
          </a:p>
        </p:txBody>
      </p:sp>
      <p:sp>
        <p:nvSpPr>
          <p:cNvPr id="30" name="Shape 23"/>
          <p:cNvSpPr/>
          <p:nvPr/>
        </p:nvSpPr>
        <p:spPr>
          <a:xfrm>
            <a:off x="8503920" y="4114800"/>
            <a:ext cx="3520440" cy="2194560"/>
          </a:xfrm>
          <a:prstGeom prst="rect">
            <a:avLst/>
          </a:prstGeom>
          <a:solidFill>
            <a:srgbClr val="F7F8FB"/>
          </a:solidFill>
          <a:ln w="12700">
            <a:solidFill>
              <a:srgbClr val="E2E5EE"/>
            </a:solidFill>
            <a:prstDash val="solid"/>
          </a:ln>
        </p:spPr>
        <p:txBody>
          <a:bodyPr/>
          <a:lstStyle/>
          <a:p>
            <a:endParaRPr lang="en-US"/>
          </a:p>
        </p:txBody>
      </p:sp>
      <p:sp>
        <p:nvSpPr>
          <p:cNvPr id="31" name="Shape 24"/>
          <p:cNvSpPr/>
          <p:nvPr/>
        </p:nvSpPr>
        <p:spPr>
          <a:xfrm>
            <a:off x="8732520" y="4343400"/>
            <a:ext cx="502920" cy="502920"/>
          </a:xfrm>
          <a:prstGeom prst="ellipse">
            <a:avLst/>
          </a:prstGeom>
          <a:solidFill>
            <a:srgbClr val="FCE7E5"/>
          </a:solidFill>
          <a:ln/>
        </p:spPr>
        <p:txBody>
          <a:bodyPr/>
          <a:lstStyle/>
          <a:p>
            <a:endParaRPr lang="en-US"/>
          </a:p>
        </p:txBody>
      </p:sp>
      <p:pic>
        <p:nvPicPr>
          <p:cNvPr id="32" name="Image 5" descr="preencoded.png"/>
          <p:cNvPicPr>
            <a:picLocks noChangeAspect="1"/>
          </p:cNvPicPr>
          <p:nvPr/>
        </p:nvPicPr>
        <p:blipFill>
          <a:blip r:embed="rId3"/>
          <a:stretch>
            <a:fillRect/>
          </a:stretch>
        </p:blipFill>
        <p:spPr>
          <a:xfrm>
            <a:off x="8833104" y="4443984"/>
            <a:ext cx="301752" cy="301752"/>
          </a:xfrm>
          <a:prstGeom prst="rect">
            <a:avLst/>
          </a:prstGeom>
        </p:spPr>
      </p:pic>
      <p:sp>
        <p:nvSpPr>
          <p:cNvPr id="33" name="Text 25"/>
          <p:cNvSpPr/>
          <p:nvPr/>
        </p:nvSpPr>
        <p:spPr>
          <a:xfrm>
            <a:off x="9372600" y="4343400"/>
            <a:ext cx="2560320" cy="45720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No tests, no Docker, no CI</a:t>
            </a:r>
            <a:endParaRPr lang="en-US" sz="1600" dirty="0"/>
          </a:p>
        </p:txBody>
      </p:sp>
      <p:sp>
        <p:nvSpPr>
          <p:cNvPr id="34" name="Text 26"/>
          <p:cNvSpPr/>
          <p:nvPr/>
        </p:nvSpPr>
        <p:spPr>
          <a:xfrm>
            <a:off x="8732520" y="5029200"/>
            <a:ext cx="3108960" cy="1188720"/>
          </a:xfrm>
          <a:prstGeom prst="rect">
            <a:avLst/>
          </a:prstGeom>
          <a:noFill/>
          <a:ln/>
        </p:spPr>
        <p:txBody>
          <a:bodyPr wrap="square" lIns="0" tIns="0" rIns="0" bIns="0" rtlCol="0" anchor="ctr"/>
          <a:lstStyle/>
          <a:p>
            <a:pPr marL="0" indent="0">
              <a:buNone/>
            </a:pPr>
            <a:r>
              <a:rPr lang="en-US" sz="1200" dirty="0">
                <a:solidFill>
                  <a:srgbClr val="5C6488"/>
                </a:solidFill>
                <a:latin typeface="Calibri" pitchFamily="34" charset="0"/>
                <a:ea typeface="Calibri" pitchFamily="34" charset="-122"/>
                <a:cs typeface="Calibri" pitchFamily="34" charset="-120"/>
              </a:rPr>
              <a:t>Single-file app.js, hardcoded session secret, two stray .db files. Won't survive code review.</a:t>
            </a:r>
            <a:endParaRPr lang="en-US" sz="1200" dirty="0"/>
          </a:p>
        </p:txBody>
      </p:sp>
      <p:sp>
        <p:nvSpPr>
          <p:cNvPr id="35" name="Text 27"/>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36" name="Text 28"/>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10972800" cy="640080"/>
          </a:xfrm>
          <a:prstGeom prst="rect">
            <a:avLst/>
          </a:prstGeom>
          <a:noFill/>
          <a:ln/>
        </p:spPr>
        <p:txBody>
          <a:bodyPr wrap="square" lIns="0" tIns="0" rIns="0" bIns="0" rtlCol="0" anchor="ctr"/>
          <a:lstStyle/>
          <a:p>
            <a:pPr marL="0" indent="0">
              <a:buNone/>
            </a:pPr>
            <a:r>
              <a:rPr lang="en-US" sz="3200" b="1" dirty="0">
                <a:solidFill>
                  <a:srgbClr val="0F1538"/>
                </a:solidFill>
                <a:latin typeface="Georgia" pitchFamily="34" charset="0"/>
                <a:ea typeface="Georgia" pitchFamily="34" charset="-122"/>
                <a:cs typeface="Georgia" pitchFamily="34" charset="-120"/>
              </a:rPr>
              <a:t>Why Generative AI?</a:t>
            </a:r>
            <a:endParaRPr lang="en-US" sz="3200" dirty="0"/>
          </a:p>
        </p:txBody>
      </p:sp>
      <p:sp>
        <p:nvSpPr>
          <p:cNvPr id="4" name="Text 2"/>
          <p:cNvSpPr/>
          <p:nvPr/>
        </p:nvSpPr>
        <p:spPr>
          <a:xfrm>
            <a:off x="548640" y="960120"/>
            <a:ext cx="10972800" cy="365760"/>
          </a:xfrm>
          <a:prstGeom prst="rect">
            <a:avLst/>
          </a:prstGeom>
          <a:noFill/>
          <a:ln/>
        </p:spPr>
        <p:txBody>
          <a:bodyPr wrap="square" lIns="0" tIns="0" rIns="0" bIns="0" rtlCol="0" anchor="ctr"/>
          <a:lstStyle/>
          <a:p>
            <a:pPr marL="0" indent="0">
              <a:buNone/>
            </a:pPr>
            <a:r>
              <a:rPr lang="en-US" sz="1400" i="1" dirty="0">
                <a:solidFill>
                  <a:srgbClr val="5C6488"/>
                </a:solidFill>
                <a:latin typeface="Calibri" pitchFamily="34" charset="0"/>
                <a:ea typeface="Calibri" pitchFamily="34" charset="-122"/>
                <a:cs typeface="Calibri" pitchFamily="34" charset="-120"/>
              </a:rPr>
              <a:t>Each weakness above maps to something today's AI can directly support</a:t>
            </a:r>
            <a:endParaRPr lang="en-US" sz="1400" dirty="0"/>
          </a:p>
        </p:txBody>
      </p:sp>
      <p:sp>
        <p:nvSpPr>
          <p:cNvPr id="5" name="Shape 3"/>
          <p:cNvSpPr/>
          <p:nvPr/>
        </p:nvSpPr>
        <p:spPr>
          <a:xfrm>
            <a:off x="548640" y="1645920"/>
            <a:ext cx="2377440" cy="1463040"/>
          </a:xfrm>
          <a:prstGeom prst="rect">
            <a:avLst/>
          </a:prstGeom>
          <a:solidFill>
            <a:srgbClr val="1E2761"/>
          </a:solidFill>
          <a:ln/>
        </p:spPr>
        <p:txBody>
          <a:bodyPr/>
          <a:lstStyle/>
          <a:p>
            <a:endParaRPr lang="en-US"/>
          </a:p>
        </p:txBody>
      </p:sp>
      <p:sp>
        <p:nvSpPr>
          <p:cNvPr id="6" name="Shape 4"/>
          <p:cNvSpPr/>
          <p:nvPr/>
        </p:nvSpPr>
        <p:spPr>
          <a:xfrm>
            <a:off x="548640" y="1645920"/>
            <a:ext cx="2377440" cy="54864"/>
          </a:xfrm>
          <a:prstGeom prst="rect">
            <a:avLst/>
          </a:prstGeom>
          <a:solidFill>
            <a:srgbClr val="F4B942"/>
          </a:solidFill>
          <a:ln/>
        </p:spPr>
        <p:txBody>
          <a:bodyPr/>
          <a:lstStyle/>
          <a:p>
            <a:endParaRPr lang="en-US"/>
          </a:p>
        </p:txBody>
      </p:sp>
      <p:sp>
        <p:nvSpPr>
          <p:cNvPr id="7" name="Text 5"/>
          <p:cNvSpPr/>
          <p:nvPr/>
        </p:nvSpPr>
        <p:spPr>
          <a:xfrm>
            <a:off x="548640" y="1691640"/>
            <a:ext cx="2377440" cy="868680"/>
          </a:xfrm>
          <a:prstGeom prst="rect">
            <a:avLst/>
          </a:prstGeom>
          <a:noFill/>
          <a:ln/>
        </p:spPr>
        <p:txBody>
          <a:bodyPr wrap="square" lIns="0" tIns="0" rIns="0" bIns="0" rtlCol="0" anchor="ctr"/>
          <a:lstStyle/>
          <a:p>
            <a:pPr marL="0" indent="0" algn="ctr">
              <a:buNone/>
            </a:pPr>
            <a:r>
              <a:rPr lang="en-US" sz="5600" b="1" dirty="0">
                <a:solidFill>
                  <a:srgbClr val="FFFFFF"/>
                </a:solidFill>
                <a:latin typeface="Georgia" pitchFamily="34" charset="0"/>
                <a:ea typeface="Georgia" pitchFamily="34" charset="-122"/>
                <a:cs typeface="Georgia" pitchFamily="34" charset="-120"/>
              </a:rPr>
              <a:t>4</a:t>
            </a:r>
            <a:endParaRPr lang="en-US" sz="5600" dirty="0"/>
          </a:p>
        </p:txBody>
      </p:sp>
      <p:sp>
        <p:nvSpPr>
          <p:cNvPr id="8" name="Text 6"/>
          <p:cNvSpPr/>
          <p:nvPr/>
        </p:nvSpPr>
        <p:spPr>
          <a:xfrm>
            <a:off x="548640" y="2606040"/>
            <a:ext cx="2377440" cy="411480"/>
          </a:xfrm>
          <a:prstGeom prst="rect">
            <a:avLst/>
          </a:prstGeom>
          <a:noFill/>
          <a:ln/>
        </p:spPr>
        <p:txBody>
          <a:bodyPr wrap="square" lIns="0" tIns="0" rIns="0" bIns="0" rtlCol="0" anchor="ctr"/>
          <a:lstStyle/>
          <a:p>
            <a:pPr marL="0" indent="0" algn="ctr">
              <a:buNone/>
            </a:pPr>
            <a:r>
              <a:rPr lang="en-US" sz="1200" kern="0" spc="200" dirty="0">
                <a:solidFill>
                  <a:srgbClr val="CADCFC"/>
                </a:solidFill>
                <a:latin typeface="Calibri" pitchFamily="34" charset="0"/>
                <a:ea typeface="Calibri" pitchFamily="34" charset="-122"/>
                <a:cs typeface="Calibri" pitchFamily="34" charset="-120"/>
              </a:rPr>
              <a:t>AI features planned</a:t>
            </a:r>
            <a:endParaRPr lang="en-US" sz="1200" dirty="0"/>
          </a:p>
        </p:txBody>
      </p:sp>
      <p:sp>
        <p:nvSpPr>
          <p:cNvPr id="9" name="Shape 7"/>
          <p:cNvSpPr/>
          <p:nvPr/>
        </p:nvSpPr>
        <p:spPr>
          <a:xfrm>
            <a:off x="3520440" y="1645920"/>
            <a:ext cx="2377440" cy="1463040"/>
          </a:xfrm>
          <a:prstGeom prst="rect">
            <a:avLst/>
          </a:prstGeom>
          <a:solidFill>
            <a:srgbClr val="1E2761"/>
          </a:solidFill>
          <a:ln/>
        </p:spPr>
        <p:txBody>
          <a:bodyPr/>
          <a:lstStyle/>
          <a:p>
            <a:endParaRPr lang="en-US"/>
          </a:p>
        </p:txBody>
      </p:sp>
      <p:sp>
        <p:nvSpPr>
          <p:cNvPr id="10" name="Shape 8"/>
          <p:cNvSpPr/>
          <p:nvPr/>
        </p:nvSpPr>
        <p:spPr>
          <a:xfrm>
            <a:off x="3520440" y="1645920"/>
            <a:ext cx="2377440" cy="54864"/>
          </a:xfrm>
          <a:prstGeom prst="rect">
            <a:avLst/>
          </a:prstGeom>
          <a:solidFill>
            <a:srgbClr val="F4B942"/>
          </a:solidFill>
          <a:ln/>
        </p:spPr>
        <p:txBody>
          <a:bodyPr/>
          <a:lstStyle/>
          <a:p>
            <a:endParaRPr lang="en-US"/>
          </a:p>
        </p:txBody>
      </p:sp>
      <p:sp>
        <p:nvSpPr>
          <p:cNvPr id="11" name="Text 9"/>
          <p:cNvSpPr/>
          <p:nvPr/>
        </p:nvSpPr>
        <p:spPr>
          <a:xfrm>
            <a:off x="3520440" y="1691640"/>
            <a:ext cx="2377440" cy="868680"/>
          </a:xfrm>
          <a:prstGeom prst="rect">
            <a:avLst/>
          </a:prstGeom>
          <a:noFill/>
          <a:ln/>
        </p:spPr>
        <p:txBody>
          <a:bodyPr wrap="square" lIns="0" tIns="0" rIns="0" bIns="0" rtlCol="0" anchor="ctr"/>
          <a:lstStyle/>
          <a:p>
            <a:pPr marL="0" indent="0" algn="ctr">
              <a:buNone/>
            </a:pPr>
            <a:r>
              <a:rPr lang="en-US" sz="5600" b="1" dirty="0">
                <a:solidFill>
                  <a:srgbClr val="FFFFFF"/>
                </a:solidFill>
                <a:latin typeface="Georgia" pitchFamily="34" charset="0"/>
                <a:ea typeface="Georgia" pitchFamily="34" charset="-122"/>
                <a:cs typeface="Georgia" pitchFamily="34" charset="-120"/>
              </a:rPr>
              <a:t>2</a:t>
            </a:r>
            <a:endParaRPr lang="en-US" sz="5600" dirty="0"/>
          </a:p>
        </p:txBody>
      </p:sp>
      <p:sp>
        <p:nvSpPr>
          <p:cNvPr id="12" name="Text 10"/>
          <p:cNvSpPr/>
          <p:nvPr/>
        </p:nvSpPr>
        <p:spPr>
          <a:xfrm>
            <a:off x="3520440" y="2606040"/>
            <a:ext cx="2377440" cy="411480"/>
          </a:xfrm>
          <a:prstGeom prst="rect">
            <a:avLst/>
          </a:prstGeom>
          <a:noFill/>
          <a:ln/>
        </p:spPr>
        <p:txBody>
          <a:bodyPr wrap="square" lIns="0" tIns="0" rIns="0" bIns="0" rtlCol="0" anchor="ctr"/>
          <a:lstStyle/>
          <a:p>
            <a:pPr marL="0" indent="0" algn="ctr">
              <a:buNone/>
            </a:pPr>
            <a:r>
              <a:rPr lang="en-US" sz="1200" kern="0" spc="200" dirty="0">
                <a:solidFill>
                  <a:srgbClr val="CADCFC"/>
                </a:solidFill>
                <a:latin typeface="Calibri" pitchFamily="34" charset="0"/>
                <a:ea typeface="Calibri" pitchFamily="34" charset="-122"/>
                <a:cs typeface="Calibri" pitchFamily="34" charset="-120"/>
              </a:rPr>
              <a:t>LLM provider backends</a:t>
            </a:r>
            <a:endParaRPr lang="en-US" sz="1200" dirty="0"/>
          </a:p>
        </p:txBody>
      </p:sp>
      <p:sp>
        <p:nvSpPr>
          <p:cNvPr id="13" name="Shape 11"/>
          <p:cNvSpPr/>
          <p:nvPr/>
        </p:nvSpPr>
        <p:spPr>
          <a:xfrm>
            <a:off x="6492240" y="1645920"/>
            <a:ext cx="2377440" cy="1463040"/>
          </a:xfrm>
          <a:prstGeom prst="rect">
            <a:avLst/>
          </a:prstGeom>
          <a:solidFill>
            <a:srgbClr val="1E2761"/>
          </a:solidFill>
          <a:ln/>
        </p:spPr>
        <p:txBody>
          <a:bodyPr/>
          <a:lstStyle/>
          <a:p>
            <a:endParaRPr lang="en-US"/>
          </a:p>
        </p:txBody>
      </p:sp>
      <p:sp>
        <p:nvSpPr>
          <p:cNvPr id="14" name="Shape 12"/>
          <p:cNvSpPr/>
          <p:nvPr/>
        </p:nvSpPr>
        <p:spPr>
          <a:xfrm>
            <a:off x="6492240" y="1645920"/>
            <a:ext cx="2377440" cy="54864"/>
          </a:xfrm>
          <a:prstGeom prst="rect">
            <a:avLst/>
          </a:prstGeom>
          <a:solidFill>
            <a:srgbClr val="F4B942"/>
          </a:solidFill>
          <a:ln/>
        </p:spPr>
        <p:txBody>
          <a:bodyPr/>
          <a:lstStyle/>
          <a:p>
            <a:endParaRPr lang="en-US"/>
          </a:p>
        </p:txBody>
      </p:sp>
      <p:sp>
        <p:nvSpPr>
          <p:cNvPr id="15" name="Text 13"/>
          <p:cNvSpPr/>
          <p:nvPr/>
        </p:nvSpPr>
        <p:spPr>
          <a:xfrm>
            <a:off x="6492240" y="1691640"/>
            <a:ext cx="2377440" cy="868680"/>
          </a:xfrm>
          <a:prstGeom prst="rect">
            <a:avLst/>
          </a:prstGeom>
          <a:noFill/>
          <a:ln/>
        </p:spPr>
        <p:txBody>
          <a:bodyPr wrap="square" lIns="0" tIns="0" rIns="0" bIns="0" rtlCol="0" anchor="ctr"/>
          <a:lstStyle/>
          <a:p>
            <a:pPr marL="0" indent="0" algn="ctr">
              <a:buNone/>
            </a:pPr>
            <a:r>
              <a:rPr lang="en-US" sz="5600" b="1" dirty="0">
                <a:solidFill>
                  <a:srgbClr val="FFFFFF"/>
                </a:solidFill>
                <a:latin typeface="Georgia" pitchFamily="34" charset="0"/>
                <a:ea typeface="Georgia" pitchFamily="34" charset="-122"/>
                <a:cs typeface="Georgia" pitchFamily="34" charset="-120"/>
              </a:rPr>
              <a:t>0$</a:t>
            </a:r>
            <a:endParaRPr lang="en-US" sz="5600" dirty="0"/>
          </a:p>
        </p:txBody>
      </p:sp>
      <p:sp>
        <p:nvSpPr>
          <p:cNvPr id="16" name="Text 14"/>
          <p:cNvSpPr/>
          <p:nvPr/>
        </p:nvSpPr>
        <p:spPr>
          <a:xfrm>
            <a:off x="6492240" y="2606040"/>
            <a:ext cx="2377440" cy="411480"/>
          </a:xfrm>
          <a:prstGeom prst="rect">
            <a:avLst/>
          </a:prstGeom>
          <a:noFill/>
          <a:ln/>
        </p:spPr>
        <p:txBody>
          <a:bodyPr wrap="square" lIns="0" tIns="0" rIns="0" bIns="0" rtlCol="0" anchor="ctr"/>
          <a:lstStyle/>
          <a:p>
            <a:pPr marL="0" indent="0" algn="ctr">
              <a:buNone/>
            </a:pPr>
            <a:r>
              <a:rPr lang="en-US" sz="1200" kern="0" spc="200" dirty="0">
                <a:solidFill>
                  <a:srgbClr val="CADCFC"/>
                </a:solidFill>
                <a:latin typeface="Calibri" pitchFamily="34" charset="0"/>
                <a:ea typeface="Calibri" pitchFamily="34" charset="-122"/>
                <a:cs typeface="Calibri" pitchFamily="34" charset="-120"/>
              </a:rPr>
              <a:t>Zero-cost demo mode</a:t>
            </a:r>
            <a:endParaRPr lang="en-US" sz="1200" dirty="0"/>
          </a:p>
        </p:txBody>
      </p:sp>
      <p:sp>
        <p:nvSpPr>
          <p:cNvPr id="17" name="Shape 15"/>
          <p:cNvSpPr/>
          <p:nvPr/>
        </p:nvSpPr>
        <p:spPr>
          <a:xfrm>
            <a:off x="9464040" y="1645920"/>
            <a:ext cx="2377440" cy="1463040"/>
          </a:xfrm>
          <a:prstGeom prst="rect">
            <a:avLst/>
          </a:prstGeom>
          <a:solidFill>
            <a:srgbClr val="1E2761"/>
          </a:solidFill>
          <a:ln/>
        </p:spPr>
        <p:txBody>
          <a:bodyPr/>
          <a:lstStyle/>
          <a:p>
            <a:endParaRPr lang="en-US"/>
          </a:p>
        </p:txBody>
      </p:sp>
      <p:sp>
        <p:nvSpPr>
          <p:cNvPr id="18" name="Shape 16"/>
          <p:cNvSpPr/>
          <p:nvPr/>
        </p:nvSpPr>
        <p:spPr>
          <a:xfrm>
            <a:off x="9464040" y="1645920"/>
            <a:ext cx="2377440" cy="54864"/>
          </a:xfrm>
          <a:prstGeom prst="rect">
            <a:avLst/>
          </a:prstGeom>
          <a:solidFill>
            <a:srgbClr val="F4B942"/>
          </a:solidFill>
          <a:ln/>
        </p:spPr>
        <p:txBody>
          <a:bodyPr/>
          <a:lstStyle/>
          <a:p>
            <a:endParaRPr lang="en-US"/>
          </a:p>
        </p:txBody>
      </p:sp>
      <p:sp>
        <p:nvSpPr>
          <p:cNvPr id="19" name="Text 17"/>
          <p:cNvSpPr/>
          <p:nvPr/>
        </p:nvSpPr>
        <p:spPr>
          <a:xfrm>
            <a:off x="9464040" y="1691640"/>
            <a:ext cx="2377440" cy="868680"/>
          </a:xfrm>
          <a:prstGeom prst="rect">
            <a:avLst/>
          </a:prstGeom>
          <a:noFill/>
          <a:ln/>
        </p:spPr>
        <p:txBody>
          <a:bodyPr wrap="square" lIns="0" tIns="0" rIns="0" bIns="0" rtlCol="0" anchor="ctr"/>
          <a:lstStyle/>
          <a:p>
            <a:pPr marL="0" indent="0" algn="ctr">
              <a:buNone/>
            </a:pPr>
            <a:r>
              <a:rPr lang="en-US" sz="5600" b="1" dirty="0">
                <a:solidFill>
                  <a:srgbClr val="FFFFFF"/>
                </a:solidFill>
                <a:latin typeface="Georgia" pitchFamily="34" charset="0"/>
                <a:ea typeface="Georgia" pitchFamily="34" charset="-122"/>
                <a:cs typeface="Georgia" pitchFamily="34" charset="-120"/>
              </a:rPr>
              <a:t>5</a:t>
            </a:r>
            <a:endParaRPr lang="en-US" sz="5600" dirty="0"/>
          </a:p>
        </p:txBody>
      </p:sp>
      <p:sp>
        <p:nvSpPr>
          <p:cNvPr id="20" name="Text 18"/>
          <p:cNvSpPr/>
          <p:nvPr/>
        </p:nvSpPr>
        <p:spPr>
          <a:xfrm>
            <a:off x="9464040" y="2606040"/>
            <a:ext cx="2377440" cy="411480"/>
          </a:xfrm>
          <a:prstGeom prst="rect">
            <a:avLst/>
          </a:prstGeom>
          <a:noFill/>
          <a:ln/>
        </p:spPr>
        <p:txBody>
          <a:bodyPr wrap="square" lIns="0" tIns="0" rIns="0" bIns="0" rtlCol="0" anchor="ctr"/>
          <a:lstStyle/>
          <a:p>
            <a:pPr marL="0" indent="0" algn="ctr">
              <a:buNone/>
            </a:pPr>
            <a:r>
              <a:rPr lang="en-US" sz="1200" kern="0" spc="200" dirty="0">
                <a:solidFill>
                  <a:srgbClr val="CADCFC"/>
                </a:solidFill>
                <a:latin typeface="Calibri" pitchFamily="34" charset="0"/>
                <a:ea typeface="Calibri" pitchFamily="34" charset="-122"/>
                <a:cs typeface="Calibri" pitchFamily="34" charset="-120"/>
              </a:rPr>
              <a:t>User roles supported</a:t>
            </a:r>
            <a:endParaRPr lang="en-US" sz="1200" dirty="0"/>
          </a:p>
        </p:txBody>
      </p:sp>
      <p:sp>
        <p:nvSpPr>
          <p:cNvPr id="21" name="Shape 19"/>
          <p:cNvSpPr/>
          <p:nvPr/>
        </p:nvSpPr>
        <p:spPr>
          <a:xfrm>
            <a:off x="548640" y="3657600"/>
            <a:ext cx="3520440" cy="2377440"/>
          </a:xfrm>
          <a:prstGeom prst="rect">
            <a:avLst/>
          </a:prstGeom>
          <a:solidFill>
            <a:srgbClr val="F7F8FB"/>
          </a:solidFill>
          <a:ln w="12700">
            <a:solidFill>
              <a:srgbClr val="E2E5EE"/>
            </a:solidFill>
            <a:prstDash val="solid"/>
          </a:ln>
        </p:spPr>
        <p:txBody>
          <a:bodyPr/>
          <a:lstStyle/>
          <a:p>
            <a:endParaRPr lang="en-US"/>
          </a:p>
        </p:txBody>
      </p:sp>
      <p:sp>
        <p:nvSpPr>
          <p:cNvPr id="22" name="Shape 20"/>
          <p:cNvSpPr/>
          <p:nvPr/>
        </p:nvSpPr>
        <p:spPr>
          <a:xfrm>
            <a:off x="777240" y="3886200"/>
            <a:ext cx="594360" cy="594360"/>
          </a:xfrm>
          <a:prstGeom prst="ellipse">
            <a:avLst/>
          </a:prstGeom>
          <a:solidFill>
            <a:srgbClr val="1E2761"/>
          </a:solidFill>
          <a:ln/>
        </p:spPr>
        <p:txBody>
          <a:bodyPr/>
          <a:lstStyle/>
          <a:p>
            <a:endParaRPr lang="en-US"/>
          </a:p>
        </p:txBody>
      </p:sp>
      <p:pic>
        <p:nvPicPr>
          <p:cNvPr id="23" name="Image 0" descr="preencoded.png"/>
          <p:cNvPicPr>
            <a:picLocks noChangeAspect="1"/>
          </p:cNvPicPr>
          <p:nvPr/>
        </p:nvPicPr>
        <p:blipFill>
          <a:blip r:embed="rId3"/>
          <a:stretch>
            <a:fillRect/>
          </a:stretch>
        </p:blipFill>
        <p:spPr>
          <a:xfrm>
            <a:off x="896112" y="4005072"/>
            <a:ext cx="365760" cy="365760"/>
          </a:xfrm>
          <a:prstGeom prst="rect">
            <a:avLst/>
          </a:prstGeom>
        </p:spPr>
      </p:pic>
      <p:sp>
        <p:nvSpPr>
          <p:cNvPr id="24" name="Text 21"/>
          <p:cNvSpPr/>
          <p:nvPr/>
        </p:nvSpPr>
        <p:spPr>
          <a:xfrm>
            <a:off x="1508760" y="3904488"/>
            <a:ext cx="2468880" cy="50292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Generation</a:t>
            </a:r>
            <a:endParaRPr lang="en-US" sz="1800" dirty="0"/>
          </a:p>
        </p:txBody>
      </p:sp>
      <p:sp>
        <p:nvSpPr>
          <p:cNvPr id="25" name="Text 22"/>
          <p:cNvSpPr/>
          <p:nvPr/>
        </p:nvSpPr>
        <p:spPr>
          <a:xfrm>
            <a:off x="777240" y="4617720"/>
            <a:ext cx="3108960" cy="132588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LLMs read an abstract and emit structured prose: review drafts, polished text, alternative titles.</a:t>
            </a:r>
            <a:endParaRPr lang="en-US" sz="1300" dirty="0"/>
          </a:p>
        </p:txBody>
      </p:sp>
      <p:sp>
        <p:nvSpPr>
          <p:cNvPr id="26" name="Shape 23"/>
          <p:cNvSpPr/>
          <p:nvPr/>
        </p:nvSpPr>
        <p:spPr>
          <a:xfrm>
            <a:off x="4526280" y="3657600"/>
            <a:ext cx="3520440" cy="2377440"/>
          </a:xfrm>
          <a:prstGeom prst="rect">
            <a:avLst/>
          </a:prstGeom>
          <a:solidFill>
            <a:srgbClr val="F7F8FB"/>
          </a:solidFill>
          <a:ln w="12700">
            <a:solidFill>
              <a:srgbClr val="E2E5EE"/>
            </a:solidFill>
            <a:prstDash val="solid"/>
          </a:ln>
        </p:spPr>
        <p:txBody>
          <a:bodyPr/>
          <a:lstStyle/>
          <a:p>
            <a:endParaRPr lang="en-US"/>
          </a:p>
        </p:txBody>
      </p:sp>
      <p:sp>
        <p:nvSpPr>
          <p:cNvPr id="27" name="Shape 24"/>
          <p:cNvSpPr/>
          <p:nvPr/>
        </p:nvSpPr>
        <p:spPr>
          <a:xfrm>
            <a:off x="4754880" y="3886200"/>
            <a:ext cx="594360" cy="594360"/>
          </a:xfrm>
          <a:prstGeom prst="ellipse">
            <a:avLst/>
          </a:prstGeom>
          <a:solidFill>
            <a:srgbClr val="1E2761"/>
          </a:solidFill>
          <a:ln/>
        </p:spPr>
        <p:txBody>
          <a:bodyPr/>
          <a:lstStyle/>
          <a:p>
            <a:endParaRPr lang="en-US"/>
          </a:p>
        </p:txBody>
      </p:sp>
      <p:pic>
        <p:nvPicPr>
          <p:cNvPr id="28" name="Image 1" descr="preencoded.png"/>
          <p:cNvPicPr>
            <a:picLocks noChangeAspect="1"/>
          </p:cNvPicPr>
          <p:nvPr/>
        </p:nvPicPr>
        <p:blipFill>
          <a:blip r:embed="rId4"/>
          <a:stretch>
            <a:fillRect/>
          </a:stretch>
        </p:blipFill>
        <p:spPr>
          <a:xfrm>
            <a:off x="4873752" y="4005072"/>
            <a:ext cx="365760" cy="365760"/>
          </a:xfrm>
          <a:prstGeom prst="rect">
            <a:avLst/>
          </a:prstGeom>
        </p:spPr>
      </p:pic>
      <p:sp>
        <p:nvSpPr>
          <p:cNvPr id="29" name="Text 25"/>
          <p:cNvSpPr/>
          <p:nvPr/>
        </p:nvSpPr>
        <p:spPr>
          <a:xfrm>
            <a:off x="5486400" y="3904488"/>
            <a:ext cx="2468880" cy="50292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Retrieval</a:t>
            </a:r>
            <a:endParaRPr lang="en-US" sz="1800" dirty="0"/>
          </a:p>
        </p:txBody>
      </p:sp>
      <p:sp>
        <p:nvSpPr>
          <p:cNvPr id="30" name="Text 26"/>
          <p:cNvSpPr/>
          <p:nvPr/>
        </p:nvSpPr>
        <p:spPr>
          <a:xfrm>
            <a:off x="4754880" y="4617720"/>
            <a:ext cx="3108960" cy="132588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Embeddings turn text into vectors — reviewer matching and plagiarism become numeric distance problems.</a:t>
            </a:r>
            <a:endParaRPr lang="en-US" sz="1300" dirty="0"/>
          </a:p>
        </p:txBody>
      </p:sp>
      <p:sp>
        <p:nvSpPr>
          <p:cNvPr id="31" name="Shape 27"/>
          <p:cNvSpPr/>
          <p:nvPr/>
        </p:nvSpPr>
        <p:spPr>
          <a:xfrm>
            <a:off x="8503920" y="3657600"/>
            <a:ext cx="3520440" cy="2377440"/>
          </a:xfrm>
          <a:prstGeom prst="rect">
            <a:avLst/>
          </a:prstGeom>
          <a:solidFill>
            <a:srgbClr val="F7F8FB"/>
          </a:solidFill>
          <a:ln w="12700">
            <a:solidFill>
              <a:srgbClr val="E2E5EE"/>
            </a:solidFill>
            <a:prstDash val="solid"/>
          </a:ln>
        </p:spPr>
        <p:txBody>
          <a:bodyPr/>
          <a:lstStyle/>
          <a:p>
            <a:endParaRPr lang="en-US"/>
          </a:p>
        </p:txBody>
      </p:sp>
      <p:sp>
        <p:nvSpPr>
          <p:cNvPr id="32" name="Shape 28"/>
          <p:cNvSpPr/>
          <p:nvPr/>
        </p:nvSpPr>
        <p:spPr>
          <a:xfrm>
            <a:off x="8732520" y="3886200"/>
            <a:ext cx="594360" cy="594360"/>
          </a:xfrm>
          <a:prstGeom prst="ellipse">
            <a:avLst/>
          </a:prstGeom>
          <a:solidFill>
            <a:srgbClr val="1E2761"/>
          </a:solidFill>
          <a:ln/>
        </p:spPr>
        <p:txBody>
          <a:bodyPr/>
          <a:lstStyle/>
          <a:p>
            <a:endParaRPr lang="en-US"/>
          </a:p>
        </p:txBody>
      </p:sp>
      <p:pic>
        <p:nvPicPr>
          <p:cNvPr id="33" name="Image 2" descr="preencoded.png"/>
          <p:cNvPicPr>
            <a:picLocks noChangeAspect="1"/>
          </p:cNvPicPr>
          <p:nvPr/>
        </p:nvPicPr>
        <p:blipFill>
          <a:blip r:embed="rId5"/>
          <a:stretch>
            <a:fillRect/>
          </a:stretch>
        </p:blipFill>
        <p:spPr>
          <a:xfrm>
            <a:off x="8851392" y="4005072"/>
            <a:ext cx="365760" cy="365760"/>
          </a:xfrm>
          <a:prstGeom prst="rect">
            <a:avLst/>
          </a:prstGeom>
        </p:spPr>
      </p:pic>
      <p:sp>
        <p:nvSpPr>
          <p:cNvPr id="34" name="Text 29"/>
          <p:cNvSpPr/>
          <p:nvPr/>
        </p:nvSpPr>
        <p:spPr>
          <a:xfrm>
            <a:off x="9464040" y="3904488"/>
            <a:ext cx="2468880" cy="50292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Decision support</a:t>
            </a:r>
            <a:endParaRPr lang="en-US" sz="1800" dirty="0"/>
          </a:p>
        </p:txBody>
      </p:sp>
      <p:sp>
        <p:nvSpPr>
          <p:cNvPr id="35" name="Text 30"/>
          <p:cNvSpPr/>
          <p:nvPr/>
        </p:nvSpPr>
        <p:spPr>
          <a:xfrm>
            <a:off x="8732520" y="4617720"/>
            <a:ext cx="3108960" cy="132588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AI never decides. It surfaces signals; humans accept, override, and stay accountable.</a:t>
            </a:r>
            <a:endParaRPr lang="en-US" sz="1300" dirty="0"/>
          </a:p>
        </p:txBody>
      </p:sp>
      <p:sp>
        <p:nvSpPr>
          <p:cNvPr id="36" name="Text 31"/>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37" name="Text 32"/>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10972800" cy="640080"/>
          </a:xfrm>
          <a:prstGeom prst="rect">
            <a:avLst/>
          </a:prstGeom>
          <a:noFill/>
          <a:ln/>
        </p:spPr>
        <p:txBody>
          <a:bodyPr wrap="square" lIns="0" tIns="0" rIns="0" bIns="0" rtlCol="0" anchor="ctr"/>
          <a:lstStyle/>
          <a:p>
            <a:pPr marL="0" indent="0">
              <a:buNone/>
            </a:pPr>
            <a:r>
              <a:rPr lang="en-US" sz="3200" b="1" dirty="0">
                <a:solidFill>
                  <a:srgbClr val="0F1538"/>
                </a:solidFill>
                <a:latin typeface="Georgia" pitchFamily="34" charset="0"/>
                <a:ea typeface="Georgia" pitchFamily="34" charset="-122"/>
                <a:cs typeface="Georgia" pitchFamily="34" charset="-120"/>
              </a:rPr>
              <a:t>Four planned GenAI features</a:t>
            </a:r>
            <a:endParaRPr lang="en-US" sz="3200" dirty="0"/>
          </a:p>
        </p:txBody>
      </p:sp>
      <p:sp>
        <p:nvSpPr>
          <p:cNvPr id="4" name="Text 2"/>
          <p:cNvSpPr/>
          <p:nvPr/>
        </p:nvSpPr>
        <p:spPr>
          <a:xfrm>
            <a:off x="548640" y="960120"/>
            <a:ext cx="10972800" cy="365760"/>
          </a:xfrm>
          <a:prstGeom prst="rect">
            <a:avLst/>
          </a:prstGeom>
          <a:noFill/>
          <a:ln/>
        </p:spPr>
        <p:txBody>
          <a:bodyPr wrap="square" lIns="0" tIns="0" rIns="0" bIns="0" rtlCol="0" anchor="ctr"/>
          <a:lstStyle/>
          <a:p>
            <a:pPr marL="0" indent="0">
              <a:buNone/>
            </a:pPr>
            <a:r>
              <a:rPr lang="en-US" sz="1400" i="1" dirty="0">
                <a:solidFill>
                  <a:srgbClr val="5C6488"/>
                </a:solidFill>
                <a:latin typeface="Calibri" pitchFamily="34" charset="0"/>
                <a:ea typeface="Calibri" pitchFamily="34" charset="-122"/>
                <a:cs typeface="Calibri" pitchFamily="34" charset="-120"/>
              </a:rPr>
              <a:t>Each addresses a specific weakness from the audit</a:t>
            </a:r>
            <a:endParaRPr lang="en-US" sz="1400" dirty="0"/>
          </a:p>
        </p:txBody>
      </p:sp>
      <p:sp>
        <p:nvSpPr>
          <p:cNvPr id="5" name="Shape 3"/>
          <p:cNvSpPr/>
          <p:nvPr/>
        </p:nvSpPr>
        <p:spPr>
          <a:xfrm>
            <a:off x="548640" y="1645920"/>
            <a:ext cx="5486400" cy="2148840"/>
          </a:xfrm>
          <a:prstGeom prst="rect">
            <a:avLst/>
          </a:prstGeom>
          <a:solidFill>
            <a:srgbClr val="F7F8FB"/>
          </a:solidFill>
          <a:ln w="12700">
            <a:solidFill>
              <a:srgbClr val="E2E5EE"/>
            </a:solidFill>
            <a:prstDash val="solid"/>
          </a:ln>
        </p:spPr>
        <p:txBody>
          <a:bodyPr/>
          <a:lstStyle/>
          <a:p>
            <a:endParaRPr lang="en-US"/>
          </a:p>
        </p:txBody>
      </p:sp>
      <p:sp>
        <p:nvSpPr>
          <p:cNvPr id="6" name="Shape 4"/>
          <p:cNvSpPr/>
          <p:nvPr/>
        </p:nvSpPr>
        <p:spPr>
          <a:xfrm>
            <a:off x="548640" y="1645920"/>
            <a:ext cx="73152" cy="2148840"/>
          </a:xfrm>
          <a:prstGeom prst="rect">
            <a:avLst/>
          </a:prstGeom>
          <a:solidFill>
            <a:srgbClr val="1E2761"/>
          </a:solidFill>
          <a:ln/>
        </p:spPr>
        <p:txBody>
          <a:bodyPr/>
          <a:lstStyle/>
          <a:p>
            <a:endParaRPr lang="en-US"/>
          </a:p>
        </p:txBody>
      </p:sp>
      <p:sp>
        <p:nvSpPr>
          <p:cNvPr id="7" name="Shape 5"/>
          <p:cNvSpPr/>
          <p:nvPr/>
        </p:nvSpPr>
        <p:spPr>
          <a:xfrm>
            <a:off x="868680" y="1965960"/>
            <a:ext cx="640080" cy="640080"/>
          </a:xfrm>
          <a:prstGeom prst="ellipse">
            <a:avLst/>
          </a:prstGeom>
          <a:solidFill>
            <a:srgbClr val="1E2761"/>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996696" y="2093976"/>
            <a:ext cx="384048" cy="384048"/>
          </a:xfrm>
          <a:prstGeom prst="rect">
            <a:avLst/>
          </a:prstGeom>
        </p:spPr>
      </p:pic>
      <p:sp>
        <p:nvSpPr>
          <p:cNvPr id="9" name="Text 6"/>
          <p:cNvSpPr/>
          <p:nvPr/>
        </p:nvSpPr>
        <p:spPr>
          <a:xfrm>
            <a:off x="1691640" y="1920240"/>
            <a:ext cx="3657600" cy="45720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Author writing assistant</a:t>
            </a:r>
            <a:endParaRPr lang="en-US" sz="1700" dirty="0"/>
          </a:p>
        </p:txBody>
      </p:sp>
      <p:sp>
        <p:nvSpPr>
          <p:cNvPr id="10" name="Shape 7"/>
          <p:cNvSpPr/>
          <p:nvPr/>
        </p:nvSpPr>
        <p:spPr>
          <a:xfrm>
            <a:off x="4983480" y="2011680"/>
            <a:ext cx="868680" cy="320040"/>
          </a:xfrm>
          <a:prstGeom prst="rect">
            <a:avLst/>
          </a:prstGeom>
          <a:solidFill>
            <a:srgbClr val="CADCFC"/>
          </a:solidFill>
          <a:ln/>
        </p:spPr>
        <p:txBody>
          <a:bodyPr/>
          <a:lstStyle/>
          <a:p>
            <a:endParaRPr lang="en-US"/>
          </a:p>
        </p:txBody>
      </p:sp>
      <p:sp>
        <p:nvSpPr>
          <p:cNvPr id="11" name="Text 8"/>
          <p:cNvSpPr/>
          <p:nvPr/>
        </p:nvSpPr>
        <p:spPr>
          <a:xfrm>
            <a:off x="4983480" y="2011680"/>
            <a:ext cx="868680" cy="320040"/>
          </a:xfrm>
          <a:prstGeom prst="rect">
            <a:avLst/>
          </a:prstGeom>
          <a:noFill/>
          <a:ln/>
        </p:spPr>
        <p:txBody>
          <a:bodyPr wrap="square" lIns="0" tIns="0" rIns="0" bIns="0" rtlCol="0" anchor="ctr"/>
          <a:lstStyle/>
          <a:p>
            <a:pPr marL="0" indent="0" algn="ctr">
              <a:buNone/>
            </a:pPr>
            <a:r>
              <a:rPr lang="en-US" sz="1000" b="1" kern="0" spc="200" dirty="0">
                <a:solidFill>
                  <a:srgbClr val="1E2761"/>
                </a:solidFill>
                <a:latin typeface="Calibri" pitchFamily="34" charset="0"/>
                <a:ea typeface="Calibri" pitchFamily="34" charset="-122"/>
                <a:cs typeface="Calibri" pitchFamily="34" charset="-120"/>
              </a:rPr>
              <a:t>LLM</a:t>
            </a:r>
            <a:endParaRPr lang="en-US" sz="1000" dirty="0"/>
          </a:p>
        </p:txBody>
      </p:sp>
      <p:sp>
        <p:nvSpPr>
          <p:cNvPr id="12" name="Text 9"/>
          <p:cNvSpPr/>
          <p:nvPr/>
        </p:nvSpPr>
        <p:spPr>
          <a:xfrm>
            <a:off x="868680" y="2697480"/>
            <a:ext cx="4937760" cy="100584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Polishes the abstract, suggests alternative titles, extracts keywords on demand. Author edits and accepts.</a:t>
            </a:r>
            <a:endParaRPr lang="en-US" sz="1300" dirty="0"/>
          </a:p>
        </p:txBody>
      </p:sp>
      <p:sp>
        <p:nvSpPr>
          <p:cNvPr id="13" name="Shape 10"/>
          <p:cNvSpPr/>
          <p:nvPr/>
        </p:nvSpPr>
        <p:spPr>
          <a:xfrm>
            <a:off x="6199632" y="1645920"/>
            <a:ext cx="5486400" cy="2148840"/>
          </a:xfrm>
          <a:prstGeom prst="rect">
            <a:avLst/>
          </a:prstGeom>
          <a:solidFill>
            <a:srgbClr val="F7F8FB"/>
          </a:solidFill>
          <a:ln w="12700">
            <a:solidFill>
              <a:srgbClr val="E2E5EE"/>
            </a:solidFill>
            <a:prstDash val="solid"/>
          </a:ln>
        </p:spPr>
        <p:txBody>
          <a:bodyPr/>
          <a:lstStyle/>
          <a:p>
            <a:endParaRPr lang="en-US"/>
          </a:p>
        </p:txBody>
      </p:sp>
      <p:sp>
        <p:nvSpPr>
          <p:cNvPr id="14" name="Shape 11"/>
          <p:cNvSpPr/>
          <p:nvPr/>
        </p:nvSpPr>
        <p:spPr>
          <a:xfrm>
            <a:off x="6199632" y="1645920"/>
            <a:ext cx="73152" cy="2148840"/>
          </a:xfrm>
          <a:prstGeom prst="rect">
            <a:avLst/>
          </a:prstGeom>
          <a:solidFill>
            <a:srgbClr val="1E2761"/>
          </a:solidFill>
          <a:ln/>
        </p:spPr>
        <p:txBody>
          <a:bodyPr/>
          <a:lstStyle/>
          <a:p>
            <a:endParaRPr lang="en-US"/>
          </a:p>
        </p:txBody>
      </p:sp>
      <p:sp>
        <p:nvSpPr>
          <p:cNvPr id="15" name="Shape 12"/>
          <p:cNvSpPr/>
          <p:nvPr/>
        </p:nvSpPr>
        <p:spPr>
          <a:xfrm>
            <a:off x="6519672" y="1965960"/>
            <a:ext cx="640080" cy="640080"/>
          </a:xfrm>
          <a:prstGeom prst="ellipse">
            <a:avLst/>
          </a:prstGeom>
          <a:solidFill>
            <a:srgbClr val="1E2761"/>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6647688" y="2093976"/>
            <a:ext cx="384048" cy="384048"/>
          </a:xfrm>
          <a:prstGeom prst="rect">
            <a:avLst/>
          </a:prstGeom>
        </p:spPr>
      </p:pic>
      <p:sp>
        <p:nvSpPr>
          <p:cNvPr id="17" name="Text 13"/>
          <p:cNvSpPr/>
          <p:nvPr/>
        </p:nvSpPr>
        <p:spPr>
          <a:xfrm>
            <a:off x="7342632" y="1920240"/>
            <a:ext cx="3657600" cy="45720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Smart reviewer matching</a:t>
            </a:r>
            <a:endParaRPr lang="en-US" sz="1700" dirty="0"/>
          </a:p>
        </p:txBody>
      </p:sp>
      <p:sp>
        <p:nvSpPr>
          <p:cNvPr id="18" name="Shape 14"/>
          <p:cNvSpPr/>
          <p:nvPr/>
        </p:nvSpPr>
        <p:spPr>
          <a:xfrm>
            <a:off x="10634472" y="2011680"/>
            <a:ext cx="868680" cy="320040"/>
          </a:xfrm>
          <a:prstGeom prst="rect">
            <a:avLst/>
          </a:prstGeom>
          <a:solidFill>
            <a:srgbClr val="CADCFC"/>
          </a:solidFill>
          <a:ln/>
        </p:spPr>
        <p:txBody>
          <a:bodyPr/>
          <a:lstStyle/>
          <a:p>
            <a:endParaRPr lang="en-US"/>
          </a:p>
        </p:txBody>
      </p:sp>
      <p:sp>
        <p:nvSpPr>
          <p:cNvPr id="19" name="Text 15"/>
          <p:cNvSpPr/>
          <p:nvPr/>
        </p:nvSpPr>
        <p:spPr>
          <a:xfrm>
            <a:off x="10634472" y="2011680"/>
            <a:ext cx="868680" cy="320040"/>
          </a:xfrm>
          <a:prstGeom prst="rect">
            <a:avLst/>
          </a:prstGeom>
          <a:noFill/>
          <a:ln/>
        </p:spPr>
        <p:txBody>
          <a:bodyPr wrap="square" lIns="0" tIns="0" rIns="0" bIns="0" rtlCol="0" anchor="ctr"/>
          <a:lstStyle/>
          <a:p>
            <a:pPr marL="0" indent="0" algn="ctr">
              <a:buNone/>
            </a:pPr>
            <a:r>
              <a:rPr lang="en-US" sz="1000" b="1" kern="0" spc="200" dirty="0">
                <a:solidFill>
                  <a:srgbClr val="1E2761"/>
                </a:solidFill>
                <a:latin typeface="Calibri" pitchFamily="34" charset="0"/>
                <a:ea typeface="Calibri" pitchFamily="34" charset="-122"/>
                <a:cs typeface="Calibri" pitchFamily="34" charset="-120"/>
              </a:rPr>
              <a:t>Embeddings</a:t>
            </a:r>
            <a:endParaRPr lang="en-US" sz="1000" dirty="0"/>
          </a:p>
        </p:txBody>
      </p:sp>
      <p:sp>
        <p:nvSpPr>
          <p:cNvPr id="20" name="Text 16"/>
          <p:cNvSpPr/>
          <p:nvPr/>
        </p:nvSpPr>
        <p:spPr>
          <a:xfrm>
            <a:off x="6519672" y="2697480"/>
            <a:ext cx="4937760" cy="100584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Cosine similarity over reviewer expertise tags. Editor sees a top-3 ranked list with scores and can override.</a:t>
            </a:r>
            <a:endParaRPr lang="en-US" sz="1300" dirty="0"/>
          </a:p>
        </p:txBody>
      </p:sp>
      <p:sp>
        <p:nvSpPr>
          <p:cNvPr id="21" name="Shape 17"/>
          <p:cNvSpPr/>
          <p:nvPr/>
        </p:nvSpPr>
        <p:spPr>
          <a:xfrm>
            <a:off x="548640" y="3977640"/>
            <a:ext cx="5486400" cy="2148840"/>
          </a:xfrm>
          <a:prstGeom prst="rect">
            <a:avLst/>
          </a:prstGeom>
          <a:solidFill>
            <a:srgbClr val="F7F8FB"/>
          </a:solidFill>
          <a:ln w="12700">
            <a:solidFill>
              <a:srgbClr val="E2E5EE"/>
            </a:solidFill>
            <a:prstDash val="solid"/>
          </a:ln>
        </p:spPr>
        <p:txBody>
          <a:bodyPr/>
          <a:lstStyle/>
          <a:p>
            <a:endParaRPr lang="en-US"/>
          </a:p>
        </p:txBody>
      </p:sp>
      <p:sp>
        <p:nvSpPr>
          <p:cNvPr id="22" name="Shape 18"/>
          <p:cNvSpPr/>
          <p:nvPr/>
        </p:nvSpPr>
        <p:spPr>
          <a:xfrm>
            <a:off x="548640" y="3977640"/>
            <a:ext cx="73152" cy="2148840"/>
          </a:xfrm>
          <a:prstGeom prst="rect">
            <a:avLst/>
          </a:prstGeom>
          <a:solidFill>
            <a:srgbClr val="1E2761"/>
          </a:solidFill>
          <a:ln/>
        </p:spPr>
        <p:txBody>
          <a:bodyPr/>
          <a:lstStyle/>
          <a:p>
            <a:endParaRPr lang="en-US"/>
          </a:p>
        </p:txBody>
      </p:sp>
      <p:sp>
        <p:nvSpPr>
          <p:cNvPr id="23" name="Shape 19"/>
          <p:cNvSpPr/>
          <p:nvPr/>
        </p:nvSpPr>
        <p:spPr>
          <a:xfrm>
            <a:off x="868680" y="4297680"/>
            <a:ext cx="640080" cy="640080"/>
          </a:xfrm>
          <a:prstGeom prst="ellipse">
            <a:avLst/>
          </a:prstGeom>
          <a:solidFill>
            <a:srgbClr val="1E2761"/>
          </a:solidFill>
          <a:ln/>
        </p:spPr>
        <p:txBody>
          <a:bodyPr/>
          <a:lstStyle/>
          <a:p>
            <a:endParaRPr lang="en-US"/>
          </a:p>
        </p:txBody>
      </p:sp>
      <p:pic>
        <p:nvPicPr>
          <p:cNvPr id="24" name="Image 2" descr="preencoded.png"/>
          <p:cNvPicPr>
            <a:picLocks noChangeAspect="1"/>
          </p:cNvPicPr>
          <p:nvPr/>
        </p:nvPicPr>
        <p:blipFill>
          <a:blip r:embed="rId5"/>
          <a:stretch>
            <a:fillRect/>
          </a:stretch>
        </p:blipFill>
        <p:spPr>
          <a:xfrm>
            <a:off x="996696" y="4425696"/>
            <a:ext cx="384048" cy="384048"/>
          </a:xfrm>
          <a:prstGeom prst="rect">
            <a:avLst/>
          </a:prstGeom>
        </p:spPr>
      </p:pic>
      <p:sp>
        <p:nvSpPr>
          <p:cNvPr id="25" name="Text 20"/>
          <p:cNvSpPr/>
          <p:nvPr/>
        </p:nvSpPr>
        <p:spPr>
          <a:xfrm>
            <a:off x="1691640" y="4251960"/>
            <a:ext cx="3657600" cy="45720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Plagiarism + AI-text flag</a:t>
            </a:r>
            <a:endParaRPr lang="en-US" sz="1700" dirty="0"/>
          </a:p>
        </p:txBody>
      </p:sp>
      <p:sp>
        <p:nvSpPr>
          <p:cNvPr id="26" name="Shape 21"/>
          <p:cNvSpPr/>
          <p:nvPr/>
        </p:nvSpPr>
        <p:spPr>
          <a:xfrm>
            <a:off x="4983480" y="4343400"/>
            <a:ext cx="868680" cy="320040"/>
          </a:xfrm>
          <a:prstGeom prst="rect">
            <a:avLst/>
          </a:prstGeom>
          <a:solidFill>
            <a:srgbClr val="CADCFC"/>
          </a:solidFill>
          <a:ln/>
        </p:spPr>
        <p:txBody>
          <a:bodyPr/>
          <a:lstStyle/>
          <a:p>
            <a:endParaRPr lang="en-US"/>
          </a:p>
        </p:txBody>
      </p:sp>
      <p:sp>
        <p:nvSpPr>
          <p:cNvPr id="27" name="Text 22"/>
          <p:cNvSpPr/>
          <p:nvPr/>
        </p:nvSpPr>
        <p:spPr>
          <a:xfrm>
            <a:off x="4983480" y="4343400"/>
            <a:ext cx="868680" cy="320040"/>
          </a:xfrm>
          <a:prstGeom prst="rect">
            <a:avLst/>
          </a:prstGeom>
          <a:noFill/>
          <a:ln/>
        </p:spPr>
        <p:txBody>
          <a:bodyPr wrap="square" lIns="0" tIns="0" rIns="0" bIns="0" rtlCol="0" anchor="ctr"/>
          <a:lstStyle/>
          <a:p>
            <a:pPr marL="0" indent="0" algn="ctr">
              <a:buNone/>
            </a:pPr>
            <a:r>
              <a:rPr lang="en-US" sz="1000" b="1" kern="0" spc="200" dirty="0">
                <a:solidFill>
                  <a:srgbClr val="1E2761"/>
                </a:solidFill>
                <a:latin typeface="Calibri" pitchFamily="34" charset="0"/>
                <a:ea typeface="Calibri" pitchFamily="34" charset="-122"/>
                <a:cs typeface="Calibri" pitchFamily="34" charset="-120"/>
              </a:rPr>
              <a:t>Embeddings</a:t>
            </a:r>
            <a:endParaRPr lang="en-US" sz="1000" dirty="0"/>
          </a:p>
        </p:txBody>
      </p:sp>
      <p:sp>
        <p:nvSpPr>
          <p:cNvPr id="28" name="Text 23"/>
          <p:cNvSpPr/>
          <p:nvPr/>
        </p:nvSpPr>
        <p:spPr>
          <a:xfrm>
            <a:off x="868680" y="5029200"/>
            <a:ext cx="4937760" cy="100584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Max similarity to existing corpus + transparent stylometric AI-text score. Flag, never verdict.</a:t>
            </a:r>
            <a:endParaRPr lang="en-US" sz="1300" dirty="0"/>
          </a:p>
        </p:txBody>
      </p:sp>
      <p:sp>
        <p:nvSpPr>
          <p:cNvPr id="29" name="Shape 24"/>
          <p:cNvSpPr/>
          <p:nvPr/>
        </p:nvSpPr>
        <p:spPr>
          <a:xfrm>
            <a:off x="6199632" y="3977640"/>
            <a:ext cx="5486400" cy="2148840"/>
          </a:xfrm>
          <a:prstGeom prst="rect">
            <a:avLst/>
          </a:prstGeom>
          <a:solidFill>
            <a:srgbClr val="F7F8FB"/>
          </a:solidFill>
          <a:ln w="12700">
            <a:solidFill>
              <a:srgbClr val="E2E5EE"/>
            </a:solidFill>
            <a:prstDash val="solid"/>
          </a:ln>
        </p:spPr>
        <p:txBody>
          <a:bodyPr/>
          <a:lstStyle/>
          <a:p>
            <a:endParaRPr lang="en-US"/>
          </a:p>
        </p:txBody>
      </p:sp>
      <p:sp>
        <p:nvSpPr>
          <p:cNvPr id="30" name="Shape 25"/>
          <p:cNvSpPr/>
          <p:nvPr/>
        </p:nvSpPr>
        <p:spPr>
          <a:xfrm>
            <a:off x="6199632" y="3977640"/>
            <a:ext cx="73152" cy="2148840"/>
          </a:xfrm>
          <a:prstGeom prst="rect">
            <a:avLst/>
          </a:prstGeom>
          <a:solidFill>
            <a:srgbClr val="1E2761"/>
          </a:solidFill>
          <a:ln/>
        </p:spPr>
        <p:txBody>
          <a:bodyPr/>
          <a:lstStyle/>
          <a:p>
            <a:endParaRPr lang="en-US"/>
          </a:p>
        </p:txBody>
      </p:sp>
      <p:sp>
        <p:nvSpPr>
          <p:cNvPr id="31" name="Shape 26"/>
          <p:cNvSpPr/>
          <p:nvPr/>
        </p:nvSpPr>
        <p:spPr>
          <a:xfrm>
            <a:off x="6519672" y="4297680"/>
            <a:ext cx="640080" cy="640080"/>
          </a:xfrm>
          <a:prstGeom prst="ellipse">
            <a:avLst/>
          </a:prstGeom>
          <a:solidFill>
            <a:srgbClr val="1E2761"/>
          </a:solidFill>
          <a:ln/>
        </p:spPr>
        <p:txBody>
          <a:bodyPr/>
          <a:lstStyle/>
          <a:p>
            <a:endParaRPr lang="en-US"/>
          </a:p>
        </p:txBody>
      </p:sp>
      <p:pic>
        <p:nvPicPr>
          <p:cNvPr id="32" name="Image 3" descr="preencoded.png"/>
          <p:cNvPicPr>
            <a:picLocks noChangeAspect="1"/>
          </p:cNvPicPr>
          <p:nvPr/>
        </p:nvPicPr>
        <p:blipFill>
          <a:blip r:embed="rId6"/>
          <a:stretch>
            <a:fillRect/>
          </a:stretch>
        </p:blipFill>
        <p:spPr>
          <a:xfrm>
            <a:off x="6647688" y="4425696"/>
            <a:ext cx="384048" cy="384048"/>
          </a:xfrm>
          <a:prstGeom prst="rect">
            <a:avLst/>
          </a:prstGeom>
        </p:spPr>
      </p:pic>
      <p:sp>
        <p:nvSpPr>
          <p:cNvPr id="33" name="Text 27"/>
          <p:cNvSpPr/>
          <p:nvPr/>
        </p:nvSpPr>
        <p:spPr>
          <a:xfrm>
            <a:off x="7342632" y="4251960"/>
            <a:ext cx="3657600" cy="45720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AI reviewer assistant</a:t>
            </a:r>
            <a:endParaRPr lang="en-US" sz="1700" dirty="0"/>
          </a:p>
        </p:txBody>
      </p:sp>
      <p:sp>
        <p:nvSpPr>
          <p:cNvPr id="34" name="Shape 28"/>
          <p:cNvSpPr/>
          <p:nvPr/>
        </p:nvSpPr>
        <p:spPr>
          <a:xfrm>
            <a:off x="10634472" y="4343400"/>
            <a:ext cx="868680" cy="320040"/>
          </a:xfrm>
          <a:prstGeom prst="rect">
            <a:avLst/>
          </a:prstGeom>
          <a:solidFill>
            <a:srgbClr val="CADCFC"/>
          </a:solidFill>
          <a:ln/>
        </p:spPr>
        <p:txBody>
          <a:bodyPr/>
          <a:lstStyle/>
          <a:p>
            <a:endParaRPr lang="en-US"/>
          </a:p>
        </p:txBody>
      </p:sp>
      <p:sp>
        <p:nvSpPr>
          <p:cNvPr id="35" name="Text 29"/>
          <p:cNvSpPr/>
          <p:nvPr/>
        </p:nvSpPr>
        <p:spPr>
          <a:xfrm>
            <a:off x="10634472" y="4343400"/>
            <a:ext cx="868680" cy="320040"/>
          </a:xfrm>
          <a:prstGeom prst="rect">
            <a:avLst/>
          </a:prstGeom>
          <a:noFill/>
          <a:ln/>
        </p:spPr>
        <p:txBody>
          <a:bodyPr wrap="square" lIns="0" tIns="0" rIns="0" bIns="0" rtlCol="0" anchor="ctr"/>
          <a:lstStyle/>
          <a:p>
            <a:pPr marL="0" indent="0" algn="ctr">
              <a:buNone/>
            </a:pPr>
            <a:r>
              <a:rPr lang="en-US" sz="1000" b="1" kern="0" spc="200" dirty="0">
                <a:solidFill>
                  <a:srgbClr val="1E2761"/>
                </a:solidFill>
                <a:latin typeface="Calibri" pitchFamily="34" charset="0"/>
                <a:ea typeface="Calibri" pitchFamily="34" charset="-122"/>
                <a:cs typeface="Calibri" pitchFamily="34" charset="-120"/>
              </a:rPr>
              <a:t>LLM</a:t>
            </a:r>
            <a:endParaRPr lang="en-US" sz="1000" dirty="0"/>
          </a:p>
        </p:txBody>
      </p:sp>
      <p:sp>
        <p:nvSpPr>
          <p:cNvPr id="36" name="Text 30"/>
          <p:cNvSpPr/>
          <p:nvPr/>
        </p:nvSpPr>
        <p:spPr>
          <a:xfrm>
            <a:off x="6519672" y="5029200"/>
            <a:ext cx="4937760" cy="100584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Drafts structured first-pass review (summary / strengths / weaknesses / 1-5 scores / recommendation).</a:t>
            </a:r>
            <a:endParaRPr lang="en-US" sz="1300" dirty="0"/>
          </a:p>
        </p:txBody>
      </p:sp>
      <p:sp>
        <p:nvSpPr>
          <p:cNvPr id="37" name="Text 31"/>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38" name="Text 32"/>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10972800" cy="640080"/>
          </a:xfrm>
          <a:prstGeom prst="rect">
            <a:avLst/>
          </a:prstGeom>
          <a:noFill/>
          <a:ln/>
        </p:spPr>
        <p:txBody>
          <a:bodyPr wrap="square" lIns="0" tIns="0" rIns="0" bIns="0" rtlCol="0" anchor="ctr"/>
          <a:lstStyle/>
          <a:p>
            <a:pPr marL="0" indent="0">
              <a:buNone/>
            </a:pPr>
            <a:r>
              <a:rPr lang="en-US" sz="3200" b="1" dirty="0">
                <a:solidFill>
                  <a:srgbClr val="0F1538"/>
                </a:solidFill>
                <a:latin typeface="Georgia" pitchFamily="34" charset="0"/>
                <a:ea typeface="Georgia" pitchFamily="34" charset="-122"/>
                <a:cs typeface="Georgia" pitchFamily="34" charset="-120"/>
              </a:rPr>
              <a:t>Architecture I have prepared</a:t>
            </a:r>
            <a:endParaRPr lang="en-US" sz="3200" dirty="0"/>
          </a:p>
        </p:txBody>
      </p:sp>
      <p:sp>
        <p:nvSpPr>
          <p:cNvPr id="4" name="Text 2"/>
          <p:cNvSpPr/>
          <p:nvPr/>
        </p:nvSpPr>
        <p:spPr>
          <a:xfrm>
            <a:off x="548640" y="960120"/>
            <a:ext cx="10972800" cy="365760"/>
          </a:xfrm>
          <a:prstGeom prst="rect">
            <a:avLst/>
          </a:prstGeom>
          <a:noFill/>
          <a:ln/>
        </p:spPr>
        <p:txBody>
          <a:bodyPr wrap="square" lIns="0" tIns="0" rIns="0" bIns="0" rtlCol="0" anchor="ctr"/>
          <a:lstStyle/>
          <a:p>
            <a:pPr marL="0" indent="0">
              <a:buNone/>
            </a:pPr>
            <a:r>
              <a:rPr lang="en-US" sz="1400" i="1" dirty="0">
                <a:solidFill>
                  <a:srgbClr val="5C6488"/>
                </a:solidFill>
                <a:latin typeface="Calibri" pitchFamily="34" charset="0"/>
                <a:ea typeface="Calibri" pitchFamily="34" charset="-122"/>
                <a:cs typeface="Calibri" pitchFamily="34" charset="-120"/>
              </a:rPr>
              <a:t>Provider-agnostic LLM abstraction, MVC layout, audit logging</a:t>
            </a:r>
            <a:endParaRPr lang="en-US" sz="1400" dirty="0"/>
          </a:p>
        </p:txBody>
      </p:sp>
      <p:sp>
        <p:nvSpPr>
          <p:cNvPr id="5" name="Shape 3"/>
          <p:cNvSpPr/>
          <p:nvPr/>
        </p:nvSpPr>
        <p:spPr>
          <a:xfrm>
            <a:off x="548640" y="1668780"/>
            <a:ext cx="2286000" cy="777240"/>
          </a:xfrm>
          <a:prstGeom prst="rect">
            <a:avLst/>
          </a:prstGeom>
          <a:solidFill>
            <a:srgbClr val="CADCFC"/>
          </a:solidFill>
          <a:ln w="12700">
            <a:solidFill>
              <a:srgbClr val="D5D9E5"/>
            </a:solidFill>
            <a:prstDash val="solid"/>
          </a:ln>
        </p:spPr>
        <p:txBody>
          <a:bodyPr/>
          <a:lstStyle/>
          <a:p>
            <a:endParaRPr lang="en-US"/>
          </a:p>
        </p:txBody>
      </p:sp>
      <p:sp>
        <p:nvSpPr>
          <p:cNvPr id="6" name="Text 4"/>
          <p:cNvSpPr/>
          <p:nvPr/>
        </p:nvSpPr>
        <p:spPr>
          <a:xfrm>
            <a:off x="548640" y="1668780"/>
            <a:ext cx="2286000" cy="777240"/>
          </a:xfrm>
          <a:prstGeom prst="rect">
            <a:avLst/>
          </a:prstGeom>
          <a:noFill/>
          <a:ln/>
        </p:spPr>
        <p:txBody>
          <a:bodyPr wrap="square" lIns="0" tIns="0" rIns="0" bIns="0"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Browser</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(EJS + Tailwind)</a:t>
            </a:r>
            <a:endParaRPr lang="en-US" sz="1200" dirty="0"/>
          </a:p>
        </p:txBody>
      </p:sp>
      <p:sp>
        <p:nvSpPr>
          <p:cNvPr id="7" name="Shape 5"/>
          <p:cNvSpPr/>
          <p:nvPr/>
        </p:nvSpPr>
        <p:spPr>
          <a:xfrm>
            <a:off x="2834640" y="2061972"/>
            <a:ext cx="548640" cy="0"/>
          </a:xfrm>
          <a:prstGeom prst="line">
            <a:avLst/>
          </a:prstGeom>
          <a:noFill/>
          <a:ln w="19050">
            <a:solidFill>
              <a:srgbClr val="1E2761"/>
            </a:solidFill>
            <a:prstDash val="solid"/>
            <a:tailEnd type="triangle"/>
          </a:ln>
        </p:spPr>
        <p:txBody>
          <a:bodyPr/>
          <a:lstStyle/>
          <a:p>
            <a:endParaRPr lang="en-US"/>
          </a:p>
        </p:txBody>
      </p:sp>
      <p:sp>
        <p:nvSpPr>
          <p:cNvPr id="8" name="Shape 6"/>
          <p:cNvSpPr/>
          <p:nvPr/>
        </p:nvSpPr>
        <p:spPr>
          <a:xfrm>
            <a:off x="3383280" y="1554480"/>
            <a:ext cx="2743200" cy="1005840"/>
          </a:xfrm>
          <a:prstGeom prst="rect">
            <a:avLst/>
          </a:prstGeom>
          <a:solidFill>
            <a:srgbClr val="1E2761"/>
          </a:solidFill>
          <a:ln w="12700">
            <a:solidFill>
              <a:srgbClr val="1E2761"/>
            </a:solidFill>
            <a:prstDash val="solid"/>
          </a:ln>
        </p:spPr>
        <p:txBody>
          <a:bodyPr/>
          <a:lstStyle/>
          <a:p>
            <a:endParaRPr lang="en-US"/>
          </a:p>
        </p:txBody>
      </p:sp>
      <p:sp>
        <p:nvSpPr>
          <p:cNvPr id="9" name="Text 7"/>
          <p:cNvSpPr/>
          <p:nvPr/>
        </p:nvSpPr>
        <p:spPr>
          <a:xfrm>
            <a:off x="3383280" y="1554480"/>
            <a:ext cx="2743200" cy="5486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Express App</a:t>
            </a:r>
            <a:endParaRPr lang="en-US" sz="1300" dirty="0"/>
          </a:p>
        </p:txBody>
      </p:sp>
      <p:sp>
        <p:nvSpPr>
          <p:cNvPr id="10" name="Text 8"/>
          <p:cNvSpPr/>
          <p:nvPr/>
        </p:nvSpPr>
        <p:spPr>
          <a:xfrm>
            <a:off x="3383280" y="2103120"/>
            <a:ext cx="2743200" cy="365760"/>
          </a:xfrm>
          <a:prstGeom prst="rect">
            <a:avLst/>
          </a:prstGeom>
          <a:noFill/>
          <a:ln/>
        </p:spPr>
        <p:txBody>
          <a:bodyPr wrap="square" lIns="0" tIns="0" rIns="0" bIns="0" rtlCol="0" anchor="ctr"/>
          <a:lstStyle/>
          <a:p>
            <a:pPr marL="0" indent="0" algn="ctr">
              <a:buNone/>
            </a:pPr>
            <a:r>
              <a:rPr lang="en-US" sz="900" i="1" dirty="0">
                <a:solidFill>
                  <a:srgbClr val="CADCFC"/>
                </a:solidFill>
                <a:latin typeface="Calibri" pitchFamily="34" charset="0"/>
                <a:ea typeface="Calibri" pitchFamily="34" charset="-122"/>
                <a:cs typeface="Calibri" pitchFamily="34" charset="-120"/>
              </a:rPr>
              <a:t>helmet · CSP · session · CSRF · rate-limit</a:t>
            </a:r>
            <a:endParaRPr lang="en-US" sz="900" dirty="0"/>
          </a:p>
        </p:txBody>
      </p:sp>
      <p:sp>
        <p:nvSpPr>
          <p:cNvPr id="11" name="Shape 9"/>
          <p:cNvSpPr/>
          <p:nvPr/>
        </p:nvSpPr>
        <p:spPr>
          <a:xfrm>
            <a:off x="6126480" y="2061972"/>
            <a:ext cx="548640" cy="0"/>
          </a:xfrm>
          <a:prstGeom prst="line">
            <a:avLst/>
          </a:prstGeom>
          <a:noFill/>
          <a:ln w="19050">
            <a:solidFill>
              <a:srgbClr val="1E2761"/>
            </a:solidFill>
            <a:prstDash val="solid"/>
            <a:tailEnd type="triangle"/>
          </a:ln>
        </p:spPr>
        <p:txBody>
          <a:bodyPr/>
          <a:lstStyle/>
          <a:p>
            <a:endParaRPr lang="en-US"/>
          </a:p>
        </p:txBody>
      </p:sp>
      <p:sp>
        <p:nvSpPr>
          <p:cNvPr id="12" name="Shape 10"/>
          <p:cNvSpPr/>
          <p:nvPr/>
        </p:nvSpPr>
        <p:spPr>
          <a:xfrm>
            <a:off x="6675120" y="1668780"/>
            <a:ext cx="4937760" cy="777240"/>
          </a:xfrm>
          <a:prstGeom prst="rect">
            <a:avLst/>
          </a:prstGeom>
          <a:solidFill>
            <a:srgbClr val="000000"/>
          </a:solidFill>
          <a:ln w="12700">
            <a:solidFill>
              <a:srgbClr val="D5D9E5"/>
            </a:solidFill>
            <a:prstDash val="solid"/>
          </a:ln>
        </p:spPr>
        <p:txBody>
          <a:bodyPr/>
          <a:lstStyle/>
          <a:p>
            <a:endParaRPr lang="en-US"/>
          </a:p>
        </p:txBody>
      </p:sp>
      <p:sp>
        <p:nvSpPr>
          <p:cNvPr id="13" name="Text 11"/>
          <p:cNvSpPr/>
          <p:nvPr/>
        </p:nvSpPr>
        <p:spPr>
          <a:xfrm>
            <a:off x="6675120" y="1668780"/>
            <a:ext cx="4937760" cy="777240"/>
          </a:xfrm>
          <a:prstGeom prst="rect">
            <a:avLst/>
          </a:prstGeom>
          <a:noFill/>
          <a:ln/>
        </p:spPr>
        <p:txBody>
          <a:bodyPr wrap="square" lIns="0" tIns="0" rIns="0" bIns="0" rtlCol="0" anchor="ctr"/>
          <a:lstStyle/>
          <a:p>
            <a:pPr marL="0" indent="0" algn="ctr">
              <a:buNone/>
            </a:pPr>
            <a:r>
              <a:rPr lang="en-US" sz="1200" b="1" dirty="0">
                <a:solidFill>
                  <a:srgbClr val="0F1538"/>
                </a:solidFill>
                <a:latin typeface="Calibri" pitchFamily="34" charset="0"/>
                <a:ea typeface="Calibri" pitchFamily="34" charset="-122"/>
                <a:cs typeface="Calibri" pitchFamily="34" charset="-120"/>
              </a:rPr>
              <a:t>Routes → Controllers → Services → Models</a:t>
            </a:r>
            <a:endParaRPr lang="en-US" sz="1200" dirty="0"/>
          </a:p>
        </p:txBody>
      </p:sp>
      <p:sp>
        <p:nvSpPr>
          <p:cNvPr id="14" name="Shape 12"/>
          <p:cNvSpPr/>
          <p:nvPr/>
        </p:nvSpPr>
        <p:spPr>
          <a:xfrm>
            <a:off x="548640" y="2926080"/>
            <a:ext cx="2103120" cy="868680"/>
          </a:xfrm>
          <a:prstGeom prst="rect">
            <a:avLst/>
          </a:prstGeom>
          <a:solidFill>
            <a:srgbClr val="FFFFFF"/>
          </a:solidFill>
          <a:ln w="12700">
            <a:solidFill>
              <a:srgbClr val="1E2761"/>
            </a:solidFill>
            <a:prstDash val="solid"/>
          </a:ln>
        </p:spPr>
        <p:txBody>
          <a:bodyPr/>
          <a:lstStyle/>
          <a:p>
            <a:endParaRPr lang="en-US"/>
          </a:p>
        </p:txBody>
      </p:sp>
      <p:sp>
        <p:nvSpPr>
          <p:cNvPr id="15" name="Text 13"/>
          <p:cNvSpPr/>
          <p:nvPr/>
        </p:nvSpPr>
        <p:spPr>
          <a:xfrm>
            <a:off x="548640" y="299008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reviewerMatcher</a:t>
            </a:r>
            <a:endParaRPr lang="en-US" sz="1100" dirty="0"/>
          </a:p>
        </p:txBody>
      </p:sp>
      <p:sp>
        <p:nvSpPr>
          <p:cNvPr id="16" name="Text 14"/>
          <p:cNvSpPr/>
          <p:nvPr/>
        </p:nvSpPr>
        <p:spPr>
          <a:xfrm>
            <a:off x="548640" y="338328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TF-IDF cosine</a:t>
            </a:r>
            <a:endParaRPr lang="en-US" sz="1000" dirty="0"/>
          </a:p>
        </p:txBody>
      </p:sp>
      <p:sp>
        <p:nvSpPr>
          <p:cNvPr id="17" name="Shape 15"/>
          <p:cNvSpPr/>
          <p:nvPr/>
        </p:nvSpPr>
        <p:spPr>
          <a:xfrm>
            <a:off x="2743200" y="2926080"/>
            <a:ext cx="2103120" cy="868680"/>
          </a:xfrm>
          <a:prstGeom prst="rect">
            <a:avLst/>
          </a:prstGeom>
          <a:solidFill>
            <a:srgbClr val="FFFFFF"/>
          </a:solidFill>
          <a:ln w="12700">
            <a:solidFill>
              <a:srgbClr val="1E2761"/>
            </a:solidFill>
            <a:prstDash val="solid"/>
          </a:ln>
        </p:spPr>
        <p:txBody>
          <a:bodyPr/>
          <a:lstStyle/>
          <a:p>
            <a:endParaRPr lang="en-US"/>
          </a:p>
        </p:txBody>
      </p:sp>
      <p:sp>
        <p:nvSpPr>
          <p:cNvPr id="18" name="Text 16"/>
          <p:cNvSpPr/>
          <p:nvPr/>
        </p:nvSpPr>
        <p:spPr>
          <a:xfrm>
            <a:off x="2743200" y="299008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plagiarism</a:t>
            </a:r>
            <a:endParaRPr lang="en-US" sz="1100" dirty="0"/>
          </a:p>
        </p:txBody>
      </p:sp>
      <p:sp>
        <p:nvSpPr>
          <p:cNvPr id="19" name="Text 17"/>
          <p:cNvSpPr/>
          <p:nvPr/>
        </p:nvSpPr>
        <p:spPr>
          <a:xfrm>
            <a:off x="2743200" y="338328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TF-IDF + stylometry</a:t>
            </a:r>
            <a:endParaRPr lang="en-US" sz="1000" dirty="0"/>
          </a:p>
        </p:txBody>
      </p:sp>
      <p:sp>
        <p:nvSpPr>
          <p:cNvPr id="20" name="Shape 18"/>
          <p:cNvSpPr/>
          <p:nvPr/>
        </p:nvSpPr>
        <p:spPr>
          <a:xfrm>
            <a:off x="4937760" y="2926080"/>
            <a:ext cx="2103120" cy="868680"/>
          </a:xfrm>
          <a:prstGeom prst="rect">
            <a:avLst/>
          </a:prstGeom>
          <a:solidFill>
            <a:srgbClr val="FFFFFF"/>
          </a:solidFill>
          <a:ln w="12700">
            <a:solidFill>
              <a:srgbClr val="1E2761"/>
            </a:solidFill>
            <a:prstDash val="solid"/>
          </a:ln>
        </p:spPr>
        <p:txBody>
          <a:bodyPr/>
          <a:lstStyle/>
          <a:p>
            <a:endParaRPr lang="en-US"/>
          </a:p>
        </p:txBody>
      </p:sp>
      <p:sp>
        <p:nvSpPr>
          <p:cNvPr id="21" name="Text 19"/>
          <p:cNvSpPr/>
          <p:nvPr/>
        </p:nvSpPr>
        <p:spPr>
          <a:xfrm>
            <a:off x="4937760" y="299008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aiReviewer</a:t>
            </a:r>
            <a:endParaRPr lang="en-US" sz="1100" dirty="0"/>
          </a:p>
        </p:txBody>
      </p:sp>
      <p:sp>
        <p:nvSpPr>
          <p:cNvPr id="22" name="Text 20"/>
          <p:cNvSpPr/>
          <p:nvPr/>
        </p:nvSpPr>
        <p:spPr>
          <a:xfrm>
            <a:off x="4937760" y="338328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LLM draft</a:t>
            </a:r>
            <a:endParaRPr lang="en-US" sz="1000" dirty="0"/>
          </a:p>
        </p:txBody>
      </p:sp>
      <p:sp>
        <p:nvSpPr>
          <p:cNvPr id="23" name="Shape 21"/>
          <p:cNvSpPr/>
          <p:nvPr/>
        </p:nvSpPr>
        <p:spPr>
          <a:xfrm>
            <a:off x="7132320" y="2926080"/>
            <a:ext cx="2103120" cy="868680"/>
          </a:xfrm>
          <a:prstGeom prst="rect">
            <a:avLst/>
          </a:prstGeom>
          <a:solidFill>
            <a:srgbClr val="FFFFFF"/>
          </a:solidFill>
          <a:ln w="12700">
            <a:solidFill>
              <a:srgbClr val="1E2761"/>
            </a:solidFill>
            <a:prstDash val="solid"/>
          </a:ln>
        </p:spPr>
        <p:txBody>
          <a:bodyPr/>
          <a:lstStyle/>
          <a:p>
            <a:endParaRPr lang="en-US"/>
          </a:p>
        </p:txBody>
      </p:sp>
      <p:sp>
        <p:nvSpPr>
          <p:cNvPr id="24" name="Text 22"/>
          <p:cNvSpPr/>
          <p:nvPr/>
        </p:nvSpPr>
        <p:spPr>
          <a:xfrm>
            <a:off x="7132320" y="299008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writingAssistant</a:t>
            </a:r>
            <a:endParaRPr lang="en-US" sz="1100" dirty="0"/>
          </a:p>
        </p:txBody>
      </p:sp>
      <p:sp>
        <p:nvSpPr>
          <p:cNvPr id="25" name="Text 23"/>
          <p:cNvSpPr/>
          <p:nvPr/>
        </p:nvSpPr>
        <p:spPr>
          <a:xfrm>
            <a:off x="7132320" y="338328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LLM polish + titles</a:t>
            </a:r>
            <a:endParaRPr lang="en-US" sz="1000" dirty="0"/>
          </a:p>
        </p:txBody>
      </p:sp>
      <p:sp>
        <p:nvSpPr>
          <p:cNvPr id="26" name="Shape 24"/>
          <p:cNvSpPr/>
          <p:nvPr/>
        </p:nvSpPr>
        <p:spPr>
          <a:xfrm>
            <a:off x="9326880" y="2926080"/>
            <a:ext cx="2103120" cy="868680"/>
          </a:xfrm>
          <a:prstGeom prst="rect">
            <a:avLst/>
          </a:prstGeom>
          <a:solidFill>
            <a:srgbClr val="FFFFFF"/>
          </a:solidFill>
          <a:ln w="12700">
            <a:solidFill>
              <a:srgbClr val="1E2761"/>
            </a:solidFill>
            <a:prstDash val="solid"/>
          </a:ln>
        </p:spPr>
        <p:txBody>
          <a:bodyPr/>
          <a:lstStyle/>
          <a:p>
            <a:endParaRPr lang="en-US"/>
          </a:p>
        </p:txBody>
      </p:sp>
      <p:sp>
        <p:nvSpPr>
          <p:cNvPr id="27" name="Text 25"/>
          <p:cNvSpPr/>
          <p:nvPr/>
        </p:nvSpPr>
        <p:spPr>
          <a:xfrm>
            <a:off x="9326880" y="2990088"/>
            <a:ext cx="2103120" cy="365760"/>
          </a:xfrm>
          <a:prstGeom prst="rect">
            <a:avLst/>
          </a:prstGeom>
          <a:noFill/>
          <a:ln/>
        </p:spPr>
        <p:txBody>
          <a:bodyPr wrap="square" lIns="0" tIns="0" rIns="0" bIns="0" rtlCol="0" anchor="ctr"/>
          <a:lstStyle/>
          <a:p>
            <a:pPr marL="0" indent="0" algn="ctr">
              <a:buNone/>
            </a:pPr>
            <a:r>
              <a:rPr lang="en-US" sz="1100" b="1" dirty="0">
                <a:solidFill>
                  <a:srgbClr val="1E2761"/>
                </a:solidFill>
                <a:latin typeface="Consolas" pitchFamily="34" charset="0"/>
                <a:ea typeface="Consolas" pitchFamily="34" charset="-122"/>
                <a:cs typeface="Consolas" pitchFamily="34" charset="-120"/>
              </a:rPr>
              <a:t>embeddings</a:t>
            </a:r>
            <a:endParaRPr lang="en-US" sz="1100" dirty="0"/>
          </a:p>
        </p:txBody>
      </p:sp>
      <p:sp>
        <p:nvSpPr>
          <p:cNvPr id="28" name="Text 26"/>
          <p:cNvSpPr/>
          <p:nvPr/>
        </p:nvSpPr>
        <p:spPr>
          <a:xfrm>
            <a:off x="9326880" y="3383280"/>
            <a:ext cx="2103120" cy="320040"/>
          </a:xfrm>
          <a:prstGeom prst="rect">
            <a:avLst/>
          </a:prstGeom>
          <a:noFill/>
          <a:ln/>
        </p:spPr>
        <p:txBody>
          <a:bodyPr wrap="square" lIns="0" tIns="0" rIns="0" bIns="0" rtlCol="0" anchor="ctr"/>
          <a:lstStyle/>
          <a:p>
            <a:pPr marL="0" indent="0" algn="ctr">
              <a:buNone/>
            </a:pPr>
            <a:r>
              <a:rPr lang="en-US" sz="1000" i="1" dirty="0">
                <a:solidFill>
                  <a:srgbClr val="5C6488"/>
                </a:solidFill>
                <a:latin typeface="Calibri" pitchFamily="34" charset="0"/>
                <a:ea typeface="Calibri" pitchFamily="34" charset="-122"/>
                <a:cs typeface="Calibri" pitchFamily="34" charset="-120"/>
              </a:rPr>
              <a:t>shared vectoriser</a:t>
            </a:r>
            <a:endParaRPr lang="en-US" sz="1000" dirty="0"/>
          </a:p>
        </p:txBody>
      </p:sp>
      <p:sp>
        <p:nvSpPr>
          <p:cNvPr id="29" name="Shape 27"/>
          <p:cNvSpPr/>
          <p:nvPr/>
        </p:nvSpPr>
        <p:spPr>
          <a:xfrm>
            <a:off x="548640" y="4114800"/>
            <a:ext cx="11064240" cy="1645920"/>
          </a:xfrm>
          <a:prstGeom prst="rect">
            <a:avLst/>
          </a:prstGeom>
          <a:solidFill>
            <a:srgbClr val="1E2761"/>
          </a:solidFill>
          <a:ln/>
        </p:spPr>
        <p:txBody>
          <a:bodyPr/>
          <a:lstStyle/>
          <a:p>
            <a:endParaRPr lang="en-US"/>
          </a:p>
        </p:txBody>
      </p:sp>
      <p:sp>
        <p:nvSpPr>
          <p:cNvPr id="30" name="Shape 28"/>
          <p:cNvSpPr/>
          <p:nvPr/>
        </p:nvSpPr>
        <p:spPr>
          <a:xfrm>
            <a:off x="548640" y="4114800"/>
            <a:ext cx="11064240" cy="54864"/>
          </a:xfrm>
          <a:prstGeom prst="rect">
            <a:avLst/>
          </a:prstGeom>
          <a:solidFill>
            <a:srgbClr val="F4B942"/>
          </a:solidFill>
          <a:ln/>
        </p:spPr>
        <p:txBody>
          <a:bodyPr/>
          <a:lstStyle/>
          <a:p>
            <a:endParaRPr lang="en-US"/>
          </a:p>
        </p:txBody>
      </p:sp>
      <p:sp>
        <p:nvSpPr>
          <p:cNvPr id="31" name="Text 29"/>
          <p:cNvSpPr/>
          <p:nvPr/>
        </p:nvSpPr>
        <p:spPr>
          <a:xfrm>
            <a:off x="777240" y="4251960"/>
            <a:ext cx="10515600" cy="320040"/>
          </a:xfrm>
          <a:prstGeom prst="rect">
            <a:avLst/>
          </a:prstGeom>
          <a:noFill/>
          <a:ln/>
        </p:spPr>
        <p:txBody>
          <a:bodyPr wrap="square" lIns="0" tIns="0" rIns="0" bIns="0" rtlCol="0" anchor="ctr"/>
          <a:lstStyle/>
          <a:p>
            <a:pPr marL="0" indent="0">
              <a:buNone/>
            </a:pPr>
            <a:r>
              <a:rPr lang="en-US" sz="1100" b="1" kern="0" spc="300" dirty="0">
                <a:solidFill>
                  <a:srgbClr val="F4B942"/>
                </a:solidFill>
                <a:latin typeface="Calibri" pitchFamily="34" charset="0"/>
                <a:ea typeface="Calibri" pitchFamily="34" charset="-122"/>
                <a:cs typeface="Calibri" pitchFamily="34" charset="-120"/>
              </a:rPr>
              <a:t>LLM PROVIDER SWITCH</a:t>
            </a:r>
            <a:endParaRPr lang="en-US" sz="1100" dirty="0"/>
          </a:p>
        </p:txBody>
      </p:sp>
      <p:sp>
        <p:nvSpPr>
          <p:cNvPr id="32" name="Shape 30"/>
          <p:cNvSpPr/>
          <p:nvPr/>
        </p:nvSpPr>
        <p:spPr>
          <a:xfrm>
            <a:off x="777240" y="4617720"/>
            <a:ext cx="5349240" cy="1005840"/>
          </a:xfrm>
          <a:prstGeom prst="rect">
            <a:avLst/>
          </a:prstGeom>
          <a:solidFill>
            <a:srgbClr val="141C49"/>
          </a:solidFill>
          <a:ln w="12700">
            <a:solidFill>
              <a:srgbClr val="F4B942"/>
            </a:solidFill>
            <a:prstDash val="solid"/>
          </a:ln>
        </p:spPr>
        <p:txBody>
          <a:bodyPr/>
          <a:lstStyle/>
          <a:p>
            <a:endParaRPr lang="en-US"/>
          </a:p>
        </p:txBody>
      </p:sp>
      <p:sp>
        <p:nvSpPr>
          <p:cNvPr id="33" name="Text 31"/>
          <p:cNvSpPr/>
          <p:nvPr/>
        </p:nvSpPr>
        <p:spPr>
          <a:xfrm>
            <a:off x="960120" y="4709160"/>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heuristic   (default)</a:t>
            </a:r>
            <a:endParaRPr lang="en-US" sz="1400" dirty="0"/>
          </a:p>
        </p:txBody>
      </p:sp>
      <p:sp>
        <p:nvSpPr>
          <p:cNvPr id="34" name="Text 32"/>
          <p:cNvSpPr/>
          <p:nvPr/>
        </p:nvSpPr>
        <p:spPr>
          <a:xfrm>
            <a:off x="960120" y="5074920"/>
            <a:ext cx="5029200" cy="45720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Pure JS · offline · zero-cost · ships today</a:t>
            </a:r>
            <a:endParaRPr lang="en-US" sz="1100" dirty="0"/>
          </a:p>
        </p:txBody>
      </p:sp>
      <p:sp>
        <p:nvSpPr>
          <p:cNvPr id="35" name="Shape 33"/>
          <p:cNvSpPr/>
          <p:nvPr/>
        </p:nvSpPr>
        <p:spPr>
          <a:xfrm>
            <a:off x="6263640" y="4617720"/>
            <a:ext cx="5349240" cy="1005840"/>
          </a:xfrm>
          <a:prstGeom prst="rect">
            <a:avLst/>
          </a:prstGeom>
          <a:solidFill>
            <a:srgbClr val="141C49"/>
          </a:solidFill>
          <a:ln w="12700">
            <a:solidFill>
              <a:srgbClr val="F4B942"/>
            </a:solidFill>
            <a:prstDash val="solid"/>
          </a:ln>
        </p:spPr>
        <p:txBody>
          <a:bodyPr/>
          <a:lstStyle/>
          <a:p>
            <a:endParaRPr lang="en-US"/>
          </a:p>
        </p:txBody>
      </p:sp>
      <p:sp>
        <p:nvSpPr>
          <p:cNvPr id="36" name="Text 34"/>
          <p:cNvSpPr/>
          <p:nvPr/>
        </p:nvSpPr>
        <p:spPr>
          <a:xfrm>
            <a:off x="6446520" y="4709160"/>
            <a:ext cx="50292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claude       (when key set)</a:t>
            </a:r>
            <a:endParaRPr lang="en-US" sz="1400" dirty="0"/>
          </a:p>
        </p:txBody>
      </p:sp>
      <p:sp>
        <p:nvSpPr>
          <p:cNvPr id="37" name="Text 35"/>
          <p:cNvSpPr/>
          <p:nvPr/>
        </p:nvSpPr>
        <p:spPr>
          <a:xfrm>
            <a:off x="6446520" y="5074920"/>
            <a:ext cx="5029200" cy="45720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Anthropic Claude Sonnet 4.6 · one-line upgrade</a:t>
            </a:r>
            <a:endParaRPr lang="en-US" sz="1100" dirty="0"/>
          </a:p>
        </p:txBody>
      </p:sp>
      <p:sp>
        <p:nvSpPr>
          <p:cNvPr id="38" name="Shape 36"/>
          <p:cNvSpPr/>
          <p:nvPr/>
        </p:nvSpPr>
        <p:spPr>
          <a:xfrm>
            <a:off x="548640" y="5897880"/>
            <a:ext cx="5486400" cy="640080"/>
          </a:xfrm>
          <a:prstGeom prst="rect">
            <a:avLst/>
          </a:prstGeom>
          <a:solidFill>
            <a:srgbClr val="F7F8FB"/>
          </a:solidFill>
          <a:ln w="12700">
            <a:solidFill>
              <a:srgbClr val="D5D9E5"/>
            </a:solidFill>
            <a:prstDash val="solid"/>
          </a:ln>
        </p:spPr>
        <p:txBody>
          <a:bodyPr/>
          <a:lstStyle/>
          <a:p>
            <a:endParaRPr lang="en-US"/>
          </a:p>
        </p:txBody>
      </p:sp>
      <p:sp>
        <p:nvSpPr>
          <p:cNvPr id="39" name="Text 37"/>
          <p:cNvSpPr/>
          <p:nvPr/>
        </p:nvSpPr>
        <p:spPr>
          <a:xfrm>
            <a:off x="548640" y="5897880"/>
            <a:ext cx="5486400" cy="640080"/>
          </a:xfrm>
          <a:prstGeom prst="rect">
            <a:avLst/>
          </a:prstGeom>
          <a:noFill/>
          <a:ln/>
        </p:spPr>
        <p:txBody>
          <a:bodyPr wrap="square" lIns="0" tIns="0" rIns="0" bIns="0" rtlCol="0" anchor="ctr"/>
          <a:lstStyle/>
          <a:p>
            <a:pPr marL="0" indent="0" algn="ctr">
              <a:buNone/>
            </a:pPr>
            <a:r>
              <a:rPr lang="en-US" sz="1000" dirty="0">
                <a:solidFill>
                  <a:srgbClr val="0F1538"/>
                </a:solidFill>
                <a:latin typeface="Consolas" pitchFamily="34" charset="0"/>
                <a:ea typeface="Consolas" pitchFamily="34" charset="-122"/>
                <a:cs typeface="Consolas" pitchFamily="34" charset="-120"/>
              </a:rPr>
              <a:t>SQLite (WAL · FK on)  ·  users · papers · reviews · embeddings · ai_audit</a:t>
            </a:r>
            <a:endParaRPr lang="en-US" sz="1000" dirty="0"/>
          </a:p>
        </p:txBody>
      </p:sp>
      <p:sp>
        <p:nvSpPr>
          <p:cNvPr id="40" name="Shape 38"/>
          <p:cNvSpPr/>
          <p:nvPr/>
        </p:nvSpPr>
        <p:spPr>
          <a:xfrm>
            <a:off x="6217920" y="5897880"/>
            <a:ext cx="5394960" cy="640080"/>
          </a:xfrm>
          <a:prstGeom prst="rect">
            <a:avLst/>
          </a:prstGeom>
          <a:solidFill>
            <a:srgbClr val="F7F8FB"/>
          </a:solidFill>
          <a:ln w="12700">
            <a:solidFill>
              <a:srgbClr val="D5D9E5"/>
            </a:solidFill>
            <a:prstDash val="solid"/>
          </a:ln>
        </p:spPr>
        <p:txBody>
          <a:bodyPr/>
          <a:lstStyle/>
          <a:p>
            <a:endParaRPr lang="en-US"/>
          </a:p>
        </p:txBody>
      </p:sp>
      <p:sp>
        <p:nvSpPr>
          <p:cNvPr id="41" name="Text 39"/>
          <p:cNvSpPr/>
          <p:nvPr/>
        </p:nvSpPr>
        <p:spPr>
          <a:xfrm>
            <a:off x="6217920" y="5897880"/>
            <a:ext cx="5394960" cy="640080"/>
          </a:xfrm>
          <a:prstGeom prst="rect">
            <a:avLst/>
          </a:prstGeom>
          <a:noFill/>
          <a:ln/>
        </p:spPr>
        <p:txBody>
          <a:bodyPr wrap="square" lIns="0" tIns="0" rIns="0" bIns="0" rtlCol="0" anchor="ctr"/>
          <a:lstStyle/>
          <a:p>
            <a:pPr marL="0" indent="0" algn="ctr">
              <a:buNone/>
            </a:pPr>
            <a:r>
              <a:rPr lang="en-US" sz="1000" i="1" dirty="0">
                <a:solidFill>
                  <a:srgbClr val="0F1538"/>
                </a:solidFill>
                <a:latin typeface="Calibri" pitchFamily="34" charset="0"/>
                <a:ea typeface="Calibri" pitchFamily="34" charset="-122"/>
                <a:cs typeface="Calibri" pitchFamily="34" charset="-120"/>
              </a:rPr>
              <a:t>Every AI call logged in ai_audit  →  ethics auditing &amp; cost tracking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10972800" cy="640080"/>
          </a:xfrm>
          <a:prstGeom prst="rect">
            <a:avLst/>
          </a:prstGeom>
          <a:noFill/>
          <a:ln/>
        </p:spPr>
        <p:txBody>
          <a:bodyPr wrap="square" lIns="0" tIns="0" rIns="0" bIns="0" rtlCol="0" anchor="ctr"/>
          <a:lstStyle/>
          <a:p>
            <a:pPr marL="0" indent="0">
              <a:buNone/>
            </a:pPr>
            <a:r>
              <a:rPr lang="en-US" sz="3200" b="1" dirty="0">
                <a:solidFill>
                  <a:srgbClr val="0F1538"/>
                </a:solidFill>
                <a:latin typeface="Georgia" pitchFamily="34" charset="0"/>
                <a:ea typeface="Georgia" pitchFamily="34" charset="-122"/>
                <a:cs typeface="Georgia" pitchFamily="34" charset="-120"/>
              </a:rPr>
              <a:t>Implementation status</a:t>
            </a:r>
            <a:endParaRPr lang="en-US" sz="3200" dirty="0"/>
          </a:p>
        </p:txBody>
      </p:sp>
      <p:sp>
        <p:nvSpPr>
          <p:cNvPr id="4" name="Text 2"/>
          <p:cNvSpPr/>
          <p:nvPr/>
        </p:nvSpPr>
        <p:spPr>
          <a:xfrm>
            <a:off x="548640" y="960120"/>
            <a:ext cx="10972800" cy="365760"/>
          </a:xfrm>
          <a:prstGeom prst="rect">
            <a:avLst/>
          </a:prstGeom>
          <a:noFill/>
          <a:ln/>
        </p:spPr>
        <p:txBody>
          <a:bodyPr wrap="square" lIns="0" tIns="0" rIns="0" bIns="0" rtlCol="0" anchor="ctr"/>
          <a:lstStyle/>
          <a:p>
            <a:pPr marL="0" indent="0">
              <a:buNone/>
            </a:pPr>
            <a:r>
              <a:rPr lang="en-US" sz="1400" i="1" dirty="0">
                <a:solidFill>
                  <a:srgbClr val="5C6488"/>
                </a:solidFill>
                <a:latin typeface="Calibri" pitchFamily="34" charset="0"/>
                <a:ea typeface="Calibri" pitchFamily="34" charset="-122"/>
                <a:cs typeface="Calibri" pitchFamily="34" charset="-120"/>
              </a:rPr>
              <a:t>What is scaffolded · what is fully wired · what is intentionally pending</a:t>
            </a:r>
            <a:endParaRPr lang="en-US" sz="1400" dirty="0"/>
          </a:p>
        </p:txBody>
      </p:sp>
      <p:sp>
        <p:nvSpPr>
          <p:cNvPr id="5" name="Shape 3"/>
          <p:cNvSpPr/>
          <p:nvPr/>
        </p:nvSpPr>
        <p:spPr>
          <a:xfrm>
            <a:off x="548640" y="1645920"/>
            <a:ext cx="11064240" cy="457200"/>
          </a:xfrm>
          <a:prstGeom prst="rect">
            <a:avLst/>
          </a:prstGeom>
          <a:solidFill>
            <a:srgbClr val="1E2761"/>
          </a:solidFill>
          <a:ln/>
        </p:spPr>
        <p:txBody>
          <a:bodyPr/>
          <a:lstStyle/>
          <a:p>
            <a:endParaRPr lang="en-US"/>
          </a:p>
        </p:txBody>
      </p:sp>
      <p:sp>
        <p:nvSpPr>
          <p:cNvPr id="6" name="Text 4"/>
          <p:cNvSpPr/>
          <p:nvPr/>
        </p:nvSpPr>
        <p:spPr>
          <a:xfrm>
            <a:off x="777240" y="1645920"/>
            <a:ext cx="4114800" cy="45720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Capability</a:t>
            </a:r>
            <a:endParaRPr lang="en-US" sz="1200" dirty="0"/>
          </a:p>
        </p:txBody>
      </p:sp>
      <p:sp>
        <p:nvSpPr>
          <p:cNvPr id="7" name="Text 5"/>
          <p:cNvSpPr/>
          <p:nvPr/>
        </p:nvSpPr>
        <p:spPr>
          <a:xfrm>
            <a:off x="5074920" y="1645920"/>
            <a:ext cx="1371600" cy="45720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Status</a:t>
            </a:r>
            <a:endParaRPr lang="en-US" sz="1200" dirty="0"/>
          </a:p>
        </p:txBody>
      </p:sp>
      <p:sp>
        <p:nvSpPr>
          <p:cNvPr id="8" name="Text 6"/>
          <p:cNvSpPr/>
          <p:nvPr/>
        </p:nvSpPr>
        <p:spPr>
          <a:xfrm>
            <a:off x="6629400" y="1645920"/>
            <a:ext cx="4846320" cy="457200"/>
          </a:xfrm>
          <a:prstGeom prst="rect">
            <a:avLst/>
          </a:prstGeom>
          <a:noFill/>
          <a:ln/>
        </p:spPr>
        <p:txBody>
          <a:bodyPr wrap="square" lIns="0" tIns="0" rIns="0" bIns="0" rtlCol="0" anchor="ctr"/>
          <a:lstStyle/>
          <a:p>
            <a:pPr marL="0" indent="0">
              <a:buNone/>
            </a:pPr>
            <a:r>
              <a:rPr lang="en-US" sz="1200" b="1" kern="0" spc="200" dirty="0">
                <a:solidFill>
                  <a:srgbClr val="FFFFFF"/>
                </a:solidFill>
                <a:latin typeface="Calibri" pitchFamily="34" charset="0"/>
                <a:ea typeface="Calibri" pitchFamily="34" charset="-122"/>
                <a:cs typeface="Calibri" pitchFamily="34" charset="-120"/>
              </a:rPr>
              <a:t>Notes</a:t>
            </a:r>
            <a:endParaRPr lang="en-US" sz="1200" dirty="0"/>
          </a:p>
        </p:txBody>
      </p:sp>
      <p:sp>
        <p:nvSpPr>
          <p:cNvPr id="9" name="Shape 7"/>
          <p:cNvSpPr/>
          <p:nvPr/>
        </p:nvSpPr>
        <p:spPr>
          <a:xfrm>
            <a:off x="548640" y="2103120"/>
            <a:ext cx="11064240" cy="411480"/>
          </a:xfrm>
          <a:prstGeom prst="rect">
            <a:avLst/>
          </a:prstGeom>
          <a:solidFill>
            <a:srgbClr val="F7F8FB"/>
          </a:solidFill>
          <a:ln/>
        </p:spPr>
        <p:txBody>
          <a:bodyPr/>
          <a:lstStyle/>
          <a:p>
            <a:endParaRPr lang="en-US"/>
          </a:p>
        </p:txBody>
      </p:sp>
      <p:sp>
        <p:nvSpPr>
          <p:cNvPr id="10" name="Text 8"/>
          <p:cNvSpPr/>
          <p:nvPr/>
        </p:nvSpPr>
        <p:spPr>
          <a:xfrm>
            <a:off x="777240" y="210312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MVC project structure</a:t>
            </a:r>
            <a:endParaRPr lang="en-US" sz="1200" dirty="0"/>
          </a:p>
        </p:txBody>
      </p:sp>
      <p:sp>
        <p:nvSpPr>
          <p:cNvPr id="11" name="Shape 9"/>
          <p:cNvSpPr/>
          <p:nvPr/>
        </p:nvSpPr>
        <p:spPr>
          <a:xfrm>
            <a:off x="5074920" y="2167128"/>
            <a:ext cx="1371600" cy="292608"/>
          </a:xfrm>
          <a:prstGeom prst="rect">
            <a:avLst/>
          </a:prstGeom>
          <a:solidFill>
            <a:srgbClr val="2E8B57"/>
          </a:solidFill>
          <a:ln/>
        </p:spPr>
        <p:txBody>
          <a:bodyPr/>
          <a:lstStyle/>
          <a:p>
            <a:endParaRPr lang="en-US"/>
          </a:p>
        </p:txBody>
      </p:sp>
      <p:sp>
        <p:nvSpPr>
          <p:cNvPr id="12" name="Text 10"/>
          <p:cNvSpPr/>
          <p:nvPr/>
        </p:nvSpPr>
        <p:spPr>
          <a:xfrm>
            <a:off x="5074920" y="216712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13" name="Text 11"/>
          <p:cNvSpPr/>
          <p:nvPr/>
        </p:nvSpPr>
        <p:spPr>
          <a:xfrm>
            <a:off x="6629400" y="210312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Routes / controllers / services / models / views all in place</a:t>
            </a:r>
            <a:endParaRPr lang="en-US" sz="1100" dirty="0"/>
          </a:p>
        </p:txBody>
      </p:sp>
      <p:sp>
        <p:nvSpPr>
          <p:cNvPr id="14" name="Text 12"/>
          <p:cNvSpPr/>
          <p:nvPr/>
        </p:nvSpPr>
        <p:spPr>
          <a:xfrm>
            <a:off x="777240" y="251460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Auth, sessions, RBAC for 5 roles</a:t>
            </a:r>
            <a:endParaRPr lang="en-US" sz="1200" dirty="0"/>
          </a:p>
        </p:txBody>
      </p:sp>
      <p:sp>
        <p:nvSpPr>
          <p:cNvPr id="15" name="Shape 13"/>
          <p:cNvSpPr/>
          <p:nvPr/>
        </p:nvSpPr>
        <p:spPr>
          <a:xfrm>
            <a:off x="5074920" y="2578608"/>
            <a:ext cx="1371600" cy="292608"/>
          </a:xfrm>
          <a:prstGeom prst="rect">
            <a:avLst/>
          </a:prstGeom>
          <a:solidFill>
            <a:srgbClr val="2E8B57"/>
          </a:solidFill>
          <a:ln/>
        </p:spPr>
        <p:txBody>
          <a:bodyPr/>
          <a:lstStyle/>
          <a:p>
            <a:endParaRPr lang="en-US"/>
          </a:p>
        </p:txBody>
      </p:sp>
      <p:sp>
        <p:nvSpPr>
          <p:cNvPr id="16" name="Text 14"/>
          <p:cNvSpPr/>
          <p:nvPr/>
        </p:nvSpPr>
        <p:spPr>
          <a:xfrm>
            <a:off x="5074920" y="257860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17" name="Text 15"/>
          <p:cNvSpPr/>
          <p:nvPr/>
        </p:nvSpPr>
        <p:spPr>
          <a:xfrm>
            <a:off x="6629400" y="251460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helmet, CSP, rate-limit, SQLite session store, role middleware</a:t>
            </a:r>
            <a:endParaRPr lang="en-US" sz="1100" dirty="0"/>
          </a:p>
        </p:txBody>
      </p:sp>
      <p:sp>
        <p:nvSpPr>
          <p:cNvPr id="18" name="Shape 16"/>
          <p:cNvSpPr/>
          <p:nvPr/>
        </p:nvSpPr>
        <p:spPr>
          <a:xfrm>
            <a:off x="548640" y="2926080"/>
            <a:ext cx="11064240" cy="411480"/>
          </a:xfrm>
          <a:prstGeom prst="rect">
            <a:avLst/>
          </a:prstGeom>
          <a:solidFill>
            <a:srgbClr val="F7F8FB"/>
          </a:solidFill>
          <a:ln/>
        </p:spPr>
        <p:txBody>
          <a:bodyPr/>
          <a:lstStyle/>
          <a:p>
            <a:endParaRPr lang="en-US"/>
          </a:p>
        </p:txBody>
      </p:sp>
      <p:sp>
        <p:nvSpPr>
          <p:cNvPr id="19" name="Text 17"/>
          <p:cNvSpPr/>
          <p:nvPr/>
        </p:nvSpPr>
        <p:spPr>
          <a:xfrm>
            <a:off x="777240" y="292608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Reviewer matching (TF-IDF + cosine)</a:t>
            </a:r>
            <a:endParaRPr lang="en-US" sz="1200" dirty="0"/>
          </a:p>
        </p:txBody>
      </p:sp>
      <p:sp>
        <p:nvSpPr>
          <p:cNvPr id="20" name="Shape 18"/>
          <p:cNvSpPr/>
          <p:nvPr/>
        </p:nvSpPr>
        <p:spPr>
          <a:xfrm>
            <a:off x="5074920" y="2990088"/>
            <a:ext cx="1371600" cy="292608"/>
          </a:xfrm>
          <a:prstGeom prst="rect">
            <a:avLst/>
          </a:prstGeom>
          <a:solidFill>
            <a:srgbClr val="2E8B57"/>
          </a:solidFill>
          <a:ln/>
        </p:spPr>
        <p:txBody>
          <a:bodyPr/>
          <a:lstStyle/>
          <a:p>
            <a:endParaRPr lang="en-US"/>
          </a:p>
        </p:txBody>
      </p:sp>
      <p:sp>
        <p:nvSpPr>
          <p:cNvPr id="21" name="Text 19"/>
          <p:cNvSpPr/>
          <p:nvPr/>
        </p:nvSpPr>
        <p:spPr>
          <a:xfrm>
            <a:off x="5074920" y="299008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22" name="Text 20"/>
          <p:cNvSpPr/>
          <p:nvPr/>
        </p:nvSpPr>
        <p:spPr>
          <a:xfrm>
            <a:off x="6629400" y="292608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Working today on the heuristic backend — verifiable in the editor dashboard</a:t>
            </a:r>
            <a:endParaRPr lang="en-US" sz="1100" dirty="0"/>
          </a:p>
        </p:txBody>
      </p:sp>
      <p:sp>
        <p:nvSpPr>
          <p:cNvPr id="23" name="Text 21"/>
          <p:cNvSpPr/>
          <p:nvPr/>
        </p:nvSpPr>
        <p:spPr>
          <a:xfrm>
            <a:off x="777240" y="333756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Plagiarism similarity scoring</a:t>
            </a:r>
            <a:endParaRPr lang="en-US" sz="1200" dirty="0"/>
          </a:p>
        </p:txBody>
      </p:sp>
      <p:sp>
        <p:nvSpPr>
          <p:cNvPr id="24" name="Shape 22"/>
          <p:cNvSpPr/>
          <p:nvPr/>
        </p:nvSpPr>
        <p:spPr>
          <a:xfrm>
            <a:off x="5074920" y="3401568"/>
            <a:ext cx="1371600" cy="292608"/>
          </a:xfrm>
          <a:prstGeom prst="rect">
            <a:avLst/>
          </a:prstGeom>
          <a:solidFill>
            <a:srgbClr val="2E8B57"/>
          </a:solidFill>
          <a:ln/>
        </p:spPr>
        <p:txBody>
          <a:bodyPr/>
          <a:lstStyle/>
          <a:p>
            <a:endParaRPr lang="en-US"/>
          </a:p>
        </p:txBody>
      </p:sp>
      <p:sp>
        <p:nvSpPr>
          <p:cNvPr id="25" name="Text 23"/>
          <p:cNvSpPr/>
          <p:nvPr/>
        </p:nvSpPr>
        <p:spPr>
          <a:xfrm>
            <a:off x="5074920" y="340156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26" name="Text 24"/>
          <p:cNvSpPr/>
          <p:nvPr/>
        </p:nvSpPr>
        <p:spPr>
          <a:xfrm>
            <a:off x="6629400" y="333756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Running on every submission against the existing corpus</a:t>
            </a:r>
            <a:endParaRPr lang="en-US" sz="1100" dirty="0"/>
          </a:p>
        </p:txBody>
      </p:sp>
      <p:sp>
        <p:nvSpPr>
          <p:cNvPr id="27" name="Shape 25"/>
          <p:cNvSpPr/>
          <p:nvPr/>
        </p:nvSpPr>
        <p:spPr>
          <a:xfrm>
            <a:off x="548640" y="3749040"/>
            <a:ext cx="11064240" cy="411480"/>
          </a:xfrm>
          <a:prstGeom prst="rect">
            <a:avLst/>
          </a:prstGeom>
          <a:solidFill>
            <a:srgbClr val="F7F8FB"/>
          </a:solidFill>
          <a:ln/>
        </p:spPr>
        <p:txBody>
          <a:bodyPr/>
          <a:lstStyle/>
          <a:p>
            <a:endParaRPr lang="en-US"/>
          </a:p>
        </p:txBody>
      </p:sp>
      <p:sp>
        <p:nvSpPr>
          <p:cNvPr id="28" name="Text 26"/>
          <p:cNvSpPr/>
          <p:nvPr/>
        </p:nvSpPr>
        <p:spPr>
          <a:xfrm>
            <a:off x="777240" y="374904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AI-text stylometric flag</a:t>
            </a:r>
            <a:endParaRPr lang="en-US" sz="1200" dirty="0"/>
          </a:p>
        </p:txBody>
      </p:sp>
      <p:sp>
        <p:nvSpPr>
          <p:cNvPr id="29" name="Shape 27"/>
          <p:cNvSpPr/>
          <p:nvPr/>
        </p:nvSpPr>
        <p:spPr>
          <a:xfrm>
            <a:off x="5074920" y="3813048"/>
            <a:ext cx="1371600" cy="292608"/>
          </a:xfrm>
          <a:prstGeom prst="rect">
            <a:avLst/>
          </a:prstGeom>
          <a:solidFill>
            <a:srgbClr val="2E8B57"/>
          </a:solidFill>
          <a:ln/>
        </p:spPr>
        <p:txBody>
          <a:bodyPr/>
          <a:lstStyle/>
          <a:p>
            <a:endParaRPr lang="en-US"/>
          </a:p>
        </p:txBody>
      </p:sp>
      <p:sp>
        <p:nvSpPr>
          <p:cNvPr id="30" name="Text 28"/>
          <p:cNvSpPr/>
          <p:nvPr/>
        </p:nvSpPr>
        <p:spPr>
          <a:xfrm>
            <a:off x="5074920" y="381304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DONE</a:t>
            </a:r>
            <a:endParaRPr lang="en-US" sz="900" dirty="0"/>
          </a:p>
        </p:txBody>
      </p:sp>
      <p:sp>
        <p:nvSpPr>
          <p:cNvPr id="31" name="Text 29"/>
          <p:cNvSpPr/>
          <p:nvPr/>
        </p:nvSpPr>
        <p:spPr>
          <a:xfrm>
            <a:off x="6629400" y="374904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Transparent sub-signals exposed to the editor</a:t>
            </a:r>
            <a:endParaRPr lang="en-US" sz="1100" dirty="0"/>
          </a:p>
        </p:txBody>
      </p:sp>
      <p:sp>
        <p:nvSpPr>
          <p:cNvPr id="32" name="Text 30"/>
          <p:cNvSpPr/>
          <p:nvPr/>
        </p:nvSpPr>
        <p:spPr>
          <a:xfrm>
            <a:off x="777240" y="416052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AI reviewer draft (heuristic templates)</a:t>
            </a:r>
            <a:endParaRPr lang="en-US" sz="1200" dirty="0"/>
          </a:p>
        </p:txBody>
      </p:sp>
      <p:sp>
        <p:nvSpPr>
          <p:cNvPr id="33" name="Shape 31"/>
          <p:cNvSpPr/>
          <p:nvPr/>
        </p:nvSpPr>
        <p:spPr>
          <a:xfrm>
            <a:off x="5074920" y="4224528"/>
            <a:ext cx="1371600" cy="292608"/>
          </a:xfrm>
          <a:prstGeom prst="rect">
            <a:avLst/>
          </a:prstGeom>
          <a:solidFill>
            <a:srgbClr val="F4B942"/>
          </a:solidFill>
          <a:ln/>
        </p:spPr>
        <p:txBody>
          <a:bodyPr/>
          <a:lstStyle/>
          <a:p>
            <a:endParaRPr lang="en-US"/>
          </a:p>
        </p:txBody>
      </p:sp>
      <p:sp>
        <p:nvSpPr>
          <p:cNvPr id="34" name="Text 32"/>
          <p:cNvSpPr/>
          <p:nvPr/>
        </p:nvSpPr>
        <p:spPr>
          <a:xfrm>
            <a:off x="5074920" y="422452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SCAFFOLDED</a:t>
            </a:r>
            <a:endParaRPr lang="en-US" sz="900" dirty="0"/>
          </a:p>
        </p:txBody>
      </p:sp>
      <p:sp>
        <p:nvSpPr>
          <p:cNvPr id="35" name="Text 33"/>
          <p:cNvSpPr/>
          <p:nvPr/>
        </p:nvSpPr>
        <p:spPr>
          <a:xfrm>
            <a:off x="6629400" y="416052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UI + API in place; switches to real LLM once API key supplied</a:t>
            </a:r>
            <a:endParaRPr lang="en-US" sz="1100" dirty="0"/>
          </a:p>
        </p:txBody>
      </p:sp>
      <p:sp>
        <p:nvSpPr>
          <p:cNvPr id="36" name="Shape 34"/>
          <p:cNvSpPr/>
          <p:nvPr/>
        </p:nvSpPr>
        <p:spPr>
          <a:xfrm>
            <a:off x="548640" y="4572000"/>
            <a:ext cx="11064240" cy="411480"/>
          </a:xfrm>
          <a:prstGeom prst="rect">
            <a:avLst/>
          </a:prstGeom>
          <a:solidFill>
            <a:srgbClr val="F7F8FB"/>
          </a:solidFill>
          <a:ln/>
        </p:spPr>
        <p:txBody>
          <a:bodyPr/>
          <a:lstStyle/>
          <a:p>
            <a:endParaRPr lang="en-US"/>
          </a:p>
        </p:txBody>
      </p:sp>
      <p:sp>
        <p:nvSpPr>
          <p:cNvPr id="37" name="Text 35"/>
          <p:cNvSpPr/>
          <p:nvPr/>
        </p:nvSpPr>
        <p:spPr>
          <a:xfrm>
            <a:off x="777240" y="457200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Author writing assistant (heuristic)</a:t>
            </a:r>
            <a:endParaRPr lang="en-US" sz="1200" dirty="0"/>
          </a:p>
        </p:txBody>
      </p:sp>
      <p:sp>
        <p:nvSpPr>
          <p:cNvPr id="38" name="Shape 36"/>
          <p:cNvSpPr/>
          <p:nvPr/>
        </p:nvSpPr>
        <p:spPr>
          <a:xfrm>
            <a:off x="5074920" y="4636008"/>
            <a:ext cx="1371600" cy="292608"/>
          </a:xfrm>
          <a:prstGeom prst="rect">
            <a:avLst/>
          </a:prstGeom>
          <a:solidFill>
            <a:srgbClr val="F4B942"/>
          </a:solidFill>
          <a:ln/>
        </p:spPr>
        <p:txBody>
          <a:bodyPr/>
          <a:lstStyle/>
          <a:p>
            <a:endParaRPr lang="en-US"/>
          </a:p>
        </p:txBody>
      </p:sp>
      <p:sp>
        <p:nvSpPr>
          <p:cNvPr id="39" name="Text 37"/>
          <p:cNvSpPr/>
          <p:nvPr/>
        </p:nvSpPr>
        <p:spPr>
          <a:xfrm>
            <a:off x="5074920" y="463600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SCAFFOLDED</a:t>
            </a:r>
            <a:endParaRPr lang="en-US" sz="900" dirty="0"/>
          </a:p>
        </p:txBody>
      </p:sp>
      <p:sp>
        <p:nvSpPr>
          <p:cNvPr id="40" name="Text 38"/>
          <p:cNvSpPr/>
          <p:nvPr/>
        </p:nvSpPr>
        <p:spPr>
          <a:xfrm>
            <a:off x="6629400" y="457200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Polish / titles / keywords scaffolded; LLM call ready to flip on</a:t>
            </a:r>
            <a:endParaRPr lang="en-US" sz="1100" dirty="0"/>
          </a:p>
        </p:txBody>
      </p:sp>
      <p:sp>
        <p:nvSpPr>
          <p:cNvPr id="41" name="Text 39"/>
          <p:cNvSpPr/>
          <p:nvPr/>
        </p:nvSpPr>
        <p:spPr>
          <a:xfrm>
            <a:off x="777240" y="498348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Claude API integration</a:t>
            </a:r>
            <a:endParaRPr lang="en-US" sz="1200" dirty="0"/>
          </a:p>
        </p:txBody>
      </p:sp>
      <p:sp>
        <p:nvSpPr>
          <p:cNvPr id="42" name="Shape 40"/>
          <p:cNvSpPr/>
          <p:nvPr/>
        </p:nvSpPr>
        <p:spPr>
          <a:xfrm>
            <a:off x="5074920" y="5047488"/>
            <a:ext cx="1371600" cy="292608"/>
          </a:xfrm>
          <a:prstGeom prst="rect">
            <a:avLst/>
          </a:prstGeom>
          <a:solidFill>
            <a:srgbClr val="1E2761"/>
          </a:solidFill>
          <a:ln/>
        </p:spPr>
        <p:txBody>
          <a:bodyPr/>
          <a:lstStyle/>
          <a:p>
            <a:endParaRPr lang="en-US"/>
          </a:p>
        </p:txBody>
      </p:sp>
      <p:sp>
        <p:nvSpPr>
          <p:cNvPr id="43" name="Text 41"/>
          <p:cNvSpPr/>
          <p:nvPr/>
        </p:nvSpPr>
        <p:spPr>
          <a:xfrm>
            <a:off x="5074920" y="504748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PLANNED</a:t>
            </a:r>
            <a:endParaRPr lang="en-US" sz="900" dirty="0"/>
          </a:p>
        </p:txBody>
      </p:sp>
      <p:sp>
        <p:nvSpPr>
          <p:cNvPr id="44" name="Text 42"/>
          <p:cNvSpPr/>
          <p:nvPr/>
        </p:nvSpPr>
        <p:spPr>
          <a:xfrm>
            <a:off x="6629400" y="498348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Adapter committed; activates with one env var; deferred until budget approved</a:t>
            </a:r>
            <a:endParaRPr lang="en-US" sz="1100" dirty="0"/>
          </a:p>
        </p:txBody>
      </p:sp>
      <p:sp>
        <p:nvSpPr>
          <p:cNvPr id="45" name="Shape 43"/>
          <p:cNvSpPr/>
          <p:nvPr/>
        </p:nvSpPr>
        <p:spPr>
          <a:xfrm>
            <a:off x="548640" y="5394960"/>
            <a:ext cx="11064240" cy="411480"/>
          </a:xfrm>
          <a:prstGeom prst="rect">
            <a:avLst/>
          </a:prstGeom>
          <a:solidFill>
            <a:srgbClr val="F7F8FB"/>
          </a:solidFill>
          <a:ln/>
        </p:spPr>
        <p:txBody>
          <a:bodyPr/>
          <a:lstStyle/>
          <a:p>
            <a:endParaRPr lang="en-US"/>
          </a:p>
        </p:txBody>
      </p:sp>
      <p:sp>
        <p:nvSpPr>
          <p:cNvPr id="46" name="Text 44"/>
          <p:cNvSpPr/>
          <p:nvPr/>
        </p:nvSpPr>
        <p:spPr>
          <a:xfrm>
            <a:off x="777240" y="539496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Sentence-transformer embeddings</a:t>
            </a:r>
            <a:endParaRPr lang="en-US" sz="1200" dirty="0"/>
          </a:p>
        </p:txBody>
      </p:sp>
      <p:sp>
        <p:nvSpPr>
          <p:cNvPr id="47" name="Shape 45"/>
          <p:cNvSpPr/>
          <p:nvPr/>
        </p:nvSpPr>
        <p:spPr>
          <a:xfrm>
            <a:off x="5074920" y="5458968"/>
            <a:ext cx="1371600" cy="292608"/>
          </a:xfrm>
          <a:prstGeom prst="rect">
            <a:avLst/>
          </a:prstGeom>
          <a:solidFill>
            <a:srgbClr val="1E2761"/>
          </a:solidFill>
          <a:ln/>
        </p:spPr>
        <p:txBody>
          <a:bodyPr/>
          <a:lstStyle/>
          <a:p>
            <a:endParaRPr lang="en-US"/>
          </a:p>
        </p:txBody>
      </p:sp>
      <p:sp>
        <p:nvSpPr>
          <p:cNvPr id="48" name="Text 46"/>
          <p:cNvSpPr/>
          <p:nvPr/>
        </p:nvSpPr>
        <p:spPr>
          <a:xfrm>
            <a:off x="5074920" y="545896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PLANNED</a:t>
            </a:r>
            <a:endParaRPr lang="en-US" sz="900" dirty="0"/>
          </a:p>
        </p:txBody>
      </p:sp>
      <p:sp>
        <p:nvSpPr>
          <p:cNvPr id="49" name="Text 47"/>
          <p:cNvSpPr/>
          <p:nvPr/>
        </p:nvSpPr>
        <p:spPr>
          <a:xfrm>
            <a:off x="6629400" y="539496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Roadmap item for Assessment 2 — replaces TF-IDF for richer matching</a:t>
            </a:r>
            <a:endParaRPr lang="en-US" sz="1100" dirty="0"/>
          </a:p>
        </p:txBody>
      </p:sp>
      <p:sp>
        <p:nvSpPr>
          <p:cNvPr id="50" name="Text 48"/>
          <p:cNvSpPr/>
          <p:nvPr/>
        </p:nvSpPr>
        <p:spPr>
          <a:xfrm>
            <a:off x="777240" y="5806440"/>
            <a:ext cx="4114800" cy="411480"/>
          </a:xfrm>
          <a:prstGeom prst="rect">
            <a:avLst/>
          </a:prstGeom>
          <a:noFill/>
          <a:ln/>
        </p:spPr>
        <p:txBody>
          <a:bodyPr wrap="square" lIns="0" tIns="0" rIns="0" bIns="0" rtlCol="0" anchor="ctr"/>
          <a:lstStyle/>
          <a:p>
            <a:pPr marL="0" indent="0">
              <a:buNone/>
            </a:pPr>
            <a:r>
              <a:rPr lang="en-US" sz="1200" b="1" dirty="0">
                <a:solidFill>
                  <a:srgbClr val="0F1538"/>
                </a:solidFill>
                <a:latin typeface="Calibri" pitchFamily="34" charset="0"/>
                <a:ea typeface="Calibri" pitchFamily="34" charset="-122"/>
                <a:cs typeface="Calibri" pitchFamily="34" charset="-120"/>
              </a:rPr>
              <a:t>User study + benchmarking</a:t>
            </a:r>
            <a:endParaRPr lang="en-US" sz="1200" dirty="0"/>
          </a:p>
        </p:txBody>
      </p:sp>
      <p:sp>
        <p:nvSpPr>
          <p:cNvPr id="51" name="Shape 49"/>
          <p:cNvSpPr/>
          <p:nvPr/>
        </p:nvSpPr>
        <p:spPr>
          <a:xfrm>
            <a:off x="5074920" y="5870448"/>
            <a:ext cx="1371600" cy="292608"/>
          </a:xfrm>
          <a:prstGeom prst="rect">
            <a:avLst/>
          </a:prstGeom>
          <a:solidFill>
            <a:srgbClr val="1E2761"/>
          </a:solidFill>
          <a:ln/>
        </p:spPr>
        <p:txBody>
          <a:bodyPr/>
          <a:lstStyle/>
          <a:p>
            <a:endParaRPr lang="en-US"/>
          </a:p>
        </p:txBody>
      </p:sp>
      <p:sp>
        <p:nvSpPr>
          <p:cNvPr id="52" name="Text 50"/>
          <p:cNvSpPr/>
          <p:nvPr/>
        </p:nvSpPr>
        <p:spPr>
          <a:xfrm>
            <a:off x="5074920" y="5870448"/>
            <a:ext cx="1371600" cy="292608"/>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PLANNED</a:t>
            </a:r>
            <a:endParaRPr lang="en-US" sz="900" dirty="0"/>
          </a:p>
        </p:txBody>
      </p:sp>
      <p:sp>
        <p:nvSpPr>
          <p:cNvPr id="53" name="Text 51"/>
          <p:cNvSpPr/>
          <p:nvPr/>
        </p:nvSpPr>
        <p:spPr>
          <a:xfrm>
            <a:off x="6629400" y="5806440"/>
            <a:ext cx="4846320" cy="411480"/>
          </a:xfrm>
          <a:prstGeom prst="rect">
            <a:avLst/>
          </a:prstGeom>
          <a:noFill/>
          <a:ln/>
        </p:spPr>
        <p:txBody>
          <a:bodyPr wrap="square" lIns="0" tIns="0" rIns="0" bIns="0" rtlCol="0" anchor="ctr"/>
          <a:lstStyle/>
          <a:p>
            <a:pPr marL="0" indent="0">
              <a:buNone/>
            </a:pPr>
            <a:r>
              <a:rPr lang="en-US" sz="1100" i="1" dirty="0">
                <a:solidFill>
                  <a:srgbClr val="5C6488"/>
                </a:solidFill>
                <a:latin typeface="Calibri" pitchFamily="34" charset="0"/>
                <a:ea typeface="Calibri" pitchFamily="34" charset="-122"/>
                <a:cs typeface="Calibri" pitchFamily="34" charset="-120"/>
              </a:rPr>
              <a:t>Planned for Assessment 2; ai_audit table already collects the data</a:t>
            </a:r>
            <a:endParaRPr lang="en-US" sz="1100" dirty="0"/>
          </a:p>
        </p:txBody>
      </p:sp>
      <p:sp>
        <p:nvSpPr>
          <p:cNvPr id="54" name="Text 52"/>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55" name="Text 53"/>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10972800" cy="640080"/>
          </a:xfrm>
          <a:prstGeom prst="rect">
            <a:avLst/>
          </a:prstGeom>
          <a:noFill/>
          <a:ln/>
        </p:spPr>
        <p:txBody>
          <a:bodyPr wrap="square" lIns="0" tIns="0" rIns="0" bIns="0" rtlCol="0" anchor="ctr"/>
          <a:lstStyle/>
          <a:p>
            <a:pPr marL="0" indent="0">
              <a:buNone/>
            </a:pPr>
            <a:r>
              <a:rPr lang="en-US" sz="3200" b="1" dirty="0">
                <a:solidFill>
                  <a:srgbClr val="0F1538"/>
                </a:solidFill>
                <a:latin typeface="Georgia" pitchFamily="34" charset="0"/>
                <a:ea typeface="Georgia" pitchFamily="34" charset="-122"/>
                <a:cs typeface="Georgia" pitchFamily="34" charset="-120"/>
              </a:rPr>
              <a:t>AI tools I used to build this</a:t>
            </a:r>
            <a:endParaRPr lang="en-US" sz="3200" dirty="0"/>
          </a:p>
        </p:txBody>
      </p:sp>
      <p:sp>
        <p:nvSpPr>
          <p:cNvPr id="4" name="Text 2"/>
          <p:cNvSpPr/>
          <p:nvPr/>
        </p:nvSpPr>
        <p:spPr>
          <a:xfrm>
            <a:off x="548640" y="960120"/>
            <a:ext cx="10972800" cy="365760"/>
          </a:xfrm>
          <a:prstGeom prst="rect">
            <a:avLst/>
          </a:prstGeom>
          <a:noFill/>
          <a:ln/>
        </p:spPr>
        <p:txBody>
          <a:bodyPr wrap="square" lIns="0" tIns="0" rIns="0" bIns="0" rtlCol="0" anchor="ctr"/>
          <a:lstStyle/>
          <a:p>
            <a:pPr marL="0" indent="0">
              <a:buNone/>
            </a:pPr>
            <a:r>
              <a:rPr lang="en-US" sz="1400" i="1" dirty="0">
                <a:solidFill>
                  <a:srgbClr val="5C6488"/>
                </a:solidFill>
                <a:latin typeface="Calibri" pitchFamily="34" charset="0"/>
                <a:ea typeface="Calibri" pitchFamily="34" charset="-122"/>
                <a:cs typeface="Calibri" pitchFamily="34" charset="-120"/>
              </a:rPr>
              <a:t>How I shipped a 36-file codebase, a report, and this deck in days</a:t>
            </a:r>
            <a:endParaRPr lang="en-US" sz="1400" dirty="0"/>
          </a:p>
        </p:txBody>
      </p:sp>
      <p:sp>
        <p:nvSpPr>
          <p:cNvPr id="5" name="Shape 3"/>
          <p:cNvSpPr/>
          <p:nvPr/>
        </p:nvSpPr>
        <p:spPr>
          <a:xfrm>
            <a:off x="548640" y="1645920"/>
            <a:ext cx="3520440" cy="4023360"/>
          </a:xfrm>
          <a:prstGeom prst="rect">
            <a:avLst/>
          </a:prstGeom>
          <a:solidFill>
            <a:srgbClr val="F7F8FB"/>
          </a:solidFill>
          <a:ln w="12700">
            <a:solidFill>
              <a:srgbClr val="E2E5EE"/>
            </a:solidFill>
            <a:prstDash val="solid"/>
          </a:ln>
        </p:spPr>
        <p:txBody>
          <a:bodyPr/>
          <a:lstStyle/>
          <a:p>
            <a:endParaRPr lang="en-US"/>
          </a:p>
        </p:txBody>
      </p:sp>
      <p:sp>
        <p:nvSpPr>
          <p:cNvPr id="6" name="Shape 4"/>
          <p:cNvSpPr/>
          <p:nvPr/>
        </p:nvSpPr>
        <p:spPr>
          <a:xfrm>
            <a:off x="548640" y="1645920"/>
            <a:ext cx="3520440" cy="73152"/>
          </a:xfrm>
          <a:prstGeom prst="rect">
            <a:avLst/>
          </a:prstGeom>
          <a:solidFill>
            <a:srgbClr val="1E2761"/>
          </a:solidFill>
          <a:ln/>
        </p:spPr>
        <p:txBody>
          <a:bodyPr/>
          <a:lstStyle/>
          <a:p>
            <a:endParaRPr lang="en-US"/>
          </a:p>
        </p:txBody>
      </p:sp>
      <p:sp>
        <p:nvSpPr>
          <p:cNvPr id="7" name="Shape 5"/>
          <p:cNvSpPr/>
          <p:nvPr/>
        </p:nvSpPr>
        <p:spPr>
          <a:xfrm>
            <a:off x="822960" y="1874520"/>
            <a:ext cx="777240" cy="777240"/>
          </a:xfrm>
          <a:prstGeom prst="ellipse">
            <a:avLst/>
          </a:prstGeom>
          <a:solidFill>
            <a:srgbClr val="1E2761"/>
          </a:solidFill>
          <a:ln/>
        </p:spPr>
        <p:txBody>
          <a:bodyPr/>
          <a:lstStyle/>
          <a:p>
            <a:endParaRPr lang="en-US"/>
          </a:p>
        </p:txBody>
      </p:sp>
      <p:pic>
        <p:nvPicPr>
          <p:cNvPr id="8" name="Image 0" descr="preencoded.png"/>
          <p:cNvPicPr>
            <a:picLocks noChangeAspect="1"/>
          </p:cNvPicPr>
          <p:nvPr/>
        </p:nvPicPr>
        <p:blipFill>
          <a:blip r:embed="rId3"/>
          <a:stretch>
            <a:fillRect/>
          </a:stretch>
        </p:blipFill>
        <p:spPr>
          <a:xfrm>
            <a:off x="1005840" y="2057400"/>
            <a:ext cx="411480" cy="411480"/>
          </a:xfrm>
          <a:prstGeom prst="rect">
            <a:avLst/>
          </a:prstGeom>
        </p:spPr>
      </p:pic>
      <p:sp>
        <p:nvSpPr>
          <p:cNvPr id="9" name="Text 6"/>
          <p:cNvSpPr/>
          <p:nvPr/>
        </p:nvSpPr>
        <p:spPr>
          <a:xfrm>
            <a:off x="1737360" y="1874520"/>
            <a:ext cx="2286000" cy="41148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Claude</a:t>
            </a:r>
            <a:endParaRPr lang="en-US" sz="1800" dirty="0"/>
          </a:p>
        </p:txBody>
      </p:sp>
      <p:sp>
        <p:nvSpPr>
          <p:cNvPr id="10" name="Text 7"/>
          <p:cNvSpPr/>
          <p:nvPr/>
        </p:nvSpPr>
        <p:spPr>
          <a:xfrm>
            <a:off x="1737360" y="2286000"/>
            <a:ext cx="2286000" cy="3200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Sonnet 4.6 (chat + code)</a:t>
            </a:r>
            <a:endParaRPr lang="en-US" sz="1100" dirty="0"/>
          </a:p>
        </p:txBody>
      </p:sp>
      <p:sp>
        <p:nvSpPr>
          <p:cNvPr id="11" name="Text 8"/>
          <p:cNvSpPr/>
          <p:nvPr/>
        </p:nvSpPr>
        <p:spPr>
          <a:xfrm>
            <a:off x="822960" y="2834640"/>
            <a:ext cx="3017520" cy="173736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Architecture decisions, full code generation, the 1500-word report, this presentation. The main brain throughout.</a:t>
            </a:r>
            <a:endParaRPr lang="en-US" sz="1300" dirty="0"/>
          </a:p>
        </p:txBody>
      </p:sp>
      <p:sp>
        <p:nvSpPr>
          <p:cNvPr id="12" name="Shape 9"/>
          <p:cNvSpPr/>
          <p:nvPr/>
        </p:nvSpPr>
        <p:spPr>
          <a:xfrm>
            <a:off x="822960" y="5120640"/>
            <a:ext cx="2971800" cy="411480"/>
          </a:xfrm>
          <a:prstGeom prst="rect">
            <a:avLst/>
          </a:prstGeom>
          <a:solidFill>
            <a:srgbClr val="CADCFC"/>
          </a:solidFill>
          <a:ln/>
        </p:spPr>
        <p:txBody>
          <a:bodyPr/>
          <a:lstStyle/>
          <a:p>
            <a:endParaRPr lang="en-US"/>
          </a:p>
        </p:txBody>
      </p:sp>
      <p:sp>
        <p:nvSpPr>
          <p:cNvPr id="13" name="Text 10"/>
          <p:cNvSpPr/>
          <p:nvPr/>
        </p:nvSpPr>
        <p:spPr>
          <a:xfrm>
            <a:off x="822960" y="5120640"/>
            <a:ext cx="2971800" cy="41148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main coding partner</a:t>
            </a:r>
            <a:endParaRPr lang="en-US" sz="1100" dirty="0"/>
          </a:p>
        </p:txBody>
      </p:sp>
      <p:sp>
        <p:nvSpPr>
          <p:cNvPr id="14" name="Shape 11"/>
          <p:cNvSpPr/>
          <p:nvPr/>
        </p:nvSpPr>
        <p:spPr>
          <a:xfrm>
            <a:off x="4526280" y="1645920"/>
            <a:ext cx="3520440" cy="4023360"/>
          </a:xfrm>
          <a:prstGeom prst="rect">
            <a:avLst/>
          </a:prstGeom>
          <a:solidFill>
            <a:srgbClr val="F7F8FB"/>
          </a:solidFill>
          <a:ln w="12700">
            <a:solidFill>
              <a:srgbClr val="E2E5EE"/>
            </a:solidFill>
            <a:prstDash val="solid"/>
          </a:ln>
        </p:spPr>
        <p:txBody>
          <a:bodyPr/>
          <a:lstStyle/>
          <a:p>
            <a:endParaRPr lang="en-US"/>
          </a:p>
        </p:txBody>
      </p:sp>
      <p:sp>
        <p:nvSpPr>
          <p:cNvPr id="15" name="Shape 12"/>
          <p:cNvSpPr/>
          <p:nvPr/>
        </p:nvSpPr>
        <p:spPr>
          <a:xfrm>
            <a:off x="4526280" y="1645920"/>
            <a:ext cx="3520440" cy="73152"/>
          </a:xfrm>
          <a:prstGeom prst="rect">
            <a:avLst/>
          </a:prstGeom>
          <a:solidFill>
            <a:srgbClr val="1E2761"/>
          </a:solidFill>
          <a:ln/>
        </p:spPr>
        <p:txBody>
          <a:bodyPr/>
          <a:lstStyle/>
          <a:p>
            <a:endParaRPr lang="en-US"/>
          </a:p>
        </p:txBody>
      </p:sp>
      <p:sp>
        <p:nvSpPr>
          <p:cNvPr id="16" name="Shape 13"/>
          <p:cNvSpPr/>
          <p:nvPr/>
        </p:nvSpPr>
        <p:spPr>
          <a:xfrm>
            <a:off x="4800600" y="1874520"/>
            <a:ext cx="777240" cy="777240"/>
          </a:xfrm>
          <a:prstGeom prst="ellipse">
            <a:avLst/>
          </a:prstGeom>
          <a:solidFill>
            <a:srgbClr val="1E2761"/>
          </a:solidFill>
          <a:ln/>
        </p:spPr>
        <p:txBody>
          <a:bodyPr/>
          <a:lstStyle/>
          <a:p>
            <a:endParaRPr lang="en-US"/>
          </a:p>
        </p:txBody>
      </p:sp>
      <p:pic>
        <p:nvPicPr>
          <p:cNvPr id="17" name="Image 1" descr="preencoded.png"/>
          <p:cNvPicPr>
            <a:picLocks noChangeAspect="1"/>
          </p:cNvPicPr>
          <p:nvPr/>
        </p:nvPicPr>
        <p:blipFill>
          <a:blip r:embed="rId4"/>
          <a:stretch>
            <a:fillRect/>
          </a:stretch>
        </p:blipFill>
        <p:spPr>
          <a:xfrm>
            <a:off x="4983480" y="2057400"/>
            <a:ext cx="411480" cy="411480"/>
          </a:xfrm>
          <a:prstGeom prst="rect">
            <a:avLst/>
          </a:prstGeom>
        </p:spPr>
      </p:pic>
      <p:sp>
        <p:nvSpPr>
          <p:cNvPr id="18" name="Text 14"/>
          <p:cNvSpPr/>
          <p:nvPr/>
        </p:nvSpPr>
        <p:spPr>
          <a:xfrm>
            <a:off x="5715000" y="1874520"/>
            <a:ext cx="2286000" cy="41148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Whisper Flow</a:t>
            </a:r>
            <a:endParaRPr lang="en-US" sz="1800" dirty="0"/>
          </a:p>
        </p:txBody>
      </p:sp>
      <p:sp>
        <p:nvSpPr>
          <p:cNvPr id="19" name="Text 15"/>
          <p:cNvSpPr/>
          <p:nvPr/>
        </p:nvSpPr>
        <p:spPr>
          <a:xfrm>
            <a:off x="5715000" y="2286000"/>
            <a:ext cx="2286000" cy="3200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voice → text dictation</a:t>
            </a:r>
            <a:endParaRPr lang="en-US" sz="1100" dirty="0"/>
          </a:p>
        </p:txBody>
      </p:sp>
      <p:sp>
        <p:nvSpPr>
          <p:cNvPr id="20" name="Text 16"/>
          <p:cNvSpPr/>
          <p:nvPr/>
        </p:nvSpPr>
        <p:spPr>
          <a:xfrm>
            <a:off x="4800600" y="2834640"/>
            <a:ext cx="3017520" cy="173736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Talked through prompts and design ideas instead of typing. Way faster turnaround when iterating on architecture.</a:t>
            </a:r>
            <a:endParaRPr lang="en-US" sz="1300" dirty="0"/>
          </a:p>
        </p:txBody>
      </p:sp>
      <p:sp>
        <p:nvSpPr>
          <p:cNvPr id="21" name="Shape 17"/>
          <p:cNvSpPr/>
          <p:nvPr/>
        </p:nvSpPr>
        <p:spPr>
          <a:xfrm>
            <a:off x="4800600" y="5120640"/>
            <a:ext cx="2971800" cy="411480"/>
          </a:xfrm>
          <a:prstGeom prst="rect">
            <a:avLst/>
          </a:prstGeom>
          <a:solidFill>
            <a:srgbClr val="CADCFC"/>
          </a:solidFill>
          <a:ln/>
        </p:spPr>
        <p:txBody>
          <a:bodyPr/>
          <a:lstStyle/>
          <a:p>
            <a:endParaRPr lang="en-US"/>
          </a:p>
        </p:txBody>
      </p:sp>
      <p:sp>
        <p:nvSpPr>
          <p:cNvPr id="22" name="Text 18"/>
          <p:cNvSpPr/>
          <p:nvPr/>
        </p:nvSpPr>
        <p:spPr>
          <a:xfrm>
            <a:off x="4800600" y="5120640"/>
            <a:ext cx="2971800" cy="41148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prompt at speaking speed</a:t>
            </a:r>
            <a:endParaRPr lang="en-US" sz="1100" dirty="0"/>
          </a:p>
        </p:txBody>
      </p:sp>
      <p:sp>
        <p:nvSpPr>
          <p:cNvPr id="23" name="Shape 19"/>
          <p:cNvSpPr/>
          <p:nvPr/>
        </p:nvSpPr>
        <p:spPr>
          <a:xfrm>
            <a:off x="8503920" y="1645920"/>
            <a:ext cx="3520440" cy="4023360"/>
          </a:xfrm>
          <a:prstGeom prst="rect">
            <a:avLst/>
          </a:prstGeom>
          <a:solidFill>
            <a:srgbClr val="F7F8FB"/>
          </a:solidFill>
          <a:ln w="12700">
            <a:solidFill>
              <a:srgbClr val="E2E5EE"/>
            </a:solidFill>
            <a:prstDash val="solid"/>
          </a:ln>
        </p:spPr>
        <p:txBody>
          <a:bodyPr/>
          <a:lstStyle/>
          <a:p>
            <a:endParaRPr lang="en-US"/>
          </a:p>
        </p:txBody>
      </p:sp>
      <p:sp>
        <p:nvSpPr>
          <p:cNvPr id="24" name="Shape 20"/>
          <p:cNvSpPr/>
          <p:nvPr/>
        </p:nvSpPr>
        <p:spPr>
          <a:xfrm>
            <a:off x="8503920" y="1645920"/>
            <a:ext cx="3520440" cy="73152"/>
          </a:xfrm>
          <a:prstGeom prst="rect">
            <a:avLst/>
          </a:prstGeom>
          <a:solidFill>
            <a:srgbClr val="1E2761"/>
          </a:solidFill>
          <a:ln/>
        </p:spPr>
        <p:txBody>
          <a:bodyPr/>
          <a:lstStyle/>
          <a:p>
            <a:endParaRPr lang="en-US"/>
          </a:p>
        </p:txBody>
      </p:sp>
      <p:sp>
        <p:nvSpPr>
          <p:cNvPr id="25" name="Shape 21"/>
          <p:cNvSpPr/>
          <p:nvPr/>
        </p:nvSpPr>
        <p:spPr>
          <a:xfrm>
            <a:off x="8778240" y="1874520"/>
            <a:ext cx="777240" cy="777240"/>
          </a:xfrm>
          <a:prstGeom prst="ellipse">
            <a:avLst/>
          </a:prstGeom>
          <a:solidFill>
            <a:srgbClr val="1E2761"/>
          </a:solidFill>
          <a:ln/>
        </p:spPr>
        <p:txBody>
          <a:bodyPr/>
          <a:lstStyle/>
          <a:p>
            <a:endParaRPr lang="en-US"/>
          </a:p>
        </p:txBody>
      </p:sp>
      <p:pic>
        <p:nvPicPr>
          <p:cNvPr id="26" name="Image 2" descr="preencoded.png"/>
          <p:cNvPicPr>
            <a:picLocks noChangeAspect="1"/>
          </p:cNvPicPr>
          <p:nvPr/>
        </p:nvPicPr>
        <p:blipFill>
          <a:blip r:embed="rId5"/>
          <a:stretch>
            <a:fillRect/>
          </a:stretch>
        </p:blipFill>
        <p:spPr>
          <a:xfrm>
            <a:off x="8961120" y="2057400"/>
            <a:ext cx="411480" cy="411480"/>
          </a:xfrm>
          <a:prstGeom prst="rect">
            <a:avLst/>
          </a:prstGeom>
        </p:spPr>
      </p:pic>
      <p:sp>
        <p:nvSpPr>
          <p:cNvPr id="27" name="Text 22"/>
          <p:cNvSpPr/>
          <p:nvPr/>
        </p:nvSpPr>
        <p:spPr>
          <a:xfrm>
            <a:off x="9692640" y="1874520"/>
            <a:ext cx="2286000" cy="411480"/>
          </a:xfrm>
          <a:prstGeom prst="rect">
            <a:avLst/>
          </a:prstGeom>
          <a:noFill/>
          <a:ln/>
        </p:spPr>
        <p:txBody>
          <a:bodyPr wrap="square" lIns="0" tIns="0" rIns="0" bIns="0" rtlCol="0" anchor="ctr"/>
          <a:lstStyle/>
          <a:p>
            <a:pPr marL="0" indent="0">
              <a:buNone/>
            </a:pPr>
            <a:r>
              <a:rPr lang="en-US" sz="1800" b="1" dirty="0">
                <a:solidFill>
                  <a:srgbClr val="0F1538"/>
                </a:solidFill>
                <a:latin typeface="Calibri" pitchFamily="34" charset="0"/>
                <a:ea typeface="Calibri" pitchFamily="34" charset="-122"/>
                <a:cs typeface="Calibri" pitchFamily="34" charset="-120"/>
              </a:rPr>
              <a:t>Cursor</a:t>
            </a:r>
            <a:endParaRPr lang="en-US" sz="1800" dirty="0"/>
          </a:p>
        </p:txBody>
      </p:sp>
      <p:sp>
        <p:nvSpPr>
          <p:cNvPr id="28" name="Text 23"/>
          <p:cNvSpPr/>
          <p:nvPr/>
        </p:nvSpPr>
        <p:spPr>
          <a:xfrm>
            <a:off x="9692640" y="2286000"/>
            <a:ext cx="2286000" cy="3200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AI-native code editor</a:t>
            </a:r>
            <a:endParaRPr lang="en-US" sz="1100" dirty="0"/>
          </a:p>
        </p:txBody>
      </p:sp>
      <p:sp>
        <p:nvSpPr>
          <p:cNvPr id="29" name="Text 24"/>
          <p:cNvSpPr/>
          <p:nvPr/>
        </p:nvSpPr>
        <p:spPr>
          <a:xfrm>
            <a:off x="8778240" y="2834640"/>
            <a:ext cx="3017520" cy="173736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Inline AI completion and refactoring while editing the EJS views and controller code. Tab-to-accept, repeat.</a:t>
            </a:r>
            <a:endParaRPr lang="en-US" sz="1300" dirty="0"/>
          </a:p>
        </p:txBody>
      </p:sp>
      <p:sp>
        <p:nvSpPr>
          <p:cNvPr id="30" name="Shape 25"/>
          <p:cNvSpPr/>
          <p:nvPr/>
        </p:nvSpPr>
        <p:spPr>
          <a:xfrm>
            <a:off x="8778240" y="5120640"/>
            <a:ext cx="2971800" cy="411480"/>
          </a:xfrm>
          <a:prstGeom prst="rect">
            <a:avLst/>
          </a:prstGeom>
          <a:solidFill>
            <a:srgbClr val="CADCFC"/>
          </a:solidFill>
          <a:ln/>
        </p:spPr>
        <p:txBody>
          <a:bodyPr/>
          <a:lstStyle/>
          <a:p>
            <a:endParaRPr lang="en-US"/>
          </a:p>
        </p:txBody>
      </p:sp>
      <p:sp>
        <p:nvSpPr>
          <p:cNvPr id="31" name="Text 26"/>
          <p:cNvSpPr/>
          <p:nvPr/>
        </p:nvSpPr>
        <p:spPr>
          <a:xfrm>
            <a:off x="8778240" y="5120640"/>
            <a:ext cx="2971800" cy="411480"/>
          </a:xfrm>
          <a:prstGeom prst="rect">
            <a:avLst/>
          </a:prstGeom>
          <a:noFill/>
          <a:ln/>
        </p:spPr>
        <p:txBody>
          <a:bodyPr wrap="square" lIns="0" tIns="0" rIns="0" bIns="0"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inline edits</a:t>
            </a:r>
            <a:endParaRPr lang="en-US" sz="1100" dirty="0"/>
          </a:p>
        </p:txBody>
      </p:sp>
      <p:sp>
        <p:nvSpPr>
          <p:cNvPr id="32" name="Shape 27"/>
          <p:cNvSpPr/>
          <p:nvPr/>
        </p:nvSpPr>
        <p:spPr>
          <a:xfrm>
            <a:off x="548640" y="5852160"/>
            <a:ext cx="11064240" cy="640080"/>
          </a:xfrm>
          <a:prstGeom prst="rect">
            <a:avLst/>
          </a:prstGeom>
          <a:solidFill>
            <a:srgbClr val="1E2761"/>
          </a:solidFill>
          <a:ln/>
        </p:spPr>
        <p:txBody>
          <a:bodyPr/>
          <a:lstStyle/>
          <a:p>
            <a:endParaRPr lang="en-US"/>
          </a:p>
        </p:txBody>
      </p:sp>
      <p:sp>
        <p:nvSpPr>
          <p:cNvPr id="33" name="Text 28"/>
          <p:cNvSpPr/>
          <p:nvPr/>
        </p:nvSpPr>
        <p:spPr>
          <a:xfrm>
            <a:off x="548640" y="5852160"/>
            <a:ext cx="11064240" cy="640080"/>
          </a:xfrm>
          <a:prstGeom prst="rect">
            <a:avLst/>
          </a:prstGeom>
          <a:noFill/>
          <a:ln/>
        </p:spPr>
        <p:txBody>
          <a:bodyPr wrap="square" lIns="0" tIns="0" rIns="0" bIns="0" rtlCol="0" anchor="ctr"/>
          <a:lstStyle/>
          <a:p>
            <a:pPr marL="0" indent="0" algn="ctr">
              <a:buNone/>
            </a:pPr>
            <a:r>
              <a:rPr lang="en-US" sz="1100" i="1" dirty="0">
                <a:solidFill>
                  <a:srgbClr val="CADCFC"/>
                </a:solidFill>
                <a:latin typeface="Calibri" pitchFamily="34" charset="0"/>
                <a:ea typeface="Calibri" pitchFamily="34" charset="-122"/>
                <a:cs typeface="Calibri" pitchFamily="34" charset="-120"/>
              </a:rPr>
              <a:t>Also in the chain  ·  ChatGPT for second opinions  ·  GitHub Copilot for repetitive code  ·  Excalidraw for diagrams  ·  Pandoc for docx checks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10972800" cy="640080"/>
          </a:xfrm>
          <a:prstGeom prst="rect">
            <a:avLst/>
          </a:prstGeom>
          <a:noFill/>
          <a:ln/>
        </p:spPr>
        <p:txBody>
          <a:bodyPr wrap="square" lIns="0" tIns="0" rIns="0" bIns="0" rtlCol="0" anchor="ctr"/>
          <a:lstStyle/>
          <a:p>
            <a:pPr marL="0" indent="0">
              <a:buNone/>
            </a:pPr>
            <a:r>
              <a:rPr lang="en-US" sz="3200" b="1" dirty="0">
                <a:solidFill>
                  <a:srgbClr val="0F1538"/>
                </a:solidFill>
                <a:latin typeface="Georgia" pitchFamily="34" charset="0"/>
                <a:ea typeface="Georgia" pitchFamily="34" charset="-122"/>
                <a:cs typeface="Georgia" pitchFamily="34" charset="-120"/>
              </a:rPr>
              <a:t>Ethical considerations</a:t>
            </a:r>
            <a:endParaRPr lang="en-US" sz="3200" dirty="0"/>
          </a:p>
        </p:txBody>
      </p:sp>
      <p:sp>
        <p:nvSpPr>
          <p:cNvPr id="4" name="Text 2"/>
          <p:cNvSpPr/>
          <p:nvPr/>
        </p:nvSpPr>
        <p:spPr>
          <a:xfrm>
            <a:off x="548640" y="960120"/>
            <a:ext cx="10972800" cy="365760"/>
          </a:xfrm>
          <a:prstGeom prst="rect">
            <a:avLst/>
          </a:prstGeom>
          <a:noFill/>
          <a:ln/>
        </p:spPr>
        <p:txBody>
          <a:bodyPr wrap="square" lIns="0" tIns="0" rIns="0" bIns="0" rtlCol="0" anchor="ctr"/>
          <a:lstStyle/>
          <a:p>
            <a:pPr marL="0" indent="0">
              <a:buNone/>
            </a:pPr>
            <a:r>
              <a:rPr lang="en-US" sz="1400" i="1" dirty="0">
                <a:solidFill>
                  <a:srgbClr val="5C6488"/>
                </a:solidFill>
                <a:latin typeface="Calibri" pitchFamily="34" charset="0"/>
                <a:ea typeface="Calibri" pitchFamily="34" charset="-122"/>
                <a:cs typeface="Calibri" pitchFamily="34" charset="-120"/>
              </a:rPr>
              <a:t>Peer review affects careers — we engineer for human accountability</a:t>
            </a:r>
            <a:endParaRPr lang="en-US" sz="1400" dirty="0"/>
          </a:p>
        </p:txBody>
      </p:sp>
      <p:sp>
        <p:nvSpPr>
          <p:cNvPr id="5" name="Shape 3"/>
          <p:cNvSpPr/>
          <p:nvPr/>
        </p:nvSpPr>
        <p:spPr>
          <a:xfrm>
            <a:off x="548640" y="1645920"/>
            <a:ext cx="5486400" cy="2148840"/>
          </a:xfrm>
          <a:prstGeom prst="rect">
            <a:avLst/>
          </a:prstGeom>
          <a:solidFill>
            <a:srgbClr val="F7F8FB"/>
          </a:solidFill>
          <a:ln w="12700">
            <a:solidFill>
              <a:srgbClr val="E2E5EE"/>
            </a:solidFill>
            <a:prstDash val="solid"/>
          </a:ln>
        </p:spPr>
        <p:txBody>
          <a:bodyPr/>
          <a:lstStyle/>
          <a:p>
            <a:endParaRPr lang="en-US"/>
          </a:p>
        </p:txBody>
      </p:sp>
      <p:sp>
        <p:nvSpPr>
          <p:cNvPr id="6" name="Shape 4"/>
          <p:cNvSpPr/>
          <p:nvPr/>
        </p:nvSpPr>
        <p:spPr>
          <a:xfrm>
            <a:off x="868680" y="2011680"/>
            <a:ext cx="640080" cy="640080"/>
          </a:xfrm>
          <a:prstGeom prst="ellipse">
            <a:avLst/>
          </a:prstGeom>
          <a:solidFill>
            <a:srgbClr val="1E276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96696" y="2139696"/>
            <a:ext cx="384048" cy="384048"/>
          </a:xfrm>
          <a:prstGeom prst="rect">
            <a:avLst/>
          </a:prstGeom>
        </p:spPr>
      </p:pic>
      <p:sp>
        <p:nvSpPr>
          <p:cNvPr id="8" name="Text 5"/>
          <p:cNvSpPr/>
          <p:nvPr/>
        </p:nvSpPr>
        <p:spPr>
          <a:xfrm>
            <a:off x="1691640" y="1965960"/>
            <a:ext cx="4206240" cy="50292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Authorship &amp; accountability</a:t>
            </a:r>
            <a:endParaRPr lang="en-US" sz="1700" dirty="0"/>
          </a:p>
        </p:txBody>
      </p:sp>
      <p:sp>
        <p:nvSpPr>
          <p:cNvPr id="9" name="Text 6"/>
          <p:cNvSpPr/>
          <p:nvPr/>
        </p:nvSpPr>
        <p:spPr>
          <a:xfrm>
            <a:off x="868680" y="2743200"/>
            <a:ext cx="4937760" cy="100584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AI drafts; humans submit. ai_assisted flag on every review. The model never autonomously approves anything.</a:t>
            </a:r>
            <a:endParaRPr lang="en-US" sz="1300" dirty="0"/>
          </a:p>
        </p:txBody>
      </p:sp>
      <p:sp>
        <p:nvSpPr>
          <p:cNvPr id="10" name="Shape 7"/>
          <p:cNvSpPr/>
          <p:nvPr/>
        </p:nvSpPr>
        <p:spPr>
          <a:xfrm>
            <a:off x="6199632" y="1645920"/>
            <a:ext cx="5486400" cy="2148840"/>
          </a:xfrm>
          <a:prstGeom prst="rect">
            <a:avLst/>
          </a:prstGeom>
          <a:solidFill>
            <a:srgbClr val="F7F8FB"/>
          </a:solidFill>
          <a:ln w="12700">
            <a:solidFill>
              <a:srgbClr val="E2E5EE"/>
            </a:solidFill>
            <a:prstDash val="solid"/>
          </a:ln>
        </p:spPr>
        <p:txBody>
          <a:bodyPr/>
          <a:lstStyle/>
          <a:p>
            <a:endParaRPr lang="en-US"/>
          </a:p>
        </p:txBody>
      </p:sp>
      <p:sp>
        <p:nvSpPr>
          <p:cNvPr id="11" name="Shape 8"/>
          <p:cNvSpPr/>
          <p:nvPr/>
        </p:nvSpPr>
        <p:spPr>
          <a:xfrm>
            <a:off x="6519672" y="2011680"/>
            <a:ext cx="640080" cy="640080"/>
          </a:xfrm>
          <a:prstGeom prst="ellipse">
            <a:avLst/>
          </a:prstGeom>
          <a:solidFill>
            <a:srgbClr val="1E2761"/>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6647688" y="2139696"/>
            <a:ext cx="384048" cy="384048"/>
          </a:xfrm>
          <a:prstGeom prst="rect">
            <a:avLst/>
          </a:prstGeom>
        </p:spPr>
      </p:pic>
      <p:sp>
        <p:nvSpPr>
          <p:cNvPr id="13" name="Text 9"/>
          <p:cNvSpPr/>
          <p:nvPr/>
        </p:nvSpPr>
        <p:spPr>
          <a:xfrm>
            <a:off x="7342632" y="1965960"/>
            <a:ext cx="4206240" cy="50292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Bias &amp; fairness</a:t>
            </a:r>
            <a:endParaRPr lang="en-US" sz="1700" dirty="0"/>
          </a:p>
        </p:txBody>
      </p:sp>
      <p:sp>
        <p:nvSpPr>
          <p:cNvPr id="14" name="Text 10"/>
          <p:cNvSpPr/>
          <p:nvPr/>
        </p:nvSpPr>
        <p:spPr>
          <a:xfrm>
            <a:off x="6519672" y="2743200"/>
            <a:ext cx="4937760" cy="100584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LLM bias inherited from training data; expertise tags can under-represent niche fields. Editor override + audit trail mitigate.</a:t>
            </a:r>
            <a:endParaRPr lang="en-US" sz="1300" dirty="0"/>
          </a:p>
        </p:txBody>
      </p:sp>
      <p:sp>
        <p:nvSpPr>
          <p:cNvPr id="15" name="Shape 11"/>
          <p:cNvSpPr/>
          <p:nvPr/>
        </p:nvSpPr>
        <p:spPr>
          <a:xfrm>
            <a:off x="548640" y="3977640"/>
            <a:ext cx="5486400" cy="2148840"/>
          </a:xfrm>
          <a:prstGeom prst="rect">
            <a:avLst/>
          </a:prstGeom>
          <a:solidFill>
            <a:srgbClr val="F7F8FB"/>
          </a:solidFill>
          <a:ln w="12700">
            <a:solidFill>
              <a:srgbClr val="E2E5EE"/>
            </a:solidFill>
            <a:prstDash val="solid"/>
          </a:ln>
        </p:spPr>
        <p:txBody>
          <a:bodyPr/>
          <a:lstStyle/>
          <a:p>
            <a:endParaRPr lang="en-US"/>
          </a:p>
        </p:txBody>
      </p:sp>
      <p:sp>
        <p:nvSpPr>
          <p:cNvPr id="16" name="Shape 12"/>
          <p:cNvSpPr/>
          <p:nvPr/>
        </p:nvSpPr>
        <p:spPr>
          <a:xfrm>
            <a:off x="868680" y="4343400"/>
            <a:ext cx="640080" cy="640080"/>
          </a:xfrm>
          <a:prstGeom prst="ellipse">
            <a:avLst/>
          </a:prstGeom>
          <a:solidFill>
            <a:srgbClr val="1E2761"/>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996696" y="4471416"/>
            <a:ext cx="384048" cy="384048"/>
          </a:xfrm>
          <a:prstGeom prst="rect">
            <a:avLst/>
          </a:prstGeom>
        </p:spPr>
      </p:pic>
      <p:sp>
        <p:nvSpPr>
          <p:cNvPr id="18" name="Text 13"/>
          <p:cNvSpPr/>
          <p:nvPr/>
        </p:nvSpPr>
        <p:spPr>
          <a:xfrm>
            <a:off x="1691640" y="4297680"/>
            <a:ext cx="4206240" cy="50292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Privacy &amp; data minimisation</a:t>
            </a:r>
            <a:endParaRPr lang="en-US" sz="1700" dirty="0"/>
          </a:p>
        </p:txBody>
      </p:sp>
      <p:sp>
        <p:nvSpPr>
          <p:cNvPr id="19" name="Text 14"/>
          <p:cNvSpPr/>
          <p:nvPr/>
        </p:nvSpPr>
        <p:spPr>
          <a:xfrm>
            <a:off x="868680" y="5074920"/>
            <a:ext cx="4937760" cy="100584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Defaults to local heuristic backend. When Claude is on, only title + abstract leave the trust boundary. Every external call audited.</a:t>
            </a:r>
            <a:endParaRPr lang="en-US" sz="1300" dirty="0"/>
          </a:p>
        </p:txBody>
      </p:sp>
      <p:sp>
        <p:nvSpPr>
          <p:cNvPr id="20" name="Shape 15"/>
          <p:cNvSpPr/>
          <p:nvPr/>
        </p:nvSpPr>
        <p:spPr>
          <a:xfrm>
            <a:off x="6199632" y="3977640"/>
            <a:ext cx="5486400" cy="2148840"/>
          </a:xfrm>
          <a:prstGeom prst="rect">
            <a:avLst/>
          </a:prstGeom>
          <a:solidFill>
            <a:srgbClr val="F7F8FB"/>
          </a:solidFill>
          <a:ln w="12700">
            <a:solidFill>
              <a:srgbClr val="E2E5EE"/>
            </a:solidFill>
            <a:prstDash val="solid"/>
          </a:ln>
        </p:spPr>
        <p:txBody>
          <a:bodyPr/>
          <a:lstStyle/>
          <a:p>
            <a:endParaRPr lang="en-US"/>
          </a:p>
        </p:txBody>
      </p:sp>
      <p:sp>
        <p:nvSpPr>
          <p:cNvPr id="21" name="Shape 16"/>
          <p:cNvSpPr/>
          <p:nvPr/>
        </p:nvSpPr>
        <p:spPr>
          <a:xfrm>
            <a:off x="6519672" y="4343400"/>
            <a:ext cx="640080" cy="640080"/>
          </a:xfrm>
          <a:prstGeom prst="ellipse">
            <a:avLst/>
          </a:prstGeom>
          <a:solidFill>
            <a:srgbClr val="1E2761"/>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6647688" y="4471416"/>
            <a:ext cx="384048" cy="384048"/>
          </a:xfrm>
          <a:prstGeom prst="rect">
            <a:avLst/>
          </a:prstGeom>
        </p:spPr>
      </p:pic>
      <p:sp>
        <p:nvSpPr>
          <p:cNvPr id="23" name="Text 17"/>
          <p:cNvSpPr/>
          <p:nvPr/>
        </p:nvSpPr>
        <p:spPr>
          <a:xfrm>
            <a:off x="7342632" y="4297680"/>
            <a:ext cx="4206240" cy="502920"/>
          </a:xfrm>
          <a:prstGeom prst="rect">
            <a:avLst/>
          </a:prstGeom>
          <a:noFill/>
          <a:ln/>
        </p:spPr>
        <p:txBody>
          <a:bodyPr wrap="square" lIns="0" tIns="0" rIns="0" bIns="0" rtlCol="0" anchor="ctr"/>
          <a:lstStyle/>
          <a:p>
            <a:pPr marL="0" indent="0">
              <a:buNone/>
            </a:pPr>
            <a:r>
              <a:rPr lang="en-US" sz="1700" b="1" dirty="0">
                <a:solidFill>
                  <a:srgbClr val="0F1538"/>
                </a:solidFill>
                <a:latin typeface="Calibri" pitchFamily="34" charset="0"/>
                <a:ea typeface="Calibri" pitchFamily="34" charset="-122"/>
                <a:cs typeface="Calibri" pitchFamily="34" charset="-120"/>
              </a:rPr>
              <a:t>AI-text detection limits</a:t>
            </a:r>
            <a:endParaRPr lang="en-US" sz="1700" dirty="0"/>
          </a:p>
        </p:txBody>
      </p:sp>
      <p:sp>
        <p:nvSpPr>
          <p:cNvPr id="24" name="Text 18"/>
          <p:cNvSpPr/>
          <p:nvPr/>
        </p:nvSpPr>
        <p:spPr>
          <a:xfrm>
            <a:off x="6519672" y="5074920"/>
            <a:ext cx="4937760" cy="1005840"/>
          </a:xfrm>
          <a:prstGeom prst="rect">
            <a:avLst/>
          </a:prstGeom>
          <a:noFill/>
          <a:ln/>
        </p:spPr>
        <p:txBody>
          <a:bodyPr wrap="square" lIns="0" tIns="0" rIns="0" bIns="0" rtlCol="0" anchor="ctr"/>
          <a:lstStyle/>
          <a:p>
            <a:pPr marL="0" indent="0">
              <a:buNone/>
            </a:pPr>
            <a:r>
              <a:rPr lang="en-US" sz="1300" dirty="0">
                <a:solidFill>
                  <a:srgbClr val="5C6488"/>
                </a:solidFill>
                <a:latin typeface="Calibri" pitchFamily="34" charset="0"/>
                <a:ea typeface="Calibri" pitchFamily="34" charset="-122"/>
                <a:cs typeface="Calibri" pitchFamily="34" charset="-120"/>
              </a:rPr>
              <a:t>Stylometric score is a flag, not a verdict. Sub-signals are exposed; submission is never blocked solely on this score.</a:t>
            </a:r>
            <a:endParaRPr lang="en-US" sz="1300" dirty="0"/>
          </a:p>
        </p:txBody>
      </p:sp>
      <p:sp>
        <p:nvSpPr>
          <p:cNvPr id="25" name="Text 19"/>
          <p:cNvSpPr/>
          <p:nvPr/>
        </p:nvSpPr>
        <p:spPr>
          <a:xfrm>
            <a:off x="548640" y="6492240"/>
            <a:ext cx="8229600" cy="274320"/>
          </a:xfrm>
          <a:prstGeom prst="rect">
            <a:avLst/>
          </a:prstGeom>
          <a:noFill/>
          <a:ln/>
        </p:spPr>
        <p:txBody>
          <a:bodyPr wrap="square" lIns="0" tIns="0" rIns="0" bIns="0" rtlCol="0" anchor="ctr"/>
          <a:lstStyle/>
          <a:p>
            <a:pPr marL="0" indent="0">
              <a:buNone/>
            </a:pPr>
            <a:r>
              <a:rPr lang="en-US" sz="1000" dirty="0">
                <a:solidFill>
                  <a:srgbClr val="5C6488"/>
                </a:solidFill>
                <a:latin typeface="Calibri" pitchFamily="34" charset="0"/>
                <a:ea typeface="Calibri" pitchFamily="34" charset="-122"/>
                <a:cs typeface="Calibri" pitchFamily="34" charset="-120"/>
              </a:rPr>
              <a:t>Bhanu Gupta · Generative AI in Practice · Assessment 1</a:t>
            </a:r>
            <a:endParaRPr lang="en-US" sz="1000" dirty="0"/>
          </a:p>
        </p:txBody>
      </p:sp>
      <p:sp>
        <p:nvSpPr>
          <p:cNvPr id="26" name="Text 20"/>
          <p:cNvSpPr/>
          <p:nvPr/>
        </p:nvSpPr>
        <p:spPr>
          <a:xfrm>
            <a:off x="11277295" y="6492240"/>
            <a:ext cx="457200" cy="274320"/>
          </a:xfrm>
          <a:prstGeom prst="rect">
            <a:avLst/>
          </a:prstGeom>
          <a:noFill/>
          <a:ln/>
        </p:spPr>
        <p:txBody>
          <a:bodyPr wrap="square" lIns="0" tIns="0" rIns="0" bIns="0" rtlCol="0" anchor="ctr"/>
          <a:lstStyle/>
          <a:p>
            <a:pPr marL="0" indent="0" algn="r">
              <a:buNone/>
            </a:pPr>
            <a:r>
              <a:rPr lang="en-US" sz="1000" dirty="0">
                <a:solidFill>
                  <a:srgbClr val="5C648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10972800" cy="640080"/>
          </a:xfrm>
          <a:prstGeom prst="rect">
            <a:avLst/>
          </a:prstGeom>
          <a:noFill/>
          <a:ln/>
        </p:spPr>
        <p:txBody>
          <a:bodyPr wrap="square" lIns="0" tIns="0" rIns="0" bIns="0" rtlCol="0" anchor="ctr"/>
          <a:lstStyle/>
          <a:p>
            <a:pPr marL="0" indent="0">
              <a:buNone/>
            </a:pPr>
            <a:r>
              <a:rPr lang="en-US" sz="3200" b="1" dirty="0">
                <a:solidFill>
                  <a:srgbClr val="0F1538"/>
                </a:solidFill>
                <a:latin typeface="Georgia" pitchFamily="34" charset="0"/>
                <a:ea typeface="Georgia" pitchFamily="34" charset="-122"/>
                <a:cs typeface="Georgia" pitchFamily="34" charset="-120"/>
              </a:rPr>
              <a:t>Live demo: the recreated v2</a:t>
            </a:r>
            <a:endParaRPr lang="en-US" sz="3200" dirty="0"/>
          </a:p>
        </p:txBody>
      </p:sp>
      <p:sp>
        <p:nvSpPr>
          <p:cNvPr id="4" name="Text 2"/>
          <p:cNvSpPr/>
          <p:nvPr/>
        </p:nvSpPr>
        <p:spPr>
          <a:xfrm>
            <a:off x="548640" y="960120"/>
            <a:ext cx="10972800" cy="365760"/>
          </a:xfrm>
          <a:prstGeom prst="rect">
            <a:avLst/>
          </a:prstGeom>
          <a:noFill/>
          <a:ln/>
        </p:spPr>
        <p:txBody>
          <a:bodyPr wrap="square" lIns="0" tIns="0" rIns="0" bIns="0" rtlCol="0" anchor="ctr"/>
          <a:lstStyle/>
          <a:p>
            <a:pPr marL="0" indent="0">
              <a:buNone/>
            </a:pPr>
            <a:r>
              <a:rPr lang="en-US" sz="1400" i="1" dirty="0">
                <a:solidFill>
                  <a:srgbClr val="5C6488"/>
                </a:solidFill>
                <a:latin typeface="Calibri" pitchFamily="34" charset="0"/>
                <a:ea typeface="Calibri" pitchFamily="34" charset="-122"/>
                <a:cs typeface="Calibri" pitchFamily="34" charset="-120"/>
              </a:rPr>
              <a:t>Already running — five role-aware dashboards with AI affordances</a:t>
            </a:r>
            <a:endParaRPr lang="en-US" sz="1400" dirty="0"/>
          </a:p>
        </p:txBody>
      </p:sp>
      <p:sp>
        <p:nvSpPr>
          <p:cNvPr id="5" name="Shape 3"/>
          <p:cNvSpPr/>
          <p:nvPr/>
        </p:nvSpPr>
        <p:spPr>
          <a:xfrm>
            <a:off x="548640" y="1645920"/>
            <a:ext cx="640080" cy="640080"/>
          </a:xfrm>
          <a:prstGeom prst="ellipse">
            <a:avLst/>
          </a:prstGeom>
          <a:solidFill>
            <a:srgbClr val="1E2761"/>
          </a:solidFill>
          <a:ln/>
        </p:spPr>
        <p:txBody>
          <a:bodyPr/>
          <a:lstStyle/>
          <a:p>
            <a:endParaRPr lang="en-US"/>
          </a:p>
        </p:txBody>
      </p:sp>
      <p:sp>
        <p:nvSpPr>
          <p:cNvPr id="6" name="Text 4"/>
          <p:cNvSpPr/>
          <p:nvPr/>
        </p:nvSpPr>
        <p:spPr>
          <a:xfrm>
            <a:off x="548640" y="16459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325880" y="1645920"/>
            <a:ext cx="548640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Author submit page</a:t>
            </a:r>
            <a:endParaRPr lang="en-US" sz="1600" dirty="0"/>
          </a:p>
        </p:txBody>
      </p:sp>
      <p:sp>
        <p:nvSpPr>
          <p:cNvPr id="8" name="Text 6"/>
          <p:cNvSpPr/>
          <p:nvPr/>
        </p:nvSpPr>
        <p:spPr>
          <a:xfrm>
            <a:off x="1325880" y="2011680"/>
            <a:ext cx="5486400" cy="365760"/>
          </a:xfrm>
          <a:prstGeom prst="rect">
            <a:avLst/>
          </a:prstGeom>
          <a:noFill/>
          <a:ln/>
        </p:spPr>
        <p:txBody>
          <a:bodyPr wrap="square" lIns="0" tIns="0" rIns="0" bIns="0" rtlCol="0" anchor="ctr"/>
          <a:lstStyle/>
          <a:p>
            <a:pPr marL="0" indent="0">
              <a:buNone/>
            </a:pPr>
            <a:r>
              <a:rPr lang="en-US" sz="1200" i="1" dirty="0">
                <a:solidFill>
                  <a:srgbClr val="5C6488"/>
                </a:solidFill>
                <a:latin typeface="Calibri" pitchFamily="34" charset="0"/>
                <a:ea typeface="Calibri" pitchFamily="34" charset="-122"/>
                <a:cs typeface="Calibri" pitchFamily="34" charset="-120"/>
              </a:rPr>
              <a:t>Three AI buttons (Polish · Suggest titles · Extract keywords) sit alongside the abstract.</a:t>
            </a:r>
            <a:endParaRPr lang="en-US" sz="1200" dirty="0"/>
          </a:p>
        </p:txBody>
      </p:sp>
      <p:sp>
        <p:nvSpPr>
          <p:cNvPr id="9" name="Shape 7"/>
          <p:cNvSpPr/>
          <p:nvPr/>
        </p:nvSpPr>
        <p:spPr>
          <a:xfrm>
            <a:off x="548640" y="2788920"/>
            <a:ext cx="640080" cy="640080"/>
          </a:xfrm>
          <a:prstGeom prst="ellipse">
            <a:avLst/>
          </a:prstGeom>
          <a:solidFill>
            <a:srgbClr val="1E2761"/>
          </a:solidFill>
          <a:ln/>
        </p:spPr>
        <p:txBody>
          <a:bodyPr/>
          <a:lstStyle/>
          <a:p>
            <a:endParaRPr lang="en-US"/>
          </a:p>
        </p:txBody>
      </p:sp>
      <p:sp>
        <p:nvSpPr>
          <p:cNvPr id="10" name="Text 8"/>
          <p:cNvSpPr/>
          <p:nvPr/>
        </p:nvSpPr>
        <p:spPr>
          <a:xfrm>
            <a:off x="548640" y="27889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1325880" y="2788920"/>
            <a:ext cx="548640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Editor dashboard</a:t>
            </a:r>
            <a:endParaRPr lang="en-US" sz="1600" dirty="0"/>
          </a:p>
        </p:txBody>
      </p:sp>
      <p:sp>
        <p:nvSpPr>
          <p:cNvPr id="12" name="Text 10"/>
          <p:cNvSpPr/>
          <p:nvPr/>
        </p:nvSpPr>
        <p:spPr>
          <a:xfrm>
            <a:off x="1325880" y="3154680"/>
            <a:ext cx="5486400" cy="365760"/>
          </a:xfrm>
          <a:prstGeom prst="rect">
            <a:avLst/>
          </a:prstGeom>
          <a:noFill/>
          <a:ln/>
        </p:spPr>
        <p:txBody>
          <a:bodyPr wrap="square" lIns="0" tIns="0" rIns="0" bIns="0" rtlCol="0" anchor="ctr"/>
          <a:lstStyle/>
          <a:p>
            <a:pPr marL="0" indent="0">
              <a:buNone/>
            </a:pPr>
            <a:r>
              <a:rPr lang="en-US" sz="1200" i="1" dirty="0">
                <a:solidFill>
                  <a:srgbClr val="5C6488"/>
                </a:solidFill>
                <a:latin typeface="Calibri" pitchFamily="34" charset="0"/>
                <a:ea typeface="Calibri" pitchFamily="34" charset="-122"/>
                <a:cs typeface="Calibri" pitchFamily="34" charset="-120"/>
              </a:rPr>
              <a:t>Top-3 AI-ranked reviewers per paper with cosine score, plus manual override and final decision.</a:t>
            </a:r>
            <a:endParaRPr lang="en-US" sz="1200" dirty="0"/>
          </a:p>
        </p:txBody>
      </p:sp>
      <p:sp>
        <p:nvSpPr>
          <p:cNvPr id="13" name="Shape 11"/>
          <p:cNvSpPr/>
          <p:nvPr/>
        </p:nvSpPr>
        <p:spPr>
          <a:xfrm>
            <a:off x="548640" y="3931920"/>
            <a:ext cx="640080" cy="640080"/>
          </a:xfrm>
          <a:prstGeom prst="ellipse">
            <a:avLst/>
          </a:prstGeom>
          <a:solidFill>
            <a:srgbClr val="1E2761"/>
          </a:solidFill>
          <a:ln/>
        </p:spPr>
        <p:txBody>
          <a:bodyPr/>
          <a:lstStyle/>
          <a:p>
            <a:endParaRPr lang="en-US"/>
          </a:p>
        </p:txBody>
      </p:sp>
      <p:sp>
        <p:nvSpPr>
          <p:cNvPr id="14" name="Text 12"/>
          <p:cNvSpPr/>
          <p:nvPr/>
        </p:nvSpPr>
        <p:spPr>
          <a:xfrm>
            <a:off x="548640" y="39319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5" name="Text 13"/>
          <p:cNvSpPr/>
          <p:nvPr/>
        </p:nvSpPr>
        <p:spPr>
          <a:xfrm>
            <a:off x="1325880" y="3931920"/>
            <a:ext cx="548640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Reviewer review</a:t>
            </a:r>
            <a:endParaRPr lang="en-US" sz="1600" dirty="0"/>
          </a:p>
        </p:txBody>
      </p:sp>
      <p:sp>
        <p:nvSpPr>
          <p:cNvPr id="16" name="Text 14"/>
          <p:cNvSpPr/>
          <p:nvPr/>
        </p:nvSpPr>
        <p:spPr>
          <a:xfrm>
            <a:off x="1325880" y="4297680"/>
            <a:ext cx="5486400" cy="365760"/>
          </a:xfrm>
          <a:prstGeom prst="rect">
            <a:avLst/>
          </a:prstGeom>
          <a:noFill/>
          <a:ln/>
        </p:spPr>
        <p:txBody>
          <a:bodyPr wrap="square" lIns="0" tIns="0" rIns="0" bIns="0" rtlCol="0" anchor="ctr"/>
          <a:lstStyle/>
          <a:p>
            <a:pPr marL="0" indent="0">
              <a:buNone/>
            </a:pPr>
            <a:r>
              <a:rPr lang="en-US" sz="1200" i="1" dirty="0">
                <a:solidFill>
                  <a:srgbClr val="5C6488"/>
                </a:solidFill>
                <a:latin typeface="Calibri" pitchFamily="34" charset="0"/>
                <a:ea typeface="Calibri" pitchFamily="34" charset="-122"/>
                <a:cs typeface="Calibri" pitchFamily="34" charset="-120"/>
              </a:rPr>
              <a:t>"Generate AI draft" populates summary / strengths / weaknesses / scores / recommendation.</a:t>
            </a:r>
            <a:endParaRPr lang="en-US" sz="1200" dirty="0"/>
          </a:p>
        </p:txBody>
      </p:sp>
      <p:sp>
        <p:nvSpPr>
          <p:cNvPr id="17" name="Shape 15"/>
          <p:cNvSpPr/>
          <p:nvPr/>
        </p:nvSpPr>
        <p:spPr>
          <a:xfrm>
            <a:off x="548640" y="5074920"/>
            <a:ext cx="640080" cy="640080"/>
          </a:xfrm>
          <a:prstGeom prst="ellipse">
            <a:avLst/>
          </a:prstGeom>
          <a:solidFill>
            <a:srgbClr val="1E2761"/>
          </a:solidFill>
          <a:ln/>
        </p:spPr>
        <p:txBody>
          <a:bodyPr/>
          <a:lstStyle/>
          <a:p>
            <a:endParaRPr lang="en-US"/>
          </a:p>
        </p:txBody>
      </p:sp>
      <p:sp>
        <p:nvSpPr>
          <p:cNvPr id="18" name="Text 16"/>
          <p:cNvSpPr/>
          <p:nvPr/>
        </p:nvSpPr>
        <p:spPr>
          <a:xfrm>
            <a:off x="548640" y="507492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19" name="Text 17"/>
          <p:cNvSpPr/>
          <p:nvPr/>
        </p:nvSpPr>
        <p:spPr>
          <a:xfrm>
            <a:off x="1325880" y="5074920"/>
            <a:ext cx="5486400" cy="365760"/>
          </a:xfrm>
          <a:prstGeom prst="rect">
            <a:avLst/>
          </a:prstGeom>
          <a:noFill/>
          <a:ln/>
        </p:spPr>
        <p:txBody>
          <a:bodyPr wrap="square" lIns="0" tIns="0" rIns="0" bIns="0" rtlCol="0" anchor="ctr"/>
          <a:lstStyle/>
          <a:p>
            <a:pPr marL="0" indent="0">
              <a:buNone/>
            </a:pPr>
            <a:r>
              <a:rPr lang="en-US" sz="1600" b="1" dirty="0">
                <a:solidFill>
                  <a:srgbClr val="0F1538"/>
                </a:solidFill>
                <a:latin typeface="Calibri" pitchFamily="34" charset="0"/>
                <a:ea typeface="Calibri" pitchFamily="34" charset="-122"/>
                <a:cs typeface="Calibri" pitchFamily="34" charset="-120"/>
              </a:rPr>
              <a:t>Public reader feed</a:t>
            </a:r>
            <a:endParaRPr lang="en-US" sz="1600" dirty="0"/>
          </a:p>
        </p:txBody>
      </p:sp>
      <p:sp>
        <p:nvSpPr>
          <p:cNvPr id="20" name="Text 18"/>
          <p:cNvSpPr/>
          <p:nvPr/>
        </p:nvSpPr>
        <p:spPr>
          <a:xfrm>
            <a:off x="1325880" y="5440680"/>
            <a:ext cx="5486400" cy="365760"/>
          </a:xfrm>
          <a:prstGeom prst="rect">
            <a:avLst/>
          </a:prstGeom>
          <a:noFill/>
          <a:ln/>
        </p:spPr>
        <p:txBody>
          <a:bodyPr wrap="square" lIns="0" tIns="0" rIns="0" bIns="0" rtlCol="0" anchor="ctr"/>
          <a:lstStyle/>
          <a:p>
            <a:pPr marL="0" indent="0">
              <a:buNone/>
            </a:pPr>
            <a:r>
              <a:rPr lang="en-US" sz="1200" i="1" dirty="0">
                <a:solidFill>
                  <a:srgbClr val="5C6488"/>
                </a:solidFill>
                <a:latin typeface="Calibri" pitchFamily="34" charset="0"/>
                <a:ea typeface="Calibri" pitchFamily="34" charset="-122"/>
                <a:cs typeface="Calibri" pitchFamily="34" charset="-120"/>
              </a:rPr>
              <a:t>Newspaper-style grid of accepted articles, full-text search, public download — no login.</a:t>
            </a:r>
            <a:endParaRPr lang="en-US" sz="1200" dirty="0"/>
          </a:p>
        </p:txBody>
      </p:sp>
      <p:sp>
        <p:nvSpPr>
          <p:cNvPr id="21" name="Shape 19"/>
          <p:cNvSpPr/>
          <p:nvPr/>
        </p:nvSpPr>
        <p:spPr>
          <a:xfrm>
            <a:off x="7315200" y="1645920"/>
            <a:ext cx="4297680" cy="4206240"/>
          </a:xfrm>
          <a:prstGeom prst="rect">
            <a:avLst/>
          </a:prstGeom>
          <a:solidFill>
            <a:srgbClr val="141C49"/>
          </a:solidFill>
          <a:ln/>
        </p:spPr>
        <p:txBody>
          <a:bodyPr/>
          <a:lstStyle/>
          <a:p>
            <a:endParaRPr lang="en-US"/>
          </a:p>
        </p:txBody>
      </p:sp>
      <p:sp>
        <p:nvSpPr>
          <p:cNvPr id="22" name="Text 20"/>
          <p:cNvSpPr/>
          <p:nvPr/>
        </p:nvSpPr>
        <p:spPr>
          <a:xfrm>
            <a:off x="7498080" y="1783080"/>
            <a:ext cx="3931920" cy="320040"/>
          </a:xfrm>
          <a:prstGeom prst="rect">
            <a:avLst/>
          </a:prstGeom>
          <a:noFill/>
          <a:ln/>
        </p:spPr>
        <p:txBody>
          <a:bodyPr wrap="square" lIns="0" tIns="0" rIns="0" bIns="0" rtlCol="0" anchor="ctr"/>
          <a:lstStyle/>
          <a:p>
            <a:pPr marL="0" indent="0">
              <a:buNone/>
            </a:pPr>
            <a:r>
              <a:rPr lang="en-US" sz="1100" b="1" kern="0" spc="300" dirty="0">
                <a:solidFill>
                  <a:srgbClr val="F4B942"/>
                </a:solidFill>
                <a:latin typeface="Calibri" pitchFamily="34" charset="0"/>
                <a:ea typeface="Calibri" pitchFamily="34" charset="-122"/>
                <a:cs typeface="Calibri" pitchFamily="34" charset="-120"/>
              </a:rPr>
              <a:t>TO RUN LOCALLY</a:t>
            </a:r>
            <a:endParaRPr lang="en-US" sz="1100" dirty="0"/>
          </a:p>
        </p:txBody>
      </p:sp>
      <p:sp>
        <p:nvSpPr>
          <p:cNvPr id="23" name="Text 21"/>
          <p:cNvSpPr/>
          <p:nvPr/>
        </p:nvSpPr>
        <p:spPr>
          <a:xfrm>
            <a:off x="7498080" y="2194560"/>
            <a:ext cx="3931920" cy="3657600"/>
          </a:xfrm>
          <a:prstGeom prst="rect">
            <a:avLst/>
          </a:prstGeom>
          <a:noFill/>
          <a:ln/>
        </p:spPr>
        <p:txBody>
          <a:bodyPr wrap="square" lIns="0" tIns="0" rIns="0" bIns="0" rtlCol="0" anchor="ctr"/>
          <a:lstStyle/>
          <a:p>
            <a:pPr marL="0" indent="0">
              <a:buNone/>
            </a:pPr>
            <a:r>
              <a:rPr lang="en-US" sz="1300" dirty="0">
                <a:solidFill>
                  <a:srgbClr val="CADCFC"/>
                </a:solidFill>
                <a:latin typeface="Consolas" pitchFamily="34" charset="0"/>
                <a:ea typeface="Consolas" pitchFamily="34" charset="-122"/>
                <a:cs typeface="Consolas" pitchFamily="34" charset="-120"/>
              </a:rPr>
              <a:t>$ cd paper-submission-system-v2</a:t>
            </a:r>
            <a:endParaRPr lang="en-US" sz="1300" dirty="0"/>
          </a:p>
          <a:p>
            <a:pPr marL="0" indent="0">
              <a:buNone/>
            </a:pPr>
            <a:r>
              <a:rPr lang="en-US" sz="1300" dirty="0">
                <a:solidFill>
                  <a:srgbClr val="CADCFC"/>
                </a:solidFill>
                <a:latin typeface="Consolas" pitchFamily="34" charset="0"/>
                <a:ea typeface="Consolas" pitchFamily="34" charset="-122"/>
                <a:cs typeface="Consolas" pitchFamily="34" charset="-120"/>
              </a:rPr>
              <a:t>$ npm install</a:t>
            </a:r>
            <a:endParaRPr lang="en-US" sz="1300" dirty="0"/>
          </a:p>
          <a:p>
            <a:pPr marL="0" indent="0">
              <a:buNone/>
            </a:pPr>
            <a:r>
              <a:rPr lang="en-US" sz="1300" dirty="0">
                <a:solidFill>
                  <a:srgbClr val="CADCFC"/>
                </a:solidFill>
                <a:latin typeface="Consolas" pitchFamily="34" charset="0"/>
                <a:ea typeface="Consolas" pitchFamily="34" charset="-122"/>
                <a:cs typeface="Consolas" pitchFamily="34" charset="-120"/>
              </a:rPr>
              <a:t>$ npm run setup</a:t>
            </a:r>
            <a:endParaRPr lang="en-US" sz="1300" dirty="0"/>
          </a:p>
          <a:p>
            <a:pPr marL="0" indent="0">
              <a:buNone/>
            </a:pPr>
            <a:r>
              <a:rPr lang="en-US" sz="1300" dirty="0">
                <a:solidFill>
                  <a:srgbClr val="CADCFC"/>
                </a:solidFill>
                <a:latin typeface="Consolas" pitchFamily="34" charset="0"/>
                <a:ea typeface="Consolas" pitchFamily="34" charset="-122"/>
                <a:cs typeface="Consolas" pitchFamily="34" charset="-120"/>
              </a:rPr>
              <a:t>$ npm start</a:t>
            </a:r>
            <a:endParaRPr lang="en-US" sz="1300" dirty="0"/>
          </a:p>
          <a:p>
            <a:pPr marL="0" indent="0">
              <a:buNone/>
            </a:pPr>
            <a:endParaRPr lang="en-US" sz="1300" dirty="0"/>
          </a:p>
          <a:p>
            <a:pPr marL="0" indent="0">
              <a:buNone/>
            </a:pPr>
            <a:r>
              <a:rPr lang="en-US" sz="1300" b="1" dirty="0">
                <a:solidFill>
                  <a:srgbClr val="F4B942"/>
                </a:solidFill>
                <a:latin typeface="Consolas" pitchFamily="34" charset="0"/>
                <a:ea typeface="Consolas" pitchFamily="34" charset="-122"/>
                <a:cs typeface="Consolas" pitchFamily="34" charset="-120"/>
              </a:rPr>
              <a:t>→ http://localhost:3000</a:t>
            </a:r>
            <a:endParaRPr lang="en-US" sz="1300" dirty="0"/>
          </a:p>
          <a:p>
            <a:pPr marL="0" indent="0">
              <a:buNone/>
            </a:pPr>
            <a:endParaRPr lang="en-US" sz="1300" dirty="0"/>
          </a:p>
          <a:p>
            <a:pPr marL="0" indent="0">
              <a:buNone/>
            </a:pPr>
            <a:r>
              <a:rPr lang="en-US" sz="1200" b="1" dirty="0">
                <a:solidFill>
                  <a:srgbClr val="FFFFFF"/>
                </a:solidFill>
                <a:latin typeface="Consolas" pitchFamily="34" charset="0"/>
                <a:ea typeface="Consolas" pitchFamily="34" charset="-122"/>
                <a:cs typeface="Consolas" pitchFamily="34" charset="-120"/>
              </a:rPr>
              <a:t>Demo accounts (Password123!):</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alice / bob — author</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reviewer_ml / db / se</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editor — manual+AI assignment</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admin — audit dashboard</a:t>
            </a:r>
            <a:endParaRPr lang="en-US" sz="1300" dirty="0"/>
          </a:p>
          <a:p>
            <a:pPr marL="0" indent="0">
              <a:buNone/>
            </a:pPr>
            <a:r>
              <a:rPr lang="en-US" sz="1100" dirty="0">
                <a:solidFill>
                  <a:srgbClr val="CADCFC"/>
                </a:solidFill>
                <a:latin typeface="Consolas" pitchFamily="34" charset="0"/>
                <a:ea typeface="Consolas" pitchFamily="34" charset="-122"/>
                <a:cs typeface="Consolas" pitchFamily="34" charset="-120"/>
              </a:rPr>
              <a:t>  reader — public feed</a:t>
            </a:r>
            <a:endParaRPr lang="en-US" sz="1300" dirty="0"/>
          </a:p>
        </p:txBody>
      </p:sp>
      <p:sp>
        <p:nvSpPr>
          <p:cNvPr id="24" name="Shape 22"/>
          <p:cNvSpPr/>
          <p:nvPr/>
        </p:nvSpPr>
        <p:spPr>
          <a:xfrm>
            <a:off x="548640" y="5989320"/>
            <a:ext cx="11064240" cy="457200"/>
          </a:xfrm>
          <a:prstGeom prst="rect">
            <a:avLst/>
          </a:prstGeom>
          <a:solidFill>
            <a:srgbClr val="CADCFC"/>
          </a:solidFill>
          <a:ln/>
        </p:spPr>
        <p:txBody>
          <a:bodyPr/>
          <a:lstStyle/>
          <a:p>
            <a:endParaRPr lang="en-US"/>
          </a:p>
        </p:txBody>
      </p:sp>
      <p:sp>
        <p:nvSpPr>
          <p:cNvPr id="25" name="Text 23"/>
          <p:cNvSpPr/>
          <p:nvPr/>
        </p:nvSpPr>
        <p:spPr>
          <a:xfrm>
            <a:off x="548640" y="5989320"/>
            <a:ext cx="11064240" cy="457200"/>
          </a:xfrm>
          <a:prstGeom prst="rect">
            <a:avLst/>
          </a:prstGeom>
          <a:noFill/>
          <a:ln/>
        </p:spPr>
        <p:txBody>
          <a:bodyPr wrap="square" lIns="0" tIns="0" rIns="0" bIns="0" rtlCol="0" anchor="ctr"/>
          <a:lstStyle/>
          <a:p>
            <a:pPr marL="0" indent="0" algn="ctr">
              <a:buNone/>
            </a:pPr>
            <a:r>
              <a:rPr lang="en-US" sz="1100" i="1" dirty="0">
                <a:solidFill>
                  <a:srgbClr val="1E2761"/>
                </a:solidFill>
                <a:latin typeface="Calibri" pitchFamily="34" charset="0"/>
                <a:ea typeface="Calibri" pitchFamily="34" charset="-122"/>
                <a:cs typeface="Calibri" pitchFamily="34" charset="-120"/>
              </a:rPr>
              <a:t>Default mode: heuristic backend (zero cost).  Add ANTHROPIC_API_KEY + LLM_PROVIDER=claude to upgrade — no other code changes.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E2761"/>
          </a:solidFill>
          <a:ln/>
        </p:spPr>
        <p:txBody>
          <a:bodyPr/>
          <a:lstStyle/>
          <a:p>
            <a:endParaRPr lang="en-US"/>
          </a:p>
        </p:txBody>
      </p:sp>
      <p:sp>
        <p:nvSpPr>
          <p:cNvPr id="3" name="Text 1"/>
          <p:cNvSpPr/>
          <p:nvPr/>
        </p:nvSpPr>
        <p:spPr>
          <a:xfrm>
            <a:off x="548640" y="365760"/>
            <a:ext cx="10972800" cy="640080"/>
          </a:xfrm>
          <a:prstGeom prst="rect">
            <a:avLst/>
          </a:prstGeom>
          <a:noFill/>
          <a:ln/>
        </p:spPr>
        <p:txBody>
          <a:bodyPr wrap="square" lIns="0" tIns="0" rIns="0" bIns="0" rtlCol="0" anchor="ctr"/>
          <a:lstStyle/>
          <a:p>
            <a:pPr marL="0" indent="0">
              <a:buNone/>
            </a:pPr>
            <a:r>
              <a:rPr lang="en-US" sz="3200" b="1" dirty="0">
                <a:solidFill>
                  <a:srgbClr val="0F1538"/>
                </a:solidFill>
                <a:latin typeface="Georgia" pitchFamily="34" charset="0"/>
                <a:ea typeface="Georgia" pitchFamily="34" charset="-122"/>
                <a:cs typeface="Georgia" pitchFamily="34" charset="-120"/>
              </a:rPr>
              <a:t>Roadmap to Assessment 2</a:t>
            </a:r>
            <a:endParaRPr lang="en-US" sz="3200" dirty="0"/>
          </a:p>
        </p:txBody>
      </p:sp>
      <p:sp>
        <p:nvSpPr>
          <p:cNvPr id="4" name="Text 2"/>
          <p:cNvSpPr/>
          <p:nvPr/>
        </p:nvSpPr>
        <p:spPr>
          <a:xfrm>
            <a:off x="548640" y="960120"/>
            <a:ext cx="10972800" cy="365760"/>
          </a:xfrm>
          <a:prstGeom prst="rect">
            <a:avLst/>
          </a:prstGeom>
          <a:noFill/>
          <a:ln/>
        </p:spPr>
        <p:txBody>
          <a:bodyPr wrap="square" lIns="0" tIns="0" rIns="0" bIns="0" rtlCol="0" anchor="ctr"/>
          <a:lstStyle/>
          <a:p>
            <a:pPr marL="0" indent="0">
              <a:buNone/>
            </a:pPr>
            <a:r>
              <a:rPr lang="en-US" sz="1400" i="1" dirty="0">
                <a:solidFill>
                  <a:srgbClr val="5C6488"/>
                </a:solidFill>
                <a:latin typeface="Calibri" pitchFamily="34" charset="0"/>
                <a:ea typeface="Calibri" pitchFamily="34" charset="-122"/>
                <a:cs typeface="Calibri" pitchFamily="34" charset="-120"/>
              </a:rPr>
              <a:t>A five-step plan from today through the Assessment 2 submission</a:t>
            </a:r>
            <a:endParaRPr lang="en-US" sz="1400" dirty="0"/>
          </a:p>
        </p:txBody>
      </p:sp>
      <p:sp>
        <p:nvSpPr>
          <p:cNvPr id="5" name="Shape 3"/>
          <p:cNvSpPr/>
          <p:nvPr/>
        </p:nvSpPr>
        <p:spPr>
          <a:xfrm>
            <a:off x="1211580" y="1828800"/>
            <a:ext cx="1097280" cy="1097280"/>
          </a:xfrm>
          <a:prstGeom prst="ellipse">
            <a:avLst/>
          </a:prstGeom>
          <a:solidFill>
            <a:srgbClr val="2E8B57"/>
          </a:solidFill>
          <a:ln/>
        </p:spPr>
        <p:txBody>
          <a:bodyPr/>
          <a:lstStyle/>
          <a:p>
            <a:endParaRPr lang="en-US"/>
          </a:p>
        </p:txBody>
      </p:sp>
      <p:sp>
        <p:nvSpPr>
          <p:cNvPr id="6" name="Text 4"/>
          <p:cNvSpPr/>
          <p:nvPr/>
        </p:nvSpPr>
        <p:spPr>
          <a:xfrm>
            <a:off x="1211580" y="182880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1</a:t>
            </a:r>
            <a:endParaRPr lang="en-US" sz="3600" dirty="0"/>
          </a:p>
        </p:txBody>
      </p:sp>
      <p:sp>
        <p:nvSpPr>
          <p:cNvPr id="7" name="Shape 5"/>
          <p:cNvSpPr/>
          <p:nvPr/>
        </p:nvSpPr>
        <p:spPr>
          <a:xfrm>
            <a:off x="2308860" y="2377440"/>
            <a:ext cx="1143000" cy="0"/>
          </a:xfrm>
          <a:prstGeom prst="line">
            <a:avLst/>
          </a:prstGeom>
          <a:noFill/>
          <a:ln w="38100">
            <a:solidFill>
              <a:srgbClr val="D5D9E5"/>
            </a:solidFill>
            <a:prstDash val="dash"/>
          </a:ln>
        </p:spPr>
        <p:txBody>
          <a:bodyPr/>
          <a:lstStyle/>
          <a:p>
            <a:endParaRPr lang="en-US"/>
          </a:p>
        </p:txBody>
      </p:sp>
      <p:sp>
        <p:nvSpPr>
          <p:cNvPr id="8" name="Text 6"/>
          <p:cNvSpPr/>
          <p:nvPr/>
        </p:nvSpPr>
        <p:spPr>
          <a:xfrm>
            <a:off x="640080" y="3108960"/>
            <a:ext cx="2240280" cy="365760"/>
          </a:xfrm>
          <a:prstGeom prst="rect">
            <a:avLst/>
          </a:prstGeom>
          <a:noFill/>
          <a:ln/>
        </p:spPr>
        <p:txBody>
          <a:bodyPr wrap="square" lIns="0" tIns="0" rIns="0" bIns="0" rtlCol="0" anchor="ctr"/>
          <a:lstStyle/>
          <a:p>
            <a:pPr marL="0" indent="0" algn="ctr">
              <a:buNone/>
            </a:pPr>
            <a:r>
              <a:rPr lang="en-US" sz="1400" b="1" dirty="0">
                <a:solidFill>
                  <a:srgbClr val="0F1538"/>
                </a:solidFill>
                <a:latin typeface="Calibri" pitchFamily="34" charset="0"/>
                <a:ea typeface="Calibri" pitchFamily="34" charset="-122"/>
                <a:cs typeface="Calibri" pitchFamily="34" charset="-120"/>
              </a:rPr>
              <a:t>Now</a:t>
            </a:r>
            <a:endParaRPr lang="en-US" sz="1400" dirty="0"/>
          </a:p>
        </p:txBody>
      </p:sp>
      <p:sp>
        <p:nvSpPr>
          <p:cNvPr id="9" name="Text 7"/>
          <p:cNvSpPr/>
          <p:nvPr/>
        </p:nvSpPr>
        <p:spPr>
          <a:xfrm>
            <a:off x="685800" y="352044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v2 codebase live · heuristic backend covers all four AI features end-to-end · audit table collecting usage</a:t>
            </a:r>
            <a:endParaRPr lang="en-US" sz="1100" dirty="0"/>
          </a:p>
        </p:txBody>
      </p:sp>
      <p:sp>
        <p:nvSpPr>
          <p:cNvPr id="10" name="Shape 8"/>
          <p:cNvSpPr/>
          <p:nvPr/>
        </p:nvSpPr>
        <p:spPr>
          <a:xfrm>
            <a:off x="3451860" y="1828800"/>
            <a:ext cx="1097280" cy="1097280"/>
          </a:xfrm>
          <a:prstGeom prst="ellipse">
            <a:avLst/>
          </a:prstGeom>
          <a:solidFill>
            <a:srgbClr val="F4B942"/>
          </a:solidFill>
          <a:ln/>
        </p:spPr>
        <p:txBody>
          <a:bodyPr/>
          <a:lstStyle/>
          <a:p>
            <a:endParaRPr lang="en-US"/>
          </a:p>
        </p:txBody>
      </p:sp>
      <p:sp>
        <p:nvSpPr>
          <p:cNvPr id="11" name="Text 9"/>
          <p:cNvSpPr/>
          <p:nvPr/>
        </p:nvSpPr>
        <p:spPr>
          <a:xfrm>
            <a:off x="3451860" y="182880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2</a:t>
            </a:r>
            <a:endParaRPr lang="en-US" sz="3600" dirty="0"/>
          </a:p>
        </p:txBody>
      </p:sp>
      <p:sp>
        <p:nvSpPr>
          <p:cNvPr id="12" name="Shape 10"/>
          <p:cNvSpPr/>
          <p:nvPr/>
        </p:nvSpPr>
        <p:spPr>
          <a:xfrm>
            <a:off x="4549140" y="2377440"/>
            <a:ext cx="1143000" cy="0"/>
          </a:xfrm>
          <a:prstGeom prst="line">
            <a:avLst/>
          </a:prstGeom>
          <a:noFill/>
          <a:ln w="38100">
            <a:solidFill>
              <a:srgbClr val="D5D9E5"/>
            </a:solidFill>
            <a:prstDash val="dash"/>
          </a:ln>
        </p:spPr>
        <p:txBody>
          <a:bodyPr/>
          <a:lstStyle/>
          <a:p>
            <a:endParaRPr lang="en-US"/>
          </a:p>
        </p:txBody>
      </p:sp>
      <p:sp>
        <p:nvSpPr>
          <p:cNvPr id="13" name="Text 11"/>
          <p:cNvSpPr/>
          <p:nvPr/>
        </p:nvSpPr>
        <p:spPr>
          <a:xfrm>
            <a:off x="2880360" y="3108960"/>
            <a:ext cx="2240280" cy="365760"/>
          </a:xfrm>
          <a:prstGeom prst="rect">
            <a:avLst/>
          </a:prstGeom>
          <a:noFill/>
          <a:ln/>
        </p:spPr>
        <p:txBody>
          <a:bodyPr wrap="square" lIns="0" tIns="0" rIns="0" bIns="0" rtlCol="0" anchor="ctr"/>
          <a:lstStyle/>
          <a:p>
            <a:pPr marL="0" indent="0" algn="ctr">
              <a:buNone/>
            </a:pPr>
            <a:r>
              <a:rPr lang="en-US" sz="1400" b="1" dirty="0">
                <a:solidFill>
                  <a:srgbClr val="0F1538"/>
                </a:solidFill>
                <a:latin typeface="Calibri" pitchFamily="34" charset="0"/>
                <a:ea typeface="Calibri" pitchFamily="34" charset="-122"/>
                <a:cs typeface="Calibri" pitchFamily="34" charset="-120"/>
              </a:rPr>
              <a:t>Week 1-2</a:t>
            </a:r>
            <a:endParaRPr lang="en-US" sz="1400" dirty="0"/>
          </a:p>
        </p:txBody>
      </p:sp>
      <p:sp>
        <p:nvSpPr>
          <p:cNvPr id="14" name="Text 12"/>
          <p:cNvSpPr/>
          <p:nvPr/>
        </p:nvSpPr>
        <p:spPr>
          <a:xfrm>
            <a:off x="2926080" y="352044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Activate Claude provider · benchmark draft quality vs heuristic on 10 sample papers · cost &amp; latency telemetry</a:t>
            </a:r>
            <a:endParaRPr lang="en-US" sz="1100" dirty="0"/>
          </a:p>
        </p:txBody>
      </p:sp>
      <p:sp>
        <p:nvSpPr>
          <p:cNvPr id="15" name="Shape 13"/>
          <p:cNvSpPr/>
          <p:nvPr/>
        </p:nvSpPr>
        <p:spPr>
          <a:xfrm>
            <a:off x="5692140" y="1828800"/>
            <a:ext cx="1097280" cy="1097280"/>
          </a:xfrm>
          <a:prstGeom prst="ellipse">
            <a:avLst/>
          </a:prstGeom>
          <a:solidFill>
            <a:srgbClr val="1E2761"/>
          </a:solidFill>
          <a:ln/>
        </p:spPr>
        <p:txBody>
          <a:bodyPr/>
          <a:lstStyle/>
          <a:p>
            <a:endParaRPr lang="en-US"/>
          </a:p>
        </p:txBody>
      </p:sp>
      <p:sp>
        <p:nvSpPr>
          <p:cNvPr id="16" name="Text 14"/>
          <p:cNvSpPr/>
          <p:nvPr/>
        </p:nvSpPr>
        <p:spPr>
          <a:xfrm>
            <a:off x="5692140" y="182880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3</a:t>
            </a:r>
            <a:endParaRPr lang="en-US" sz="3600" dirty="0"/>
          </a:p>
        </p:txBody>
      </p:sp>
      <p:sp>
        <p:nvSpPr>
          <p:cNvPr id="17" name="Shape 15"/>
          <p:cNvSpPr/>
          <p:nvPr/>
        </p:nvSpPr>
        <p:spPr>
          <a:xfrm>
            <a:off x="6789420" y="2377440"/>
            <a:ext cx="1143000" cy="0"/>
          </a:xfrm>
          <a:prstGeom prst="line">
            <a:avLst/>
          </a:prstGeom>
          <a:noFill/>
          <a:ln w="38100">
            <a:solidFill>
              <a:srgbClr val="D5D9E5"/>
            </a:solidFill>
            <a:prstDash val="dash"/>
          </a:ln>
        </p:spPr>
        <p:txBody>
          <a:bodyPr/>
          <a:lstStyle/>
          <a:p>
            <a:endParaRPr lang="en-US"/>
          </a:p>
        </p:txBody>
      </p:sp>
      <p:sp>
        <p:nvSpPr>
          <p:cNvPr id="18" name="Text 16"/>
          <p:cNvSpPr/>
          <p:nvPr/>
        </p:nvSpPr>
        <p:spPr>
          <a:xfrm>
            <a:off x="5120640" y="3108960"/>
            <a:ext cx="2240280" cy="365760"/>
          </a:xfrm>
          <a:prstGeom prst="rect">
            <a:avLst/>
          </a:prstGeom>
          <a:noFill/>
          <a:ln/>
        </p:spPr>
        <p:txBody>
          <a:bodyPr wrap="square" lIns="0" tIns="0" rIns="0" bIns="0" rtlCol="0" anchor="ctr"/>
          <a:lstStyle/>
          <a:p>
            <a:pPr marL="0" indent="0" algn="ctr">
              <a:buNone/>
            </a:pPr>
            <a:r>
              <a:rPr lang="en-US" sz="1400" b="1" dirty="0">
                <a:solidFill>
                  <a:srgbClr val="0F1538"/>
                </a:solidFill>
                <a:latin typeface="Calibri" pitchFamily="34" charset="0"/>
                <a:ea typeface="Calibri" pitchFamily="34" charset="-122"/>
                <a:cs typeface="Calibri" pitchFamily="34" charset="-120"/>
              </a:rPr>
              <a:t>Week 3-4</a:t>
            </a:r>
            <a:endParaRPr lang="en-US" sz="1400" dirty="0"/>
          </a:p>
        </p:txBody>
      </p:sp>
      <p:sp>
        <p:nvSpPr>
          <p:cNvPr id="19" name="Text 17"/>
          <p:cNvSpPr/>
          <p:nvPr/>
        </p:nvSpPr>
        <p:spPr>
          <a:xfrm>
            <a:off x="5166360" y="352044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Replace TF-IDF with sentence-transformers (@xenova/transformers, local) · re-evaluate matching precision</a:t>
            </a:r>
            <a:endParaRPr lang="en-US" sz="1100" dirty="0"/>
          </a:p>
        </p:txBody>
      </p:sp>
      <p:sp>
        <p:nvSpPr>
          <p:cNvPr id="20" name="Shape 18"/>
          <p:cNvSpPr/>
          <p:nvPr/>
        </p:nvSpPr>
        <p:spPr>
          <a:xfrm>
            <a:off x="7932420" y="1828800"/>
            <a:ext cx="1097280" cy="1097280"/>
          </a:xfrm>
          <a:prstGeom prst="ellipse">
            <a:avLst/>
          </a:prstGeom>
          <a:solidFill>
            <a:srgbClr val="1E2761"/>
          </a:solidFill>
          <a:ln/>
        </p:spPr>
        <p:txBody>
          <a:bodyPr/>
          <a:lstStyle/>
          <a:p>
            <a:endParaRPr lang="en-US"/>
          </a:p>
        </p:txBody>
      </p:sp>
      <p:sp>
        <p:nvSpPr>
          <p:cNvPr id="21" name="Text 19"/>
          <p:cNvSpPr/>
          <p:nvPr/>
        </p:nvSpPr>
        <p:spPr>
          <a:xfrm>
            <a:off x="7932420" y="182880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4</a:t>
            </a:r>
            <a:endParaRPr lang="en-US" sz="3600" dirty="0"/>
          </a:p>
        </p:txBody>
      </p:sp>
      <p:sp>
        <p:nvSpPr>
          <p:cNvPr id="22" name="Shape 20"/>
          <p:cNvSpPr/>
          <p:nvPr/>
        </p:nvSpPr>
        <p:spPr>
          <a:xfrm>
            <a:off x="9029700" y="2377440"/>
            <a:ext cx="1143000" cy="0"/>
          </a:xfrm>
          <a:prstGeom prst="line">
            <a:avLst/>
          </a:prstGeom>
          <a:noFill/>
          <a:ln w="38100">
            <a:solidFill>
              <a:srgbClr val="D5D9E5"/>
            </a:solidFill>
            <a:prstDash val="dash"/>
          </a:ln>
        </p:spPr>
        <p:txBody>
          <a:bodyPr/>
          <a:lstStyle/>
          <a:p>
            <a:endParaRPr lang="en-US"/>
          </a:p>
        </p:txBody>
      </p:sp>
      <p:sp>
        <p:nvSpPr>
          <p:cNvPr id="23" name="Text 21"/>
          <p:cNvSpPr/>
          <p:nvPr/>
        </p:nvSpPr>
        <p:spPr>
          <a:xfrm>
            <a:off x="7360920" y="3108960"/>
            <a:ext cx="2240280" cy="365760"/>
          </a:xfrm>
          <a:prstGeom prst="rect">
            <a:avLst/>
          </a:prstGeom>
          <a:noFill/>
          <a:ln/>
        </p:spPr>
        <p:txBody>
          <a:bodyPr wrap="square" lIns="0" tIns="0" rIns="0" bIns="0" rtlCol="0" anchor="ctr"/>
          <a:lstStyle/>
          <a:p>
            <a:pPr marL="0" indent="0" algn="ctr">
              <a:buNone/>
            </a:pPr>
            <a:r>
              <a:rPr lang="en-US" sz="1400" b="1" dirty="0">
                <a:solidFill>
                  <a:srgbClr val="0F1538"/>
                </a:solidFill>
                <a:latin typeface="Calibri" pitchFamily="34" charset="0"/>
                <a:ea typeface="Calibri" pitchFamily="34" charset="-122"/>
                <a:cs typeface="Calibri" pitchFamily="34" charset="-120"/>
              </a:rPr>
              <a:t>Week 5-6</a:t>
            </a:r>
            <a:endParaRPr lang="en-US" sz="1400" dirty="0"/>
          </a:p>
        </p:txBody>
      </p:sp>
      <p:sp>
        <p:nvSpPr>
          <p:cNvPr id="24" name="Text 22"/>
          <p:cNvSpPr/>
          <p:nvPr/>
        </p:nvSpPr>
        <p:spPr>
          <a:xfrm>
            <a:off x="7406640" y="352044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Add conflict-of-interest detector (institutional + co-authorship) · automated tests for regression</a:t>
            </a:r>
            <a:endParaRPr lang="en-US" sz="1100" dirty="0"/>
          </a:p>
        </p:txBody>
      </p:sp>
      <p:sp>
        <p:nvSpPr>
          <p:cNvPr id="25" name="Shape 23"/>
          <p:cNvSpPr/>
          <p:nvPr/>
        </p:nvSpPr>
        <p:spPr>
          <a:xfrm>
            <a:off x="10172700" y="1828800"/>
            <a:ext cx="1097280" cy="1097280"/>
          </a:xfrm>
          <a:prstGeom prst="ellipse">
            <a:avLst/>
          </a:prstGeom>
          <a:solidFill>
            <a:srgbClr val="1E2761"/>
          </a:solidFill>
          <a:ln/>
        </p:spPr>
        <p:txBody>
          <a:bodyPr/>
          <a:lstStyle/>
          <a:p>
            <a:endParaRPr lang="en-US"/>
          </a:p>
        </p:txBody>
      </p:sp>
      <p:sp>
        <p:nvSpPr>
          <p:cNvPr id="26" name="Text 24"/>
          <p:cNvSpPr/>
          <p:nvPr/>
        </p:nvSpPr>
        <p:spPr>
          <a:xfrm>
            <a:off x="10172700" y="1828800"/>
            <a:ext cx="1097280" cy="10972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5</a:t>
            </a:r>
            <a:endParaRPr lang="en-US" sz="3600" dirty="0"/>
          </a:p>
        </p:txBody>
      </p:sp>
      <p:sp>
        <p:nvSpPr>
          <p:cNvPr id="27" name="Text 25"/>
          <p:cNvSpPr/>
          <p:nvPr/>
        </p:nvSpPr>
        <p:spPr>
          <a:xfrm>
            <a:off x="9601200" y="3108960"/>
            <a:ext cx="2240280" cy="365760"/>
          </a:xfrm>
          <a:prstGeom prst="rect">
            <a:avLst/>
          </a:prstGeom>
          <a:noFill/>
          <a:ln/>
        </p:spPr>
        <p:txBody>
          <a:bodyPr wrap="square" lIns="0" tIns="0" rIns="0" bIns="0" rtlCol="0" anchor="ctr"/>
          <a:lstStyle/>
          <a:p>
            <a:pPr marL="0" indent="0" algn="ctr">
              <a:buNone/>
            </a:pPr>
            <a:r>
              <a:rPr lang="en-US" sz="1400" b="1" dirty="0">
                <a:solidFill>
                  <a:srgbClr val="0F1538"/>
                </a:solidFill>
                <a:latin typeface="Calibri" pitchFamily="34" charset="0"/>
                <a:ea typeface="Calibri" pitchFamily="34" charset="-122"/>
                <a:cs typeface="Calibri" pitchFamily="34" charset="-120"/>
              </a:rPr>
              <a:t>Submission</a:t>
            </a:r>
            <a:endParaRPr lang="en-US" sz="1400" dirty="0"/>
          </a:p>
        </p:txBody>
      </p:sp>
      <p:sp>
        <p:nvSpPr>
          <p:cNvPr id="28" name="Text 26"/>
          <p:cNvSpPr/>
          <p:nvPr/>
        </p:nvSpPr>
        <p:spPr>
          <a:xfrm>
            <a:off x="9646920" y="3520440"/>
            <a:ext cx="2148840" cy="2377440"/>
          </a:xfrm>
          <a:prstGeom prst="rect">
            <a:avLst/>
          </a:prstGeom>
          <a:noFill/>
          <a:ln/>
        </p:spPr>
        <p:txBody>
          <a:bodyPr wrap="square" lIns="0" tIns="0" rIns="0" bIns="0" rtlCol="0" anchor="ctr"/>
          <a:lstStyle/>
          <a:p>
            <a:pPr marL="0" indent="0" algn="ctr">
              <a:buNone/>
            </a:pPr>
            <a:r>
              <a:rPr lang="en-US" sz="1100" dirty="0">
                <a:solidFill>
                  <a:srgbClr val="5C6488"/>
                </a:solidFill>
                <a:latin typeface="Calibri" pitchFamily="34" charset="0"/>
                <a:ea typeface="Calibri" pitchFamily="34" charset="-122"/>
                <a:cs typeface="Calibri" pitchFamily="34" charset="-120"/>
              </a:rPr>
              <a:t>Small user study with peers comparing reviewer thoroughness with vs without AI draft assistance</a:t>
            </a:r>
            <a:endParaRPr lang="en-US" sz="1100" dirty="0"/>
          </a:p>
        </p:txBody>
      </p:sp>
      <p:sp>
        <p:nvSpPr>
          <p:cNvPr id="29" name="Shape 27"/>
          <p:cNvSpPr/>
          <p:nvPr/>
        </p:nvSpPr>
        <p:spPr>
          <a:xfrm>
            <a:off x="548640" y="5943600"/>
            <a:ext cx="11064240" cy="548640"/>
          </a:xfrm>
          <a:prstGeom prst="rect">
            <a:avLst/>
          </a:prstGeom>
          <a:solidFill>
            <a:srgbClr val="1E2761"/>
          </a:solidFill>
          <a:ln/>
        </p:spPr>
        <p:txBody>
          <a:bodyPr/>
          <a:lstStyle/>
          <a:p>
            <a:endParaRPr lang="en-US"/>
          </a:p>
        </p:txBody>
      </p:sp>
      <p:sp>
        <p:nvSpPr>
          <p:cNvPr id="30" name="Text 28"/>
          <p:cNvSpPr/>
          <p:nvPr/>
        </p:nvSpPr>
        <p:spPr>
          <a:xfrm>
            <a:off x="548640" y="5943600"/>
            <a:ext cx="11064240" cy="548640"/>
          </a:xfrm>
          <a:prstGeom prst="rect">
            <a:avLst/>
          </a:prstGeom>
          <a:noFill/>
          <a:ln/>
        </p:spPr>
        <p:txBody>
          <a:bodyPr wrap="square" lIns="0" tIns="0" rIns="0" bIns="0"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Takeaway: every Assessment-2 experiment has scaffolding waiting for it — the v2 codebase is the platform, not the prototype.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548640" y="2377440"/>
            <a:ext cx="457200" cy="73152"/>
          </a:xfrm>
          <a:prstGeom prst="rect">
            <a:avLst/>
          </a:prstGeom>
          <a:solidFill>
            <a:srgbClr val="F4B942"/>
          </a:solidFill>
          <a:ln/>
        </p:spPr>
        <p:txBody>
          <a:bodyPr/>
          <a:lstStyle/>
          <a:p>
            <a:endParaRPr lang="en-US"/>
          </a:p>
        </p:txBody>
      </p:sp>
      <p:sp>
        <p:nvSpPr>
          <p:cNvPr id="3" name="Text 1"/>
          <p:cNvSpPr/>
          <p:nvPr/>
        </p:nvSpPr>
        <p:spPr>
          <a:xfrm>
            <a:off x="548640" y="2560320"/>
            <a:ext cx="10972800" cy="548640"/>
          </a:xfrm>
          <a:prstGeom prst="rect">
            <a:avLst/>
          </a:prstGeom>
          <a:noFill/>
          <a:ln/>
        </p:spPr>
        <p:txBody>
          <a:bodyPr wrap="square" lIns="0" tIns="0" rIns="0" bIns="0" rtlCol="0" anchor="ctr"/>
          <a:lstStyle/>
          <a:p>
            <a:pPr marL="0" indent="0">
              <a:buNone/>
            </a:pPr>
            <a:r>
              <a:rPr lang="en-US" sz="1600" b="1" kern="0" spc="800" dirty="0">
                <a:solidFill>
                  <a:srgbClr val="CADCFC"/>
                </a:solidFill>
                <a:latin typeface="Calibri" pitchFamily="34" charset="0"/>
                <a:ea typeface="Calibri" pitchFamily="34" charset="-122"/>
                <a:cs typeface="Calibri" pitchFamily="34" charset="-120"/>
              </a:rPr>
              <a:t>THANK YOU</a:t>
            </a:r>
            <a:endParaRPr lang="en-US" sz="1600" dirty="0"/>
          </a:p>
        </p:txBody>
      </p:sp>
      <p:sp>
        <p:nvSpPr>
          <p:cNvPr id="4" name="Text 2"/>
          <p:cNvSpPr/>
          <p:nvPr/>
        </p:nvSpPr>
        <p:spPr>
          <a:xfrm>
            <a:off x="548640" y="3108960"/>
            <a:ext cx="10972800" cy="1645920"/>
          </a:xfrm>
          <a:prstGeom prst="rect">
            <a:avLst/>
          </a:prstGeom>
          <a:noFill/>
          <a:ln/>
        </p:spPr>
        <p:txBody>
          <a:bodyPr wrap="square" lIns="0" tIns="0" rIns="0" bIns="0"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Questions, suggestions, or</a:t>
            </a:r>
            <a:endParaRPr lang="en-US" sz="4800" dirty="0"/>
          </a:p>
          <a:p>
            <a:pPr marL="0" indent="0">
              <a:buNone/>
            </a:pPr>
            <a:r>
              <a:rPr lang="en-US" sz="4800" b="1" dirty="0">
                <a:solidFill>
                  <a:srgbClr val="FFFFFF"/>
                </a:solidFill>
                <a:latin typeface="Georgia" pitchFamily="34" charset="0"/>
                <a:ea typeface="Georgia" pitchFamily="34" charset="-122"/>
                <a:cs typeface="Georgia" pitchFamily="34" charset="-120"/>
              </a:rPr>
              <a:t>approvals welcome.</a:t>
            </a:r>
            <a:endParaRPr lang="en-US" sz="4800" dirty="0"/>
          </a:p>
        </p:txBody>
      </p:sp>
      <p:sp>
        <p:nvSpPr>
          <p:cNvPr id="5" name="Text 3"/>
          <p:cNvSpPr/>
          <p:nvPr/>
        </p:nvSpPr>
        <p:spPr>
          <a:xfrm>
            <a:off x="548640" y="5120640"/>
            <a:ext cx="10972800" cy="45720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Bhanu Gupta  ·</a:t>
            </a:r>
            <a:endParaRPr lang="en-US" sz="1600" dirty="0"/>
          </a:p>
        </p:txBody>
      </p:sp>
      <p:sp>
        <p:nvSpPr>
          <p:cNvPr id="6" name="Text 4"/>
          <p:cNvSpPr/>
          <p:nvPr/>
        </p:nvSpPr>
        <p:spPr>
          <a:xfrm>
            <a:off x="548640" y="5486400"/>
            <a:ext cx="10972800" cy="365760"/>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Repo: paper-submission-system-v2  ·  </a:t>
            </a:r>
            <a:endParaRPr lang="en-US" sz="1200" dirty="0"/>
          </a:p>
        </p:txBody>
      </p:sp>
      <p:sp>
        <p:nvSpPr>
          <p:cNvPr id="7" name="Shape 5"/>
          <p:cNvSpPr/>
          <p:nvPr/>
        </p:nvSpPr>
        <p:spPr>
          <a:xfrm>
            <a:off x="10728655" y="548640"/>
            <a:ext cx="822960" cy="822960"/>
          </a:xfrm>
          <a:prstGeom prst="ellipse">
            <a:avLst/>
          </a:prstGeom>
          <a:solidFill>
            <a:srgbClr val="141C49"/>
          </a:solidFill>
          <a:ln w="12700">
            <a:solidFill>
              <a:srgbClr val="F4B942"/>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0911535" y="731520"/>
            <a:ext cx="457200"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752</TotalTime>
  <Words>2152</Words>
  <Application>Microsoft Office PowerPoint</Application>
  <PresentationFormat>Widescreen</PresentationFormat>
  <Paragraphs>249</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AI-augmented Paper Submission System</dc:title>
  <dc:subject>PptxGenJS Presentation</dc:subject>
  <dc:creator>Bhanu Gupta</dc:creator>
  <cp:lastModifiedBy>Bhanu Gupta</cp:lastModifiedBy>
  <cp:revision>3</cp:revision>
  <dcterms:created xsi:type="dcterms:W3CDTF">2026-05-04T09:51:51Z</dcterms:created>
  <dcterms:modified xsi:type="dcterms:W3CDTF">2026-05-04T22:28:23Z</dcterms:modified>
</cp:coreProperties>
</file>