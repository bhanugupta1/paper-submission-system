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Quick context. I had a paper-submission website from a previous course. It worked, but it was basic and a bit broken. Now I am rebuilding it with AI features so it can actually be used by a real conference. The deck walks through the original project, what was missing, what I am adding, and the tools and ethics behind it. Each slide has a TASK label in the top right showing which assessment task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project context. It is a peer-review website. Authors upload papers, reviewers give feedback, editors decide. Built with Node.js and SQLite. Result was a working five-role site. It worked, but only just barely.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that bothered me. Login bugs. Random reviewer picking, which is silly. No plagiarism check. Reviews were one giant text box. Authors got no help. The code itself was messy. Each gap maps directly to something AI can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scope is straightforward. Stop being a basic upload tracker. Start being a smart helper. Five questions drive the work. Question one is author feedback before submitting. Two is topic-matched reviewers. Three is integrity screening. Four is structured reviews. Five is keeping it free today but upgradeable later. Every feature in this deck answers one of these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breaks into three columns. Concepts on the left, the ideas. Models in the middle, the actual products. Techniques on the right, how you combine them. The key idea, two of my features need real writing so they use language models like Claude. Two need topic matching, which a free local technique called TF-IDF handles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features. Each one answers a question from the previous slide. Author writing helper for question one. Smart reviewer matching for question two. Plagiarism and AI-text flag for question three. AI reviewer helper for question four. Two use big AI models, two use free embeddings. The clean question to feature mapping is what makes this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 diagram. User opens the website on the left. The server in the middle handles security and login. Code on the right runs the AI services. The big navy box at the bottom is the most important architectural choice. By default the local free AI runs. Flip one setting and Claude takes over. Same code. Every AI call is logged so we can review usage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Green is fully working today. Yellow is half-done, the wiring is there, just needs the API key turned on. Navy is planned for the next phase. So matching, plagiarism, AI-text flag are running. Claude integration is one line of config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chosen for the project itself. Each one explained underneath with why it is the best fit. Claude for the writing tasks because it is the strongest writer right now and follows my format reliably. TF-IDF for matching because at this scale it is free, fast, and most importantly explainable, an editor can see why two papers matched. Sentence-transformers as the future upgrade for when the database grows. Right tool for each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required by the assessment. This is how I built it, not what runs inside. Claude is the main coding partner. Whisper Flow lets me prompt by voice. Cursor handles inline edits. The point is, this is not a thing I built in a week. It is a thing I built in days because I knew which AI tools to chain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ethics points. Bias, models inherit bias, mitigated by editor override and audit trail. Privacy, only the abstract leaves the machine, and only when the paid AI is on. Accountability, AI drafts and humans submit. Reliability, the AI-text score is a flag, not a verdict. Real detectors fail on non-native English writers. We say so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Enhances, what AI clearly improves. Complements, where AI and humans share the work. Challenges, the honest risks. The point is being clear-eyed about what AI changes and what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demo plan. Author submits a paper, three AI buttons sit next to the abstract. Editor sees AI-ranked reviewers with scores and can override. Reviewer hits Generate AI draft to start. Reader gets a public newspaper-style feed. Same password for everyone, Password123!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Now we have the platform. Next two weeks I activate Claude and benchmark it. Then upgrade matching to sentence transformers. Then add a conflict-of-interest detector. By submission, a small user study comparing reviewer thoroughness with and without AI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key sources. Vaswani 2017 is the original transformer paper. Brown 2020 is GPT-3. Reimers and Gurevych is sentence-BERT. Salton 1988 is TF-IDF, the technique I use today. Bender 2021 and Weidinger 2022 are the canonical bias and risk taxonomy papers. Liang 2023 is the one that matters most for ethics, AI detectors are biased against non-native English writers. Anthropic is the model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Questions welcome. I'd rather get picked apart now than build the next phase with the same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2286000"/>
            <a:ext cx="457200" cy="73152"/>
          </a:xfrm>
          <a:prstGeom prst="rect">
            <a:avLst/>
          </a:prstGeom>
          <a:solidFill>
            <a:srgbClr val="F4B942"/>
          </a:solidFill>
          <a:ln/>
        </p:spPr>
      </p:sp>
      <p:sp>
        <p:nvSpPr>
          <p:cNvPr id="3" name="Text 1"/>
          <p:cNvSpPr/>
          <p:nvPr/>
        </p:nvSpPr>
        <p:spPr>
          <a:xfrm>
            <a:off x="548640" y="2468880"/>
            <a:ext cx="10972800" cy="548640"/>
          </a:xfrm>
          <a:prstGeom prst="rect">
            <a:avLst/>
          </a:prstGeom>
          <a:noFill/>
          <a:ln/>
        </p:spPr>
        <p:txBody>
          <a:bodyPr wrap="square" lIns="0" tIns="0" rIns="0" bIns="0" rtlCol="0" anchor="ctr"/>
          <a:lstStyle/>
          <a:p>
            <a:pPr indent="0" marL="0">
              <a:buNone/>
            </a:pPr>
            <a:r>
              <a:rPr lang="en-US" sz="1800" b="1" spc="800" kern="0" dirty="0">
                <a:solidFill>
                  <a:srgbClr val="CADCFC"/>
                </a:solidFill>
                <a:latin typeface="Calibri" pitchFamily="34" charset="0"/>
                <a:ea typeface="Calibri" pitchFamily="34" charset="-122"/>
                <a:cs typeface="Calibri" pitchFamily="34" charset="-120"/>
              </a:rPr>
              <a:t>AI-AUGMENTED</a:t>
            </a:r>
            <a:endParaRPr lang="en-US" sz="1800" dirty="0"/>
          </a:p>
        </p:txBody>
      </p:sp>
      <p:sp>
        <p:nvSpPr>
          <p:cNvPr id="4" name="Text 2"/>
          <p:cNvSpPr/>
          <p:nvPr/>
        </p:nvSpPr>
        <p:spPr>
          <a:xfrm>
            <a:off x="548640" y="2926080"/>
            <a:ext cx="10972800" cy="182880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Paper Submission</a:t>
            </a:r>
            <a:endParaRPr lang="en-US" sz="5600" dirty="0"/>
          </a:p>
          <a:p>
            <a:pPr indent="0" marL="0">
              <a:buNone/>
            </a:pPr>
            <a:r>
              <a:rPr lang="en-US" sz="5600" b="1" dirty="0">
                <a:solidFill>
                  <a:srgbClr val="FFFFFF"/>
                </a:solidFill>
                <a:latin typeface="Georgia" pitchFamily="34" charset="0"/>
                <a:ea typeface="Georgia" pitchFamily="34" charset="-122"/>
                <a:cs typeface="Georgia" pitchFamily="34" charset="-120"/>
              </a:rPr>
              <a:t>&amp; Peer-Review System</a:t>
            </a:r>
            <a:endParaRPr lang="en-US" sz="5600" dirty="0"/>
          </a:p>
        </p:txBody>
      </p:sp>
      <p:sp>
        <p:nvSpPr>
          <p:cNvPr id="5" name="Text 3"/>
          <p:cNvSpPr/>
          <p:nvPr/>
        </p:nvSpPr>
        <p:spPr>
          <a:xfrm>
            <a:off x="548640" y="4754880"/>
            <a:ext cx="1097280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Taking an old course project and rebuilding it with Generative AI</a:t>
            </a:r>
            <a:endParaRPr lang="en-US" sz="1800" dirty="0"/>
          </a:p>
        </p:txBody>
      </p:sp>
      <p:sp>
        <p:nvSpPr>
          <p:cNvPr id="6" name="Text 4"/>
          <p:cNvSpPr/>
          <p:nvPr/>
        </p:nvSpPr>
        <p:spPr>
          <a:xfrm>
            <a:off x="548640" y="585216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Bhanu Gupta</a:t>
            </a:r>
            <a:endParaRPr lang="en-US" sz="1600" dirty="0"/>
          </a:p>
        </p:txBody>
      </p:sp>
      <p:sp>
        <p:nvSpPr>
          <p:cNvPr id="7" name="Text 5"/>
          <p:cNvSpPr/>
          <p:nvPr/>
        </p:nvSpPr>
        <p:spPr>
          <a:xfrm>
            <a:off x="548640" y="6172200"/>
            <a:ext cx="91440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IA730151 Year Three Special Topic (GenAI)  ·  GenAI Assessment</a:t>
            </a:r>
            <a:endParaRPr lang="en-US" sz="1200" dirty="0"/>
          </a:p>
        </p:txBody>
      </p:sp>
      <p:sp>
        <p:nvSpPr>
          <p:cNvPr id="8" name="Shape 6"/>
          <p:cNvSpPr/>
          <p:nvPr/>
        </p:nvSpPr>
        <p:spPr>
          <a:xfrm>
            <a:off x="10728655" y="548640"/>
            <a:ext cx="822960" cy="822960"/>
          </a:xfrm>
          <a:prstGeom prst="ellipse">
            <a:avLst/>
          </a:prstGeom>
          <a:solidFill>
            <a:srgbClr val="141C49"/>
          </a:solidFill>
          <a:ln w="12700">
            <a:solidFill>
              <a:srgbClr val="F4B942"/>
            </a:solidFill>
            <a:prstDash val="solid"/>
          </a:ln>
        </p:spPr>
      </p:sp>
      <p:pic>
        <p:nvPicPr>
          <p:cNvPr id="9" name="Image 0" descr="preencoded.png">    </p:cNvPr>
          <p:cNvPicPr>
            <a:picLocks noChangeAspect="1"/>
          </p:cNvPicPr>
          <p:nvPr/>
        </p:nvPicPr>
        <p:blipFill>
          <a:blip r:embed="rId1"/>
          <a:stretch>
            <a:fillRect/>
          </a:stretch>
        </p:blipFill>
        <p:spPr>
          <a:xfrm>
            <a:off x="10911535" y="73152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The original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Context, objectives, methodology, results</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1</a:t>
            </a:r>
            <a:endParaRPr lang="en-US" sz="1100" dirty="0"/>
          </a:p>
        </p:txBody>
      </p:sp>
      <p:sp>
        <p:nvSpPr>
          <p:cNvPr id="7" name="Shape 5"/>
          <p:cNvSpPr/>
          <p:nvPr/>
        </p:nvSpPr>
        <p:spPr>
          <a:xfrm>
            <a:off x="548640" y="1554480"/>
            <a:ext cx="5440680" cy="2011680"/>
          </a:xfrm>
          <a:prstGeom prst="rect">
            <a:avLst/>
          </a:prstGeom>
          <a:solidFill>
            <a:srgbClr val="F7F8FB"/>
          </a:solidFill>
          <a:ln w="12700">
            <a:solidFill>
              <a:srgbClr val="E2E5EE"/>
            </a:solidFill>
            <a:prstDash val="solid"/>
          </a:ln>
        </p:spPr>
      </p:sp>
      <p:sp>
        <p:nvSpPr>
          <p:cNvPr id="8" name="Shape 6"/>
          <p:cNvSpPr/>
          <p:nvPr/>
        </p:nvSpPr>
        <p:spPr>
          <a:xfrm>
            <a:off x="548640" y="1554480"/>
            <a:ext cx="73152" cy="2011680"/>
          </a:xfrm>
          <a:prstGeom prst="rect">
            <a:avLst/>
          </a:prstGeom>
          <a:solidFill>
            <a:srgbClr val="1E2761"/>
          </a:solidFill>
          <a:ln/>
        </p:spPr>
      </p:sp>
      <p:sp>
        <p:nvSpPr>
          <p:cNvPr id="9" name="Shape 7"/>
          <p:cNvSpPr/>
          <p:nvPr/>
        </p:nvSpPr>
        <p:spPr>
          <a:xfrm>
            <a:off x="822960" y="1828800"/>
            <a:ext cx="594360" cy="594360"/>
          </a:xfrm>
          <a:prstGeom prst="ellipse">
            <a:avLst/>
          </a:prstGeom>
          <a:solidFill>
            <a:srgbClr val="1E2761"/>
          </a:solidFill>
          <a:ln/>
        </p:spPr>
      </p:sp>
      <p:pic>
        <p:nvPicPr>
          <p:cNvPr id="10" name="Image 0" descr="preencoded.png">    </p:cNvPr>
          <p:cNvPicPr>
            <a:picLocks noChangeAspect="1"/>
          </p:cNvPicPr>
          <p:nvPr/>
        </p:nvPicPr>
        <p:blipFill>
          <a:blip r:embed="rId1"/>
          <a:stretch>
            <a:fillRect/>
          </a:stretch>
        </p:blipFill>
        <p:spPr>
          <a:xfrm>
            <a:off x="941832" y="1947672"/>
            <a:ext cx="365760" cy="365760"/>
          </a:xfrm>
          <a:prstGeom prst="rect">
            <a:avLst/>
          </a:prstGeom>
        </p:spPr>
      </p:pic>
      <p:sp>
        <p:nvSpPr>
          <p:cNvPr id="11" name="Text 8"/>
          <p:cNvSpPr/>
          <p:nvPr/>
        </p:nvSpPr>
        <p:spPr>
          <a:xfrm>
            <a:off x="1600200" y="1828800"/>
            <a:ext cx="4114800" cy="45720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Context</a:t>
            </a:r>
            <a:endParaRPr lang="en-US" sz="1800" dirty="0"/>
          </a:p>
        </p:txBody>
      </p:sp>
      <p:sp>
        <p:nvSpPr>
          <p:cNvPr id="12" name="Text 9"/>
          <p:cNvSpPr/>
          <p:nvPr/>
        </p:nvSpPr>
        <p:spPr>
          <a:xfrm>
            <a:off x="822960" y="251460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A coursework assignment in a previous web-development paper. The brief was to build a working peer-review platform that handles the full submission to publication flow.</a:t>
            </a:r>
            <a:endParaRPr lang="en-US" sz="1200" dirty="0"/>
          </a:p>
        </p:txBody>
      </p:sp>
      <p:sp>
        <p:nvSpPr>
          <p:cNvPr id="13" name="Shape 10"/>
          <p:cNvSpPr/>
          <p:nvPr/>
        </p:nvSpPr>
        <p:spPr>
          <a:xfrm>
            <a:off x="6199632" y="1554480"/>
            <a:ext cx="5440680" cy="2011680"/>
          </a:xfrm>
          <a:prstGeom prst="rect">
            <a:avLst/>
          </a:prstGeom>
          <a:solidFill>
            <a:srgbClr val="F7F8FB"/>
          </a:solidFill>
          <a:ln w="12700">
            <a:solidFill>
              <a:srgbClr val="E2E5EE"/>
            </a:solidFill>
            <a:prstDash val="solid"/>
          </a:ln>
        </p:spPr>
      </p:sp>
      <p:sp>
        <p:nvSpPr>
          <p:cNvPr id="14" name="Shape 11"/>
          <p:cNvSpPr/>
          <p:nvPr/>
        </p:nvSpPr>
        <p:spPr>
          <a:xfrm>
            <a:off x="6199632" y="1554480"/>
            <a:ext cx="73152" cy="2011680"/>
          </a:xfrm>
          <a:prstGeom prst="rect">
            <a:avLst/>
          </a:prstGeom>
          <a:solidFill>
            <a:srgbClr val="1E2761"/>
          </a:solidFill>
          <a:ln/>
        </p:spPr>
      </p:sp>
      <p:sp>
        <p:nvSpPr>
          <p:cNvPr id="15" name="Shape 12"/>
          <p:cNvSpPr/>
          <p:nvPr/>
        </p:nvSpPr>
        <p:spPr>
          <a:xfrm>
            <a:off x="6473952" y="1828800"/>
            <a:ext cx="594360" cy="594360"/>
          </a:xfrm>
          <a:prstGeom prst="ellipse">
            <a:avLst/>
          </a:prstGeom>
          <a:solidFill>
            <a:srgbClr val="1E2761"/>
          </a:solidFill>
          <a:ln/>
        </p:spPr>
      </p:sp>
      <p:pic>
        <p:nvPicPr>
          <p:cNvPr id="16" name="Image 1" descr="preencoded.png">    </p:cNvPr>
          <p:cNvPicPr>
            <a:picLocks noChangeAspect="1"/>
          </p:cNvPicPr>
          <p:nvPr/>
        </p:nvPicPr>
        <p:blipFill>
          <a:blip r:embed="rId2"/>
          <a:stretch>
            <a:fillRect/>
          </a:stretch>
        </p:blipFill>
        <p:spPr>
          <a:xfrm>
            <a:off x="6592824" y="1947672"/>
            <a:ext cx="365760" cy="365760"/>
          </a:xfrm>
          <a:prstGeom prst="rect">
            <a:avLst/>
          </a:prstGeom>
        </p:spPr>
      </p:pic>
      <p:sp>
        <p:nvSpPr>
          <p:cNvPr id="17" name="Text 13"/>
          <p:cNvSpPr/>
          <p:nvPr/>
        </p:nvSpPr>
        <p:spPr>
          <a:xfrm>
            <a:off x="7251192" y="1828800"/>
            <a:ext cx="4114800" cy="45720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Objectives</a:t>
            </a:r>
            <a:endParaRPr lang="en-US" sz="1800" dirty="0"/>
          </a:p>
        </p:txBody>
      </p:sp>
      <p:sp>
        <p:nvSpPr>
          <p:cNvPr id="18" name="Text 14"/>
          <p:cNvSpPr/>
          <p:nvPr/>
        </p:nvSpPr>
        <p:spPr>
          <a:xfrm>
            <a:off x="6473952" y="251460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Show full-stack web skills: user accounts with roles, file uploads, a structured review workflow, and an Excel export so an editor can report on submissions.</a:t>
            </a:r>
            <a:endParaRPr lang="en-US" sz="1200" dirty="0"/>
          </a:p>
        </p:txBody>
      </p:sp>
      <p:sp>
        <p:nvSpPr>
          <p:cNvPr id="19" name="Shape 15"/>
          <p:cNvSpPr/>
          <p:nvPr/>
        </p:nvSpPr>
        <p:spPr>
          <a:xfrm>
            <a:off x="548640" y="3931920"/>
            <a:ext cx="5440680" cy="2011680"/>
          </a:xfrm>
          <a:prstGeom prst="rect">
            <a:avLst/>
          </a:prstGeom>
          <a:solidFill>
            <a:srgbClr val="F7F8FB"/>
          </a:solidFill>
          <a:ln w="12700">
            <a:solidFill>
              <a:srgbClr val="E2E5EE"/>
            </a:solidFill>
            <a:prstDash val="solid"/>
          </a:ln>
        </p:spPr>
      </p:sp>
      <p:sp>
        <p:nvSpPr>
          <p:cNvPr id="20" name="Shape 16"/>
          <p:cNvSpPr/>
          <p:nvPr/>
        </p:nvSpPr>
        <p:spPr>
          <a:xfrm>
            <a:off x="548640" y="3931920"/>
            <a:ext cx="73152" cy="2011680"/>
          </a:xfrm>
          <a:prstGeom prst="rect">
            <a:avLst/>
          </a:prstGeom>
          <a:solidFill>
            <a:srgbClr val="1E2761"/>
          </a:solidFill>
          <a:ln/>
        </p:spPr>
      </p:sp>
      <p:sp>
        <p:nvSpPr>
          <p:cNvPr id="21" name="Shape 17"/>
          <p:cNvSpPr/>
          <p:nvPr/>
        </p:nvSpPr>
        <p:spPr>
          <a:xfrm>
            <a:off x="822960" y="4206240"/>
            <a:ext cx="594360" cy="594360"/>
          </a:xfrm>
          <a:prstGeom prst="ellipse">
            <a:avLst/>
          </a:prstGeom>
          <a:solidFill>
            <a:srgbClr val="1E2761"/>
          </a:solidFill>
          <a:ln/>
        </p:spPr>
      </p:sp>
      <p:pic>
        <p:nvPicPr>
          <p:cNvPr id="22" name="Image 2" descr="preencoded.png">    </p:cNvPr>
          <p:cNvPicPr>
            <a:picLocks noChangeAspect="1"/>
          </p:cNvPicPr>
          <p:nvPr/>
        </p:nvPicPr>
        <p:blipFill>
          <a:blip r:embed="rId3"/>
          <a:stretch>
            <a:fillRect/>
          </a:stretch>
        </p:blipFill>
        <p:spPr>
          <a:xfrm>
            <a:off x="941832" y="4325112"/>
            <a:ext cx="365760" cy="365760"/>
          </a:xfrm>
          <a:prstGeom prst="rect">
            <a:avLst/>
          </a:prstGeom>
        </p:spPr>
      </p:pic>
      <p:sp>
        <p:nvSpPr>
          <p:cNvPr id="23" name="Text 18"/>
          <p:cNvSpPr/>
          <p:nvPr/>
        </p:nvSpPr>
        <p:spPr>
          <a:xfrm>
            <a:off x="1600200" y="4206240"/>
            <a:ext cx="4114800" cy="45720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Methodology</a:t>
            </a:r>
            <a:endParaRPr lang="en-US" sz="1800" dirty="0"/>
          </a:p>
        </p:txBody>
      </p:sp>
      <p:sp>
        <p:nvSpPr>
          <p:cNvPr id="24" name="Text 19"/>
          <p:cNvSpPr/>
          <p:nvPr/>
        </p:nvSpPr>
        <p:spPr>
          <a:xfrm>
            <a:off x="822960" y="489204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Built iteratively in Node.js with Express, EJS pages, and a small SQLite database. Tested by clicking through every flow in the browser. Submitted as one repo.</a:t>
            </a:r>
            <a:endParaRPr lang="en-US" sz="1200" dirty="0"/>
          </a:p>
        </p:txBody>
      </p:sp>
      <p:sp>
        <p:nvSpPr>
          <p:cNvPr id="25" name="Shape 20"/>
          <p:cNvSpPr/>
          <p:nvPr/>
        </p:nvSpPr>
        <p:spPr>
          <a:xfrm>
            <a:off x="6199632" y="3931920"/>
            <a:ext cx="5440680" cy="2011680"/>
          </a:xfrm>
          <a:prstGeom prst="rect">
            <a:avLst/>
          </a:prstGeom>
          <a:solidFill>
            <a:srgbClr val="F7F8FB"/>
          </a:solidFill>
          <a:ln w="12700">
            <a:solidFill>
              <a:srgbClr val="E2E5EE"/>
            </a:solidFill>
            <a:prstDash val="solid"/>
          </a:ln>
        </p:spPr>
      </p:sp>
      <p:sp>
        <p:nvSpPr>
          <p:cNvPr id="26" name="Shape 21"/>
          <p:cNvSpPr/>
          <p:nvPr/>
        </p:nvSpPr>
        <p:spPr>
          <a:xfrm>
            <a:off x="6199632" y="3931920"/>
            <a:ext cx="73152" cy="2011680"/>
          </a:xfrm>
          <a:prstGeom prst="rect">
            <a:avLst/>
          </a:prstGeom>
          <a:solidFill>
            <a:srgbClr val="1E2761"/>
          </a:solidFill>
          <a:ln/>
        </p:spPr>
      </p:sp>
      <p:sp>
        <p:nvSpPr>
          <p:cNvPr id="27" name="Shape 22"/>
          <p:cNvSpPr/>
          <p:nvPr/>
        </p:nvSpPr>
        <p:spPr>
          <a:xfrm>
            <a:off x="6473952" y="4206240"/>
            <a:ext cx="594360" cy="594360"/>
          </a:xfrm>
          <a:prstGeom prst="ellipse">
            <a:avLst/>
          </a:prstGeom>
          <a:solidFill>
            <a:srgbClr val="1E2761"/>
          </a:solidFill>
          <a:ln/>
        </p:spPr>
      </p:sp>
      <p:pic>
        <p:nvPicPr>
          <p:cNvPr id="28" name="Image 3" descr="preencoded.png">    </p:cNvPr>
          <p:cNvPicPr>
            <a:picLocks noChangeAspect="1"/>
          </p:cNvPicPr>
          <p:nvPr/>
        </p:nvPicPr>
        <p:blipFill>
          <a:blip r:embed="rId4"/>
          <a:stretch>
            <a:fillRect/>
          </a:stretch>
        </p:blipFill>
        <p:spPr>
          <a:xfrm>
            <a:off x="6592824" y="4325112"/>
            <a:ext cx="365760" cy="365760"/>
          </a:xfrm>
          <a:prstGeom prst="rect">
            <a:avLst/>
          </a:prstGeom>
        </p:spPr>
      </p:pic>
      <p:sp>
        <p:nvSpPr>
          <p:cNvPr id="29" name="Text 23"/>
          <p:cNvSpPr/>
          <p:nvPr/>
        </p:nvSpPr>
        <p:spPr>
          <a:xfrm>
            <a:off x="7251192" y="4206240"/>
            <a:ext cx="4114800" cy="45720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Results</a:t>
            </a:r>
            <a:endParaRPr lang="en-US" sz="1800" dirty="0"/>
          </a:p>
        </p:txBody>
      </p:sp>
      <p:sp>
        <p:nvSpPr>
          <p:cNvPr id="30" name="Text 24"/>
          <p:cNvSpPr/>
          <p:nvPr/>
        </p:nvSpPr>
        <p:spPr>
          <a:xfrm>
            <a:off x="6473952" y="4892040"/>
            <a:ext cx="498348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Working five-role website (author, reviewer, editor, admin, reader) with seven sample manuscripts and five sample reviews. A public reader page lists accepted papers.</a:t>
            </a:r>
            <a:endParaRPr lang="en-US" sz="1200" dirty="0"/>
          </a:p>
        </p:txBody>
      </p:sp>
      <p:sp>
        <p:nvSpPr>
          <p:cNvPr id="31" name="Shape 25"/>
          <p:cNvSpPr/>
          <p:nvPr/>
        </p:nvSpPr>
        <p:spPr>
          <a:xfrm>
            <a:off x="548640" y="6080760"/>
            <a:ext cx="11064240" cy="502920"/>
          </a:xfrm>
          <a:prstGeom prst="rect">
            <a:avLst/>
          </a:prstGeom>
          <a:solidFill>
            <a:srgbClr val="CADCFC"/>
          </a:solidFill>
          <a:ln/>
        </p:spPr>
      </p:sp>
      <p:sp>
        <p:nvSpPr>
          <p:cNvPr id="32" name="Text 26"/>
          <p:cNvSpPr/>
          <p:nvPr/>
        </p:nvSpPr>
        <p:spPr>
          <a:xfrm>
            <a:off x="777240" y="608076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33" name="Text 27"/>
          <p:cNvSpPr/>
          <p:nvPr/>
        </p:nvSpPr>
        <p:spPr>
          <a:xfrm>
            <a:off x="2331720" y="608076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It is a website where authors upload research papers, reviewers leave feedback, an editor decides what gets accepted, and the public can read accepted papers.</a:t>
            </a:r>
            <a:endParaRPr lang="en-US" sz="1100" dirty="0"/>
          </a:p>
        </p:txBody>
      </p:sp>
      <p:sp>
        <p:nvSpPr>
          <p:cNvPr id="34" name="Text 28"/>
          <p:cNvSpPr/>
          <p:nvPr/>
        </p:nvSpPr>
        <p:spPr>
          <a:xfrm>
            <a:off x="548640" y="6492240"/>
            <a:ext cx="82296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5" name="Text 29"/>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Challenges, limitations, and gaps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An honest audit of the original codebase</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1</a:t>
            </a:r>
            <a:endParaRPr lang="en-US" sz="1100" dirty="0"/>
          </a:p>
        </p:txBody>
      </p:sp>
      <p:sp>
        <p:nvSpPr>
          <p:cNvPr id="7" name="Shape 5"/>
          <p:cNvSpPr/>
          <p:nvPr/>
        </p:nvSpPr>
        <p:spPr>
          <a:xfrm>
            <a:off x="548640" y="1554480"/>
            <a:ext cx="3520440" cy="2194560"/>
          </a:xfrm>
          <a:prstGeom prst="rect">
            <a:avLst/>
          </a:prstGeom>
          <a:solidFill>
            <a:srgbClr val="F7F8FB"/>
          </a:solidFill>
          <a:ln w="12700">
            <a:solidFill>
              <a:srgbClr val="E2E5EE"/>
            </a:solidFill>
            <a:prstDash val="solid"/>
          </a:ln>
        </p:spPr>
      </p:sp>
      <p:sp>
        <p:nvSpPr>
          <p:cNvPr id="8" name="Shape 6"/>
          <p:cNvSpPr/>
          <p:nvPr/>
        </p:nvSpPr>
        <p:spPr>
          <a:xfrm>
            <a:off x="777240" y="1783080"/>
            <a:ext cx="502920" cy="502920"/>
          </a:xfrm>
          <a:prstGeom prst="ellipse">
            <a:avLst/>
          </a:prstGeom>
          <a:solidFill>
            <a:srgbClr val="FCE7E5"/>
          </a:solidFill>
          <a:ln/>
        </p:spPr>
      </p:sp>
      <p:pic>
        <p:nvPicPr>
          <p:cNvPr id="9" name="Image 0" descr="preencoded.png">    </p:cNvPr>
          <p:cNvPicPr>
            <a:picLocks noChangeAspect="1"/>
          </p:cNvPicPr>
          <p:nvPr/>
        </p:nvPicPr>
        <p:blipFill>
          <a:blip r:embed="rId1"/>
          <a:stretch>
            <a:fillRect/>
          </a:stretch>
        </p:blipFill>
        <p:spPr>
          <a:xfrm>
            <a:off x="877824" y="1883664"/>
            <a:ext cx="301752" cy="301752"/>
          </a:xfrm>
          <a:prstGeom prst="rect">
            <a:avLst/>
          </a:prstGeom>
        </p:spPr>
      </p:pic>
      <p:sp>
        <p:nvSpPr>
          <p:cNvPr id="10" name="Text 7"/>
          <p:cNvSpPr/>
          <p:nvPr/>
        </p:nvSpPr>
        <p:spPr>
          <a:xfrm>
            <a:off x="1417320" y="1783080"/>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Buggy login system</a:t>
            </a:r>
            <a:endParaRPr lang="en-US" sz="1600" dirty="0"/>
          </a:p>
        </p:txBody>
      </p:sp>
      <p:sp>
        <p:nvSpPr>
          <p:cNvPr id="11" name="Text 8"/>
          <p:cNvSpPr/>
          <p:nvPr/>
        </p:nvSpPr>
        <p:spPr>
          <a:xfrm>
            <a:off x="777240" y="246888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The login glue code had bugs. Sessions misconfigured, wrong field used to find the author. Some pages would silently fail to load anything.</a:t>
            </a:r>
            <a:endParaRPr lang="en-US" sz="1200" dirty="0"/>
          </a:p>
        </p:txBody>
      </p:sp>
      <p:sp>
        <p:nvSpPr>
          <p:cNvPr id="12" name="Shape 9"/>
          <p:cNvSpPr/>
          <p:nvPr/>
        </p:nvSpPr>
        <p:spPr>
          <a:xfrm>
            <a:off x="4526280" y="1554480"/>
            <a:ext cx="3520440" cy="2194560"/>
          </a:xfrm>
          <a:prstGeom prst="rect">
            <a:avLst/>
          </a:prstGeom>
          <a:solidFill>
            <a:srgbClr val="F7F8FB"/>
          </a:solidFill>
          <a:ln w="12700">
            <a:solidFill>
              <a:srgbClr val="E2E5EE"/>
            </a:solidFill>
            <a:prstDash val="solid"/>
          </a:ln>
        </p:spPr>
      </p:sp>
      <p:sp>
        <p:nvSpPr>
          <p:cNvPr id="13" name="Shape 10"/>
          <p:cNvSpPr/>
          <p:nvPr/>
        </p:nvSpPr>
        <p:spPr>
          <a:xfrm>
            <a:off x="4754880" y="1783080"/>
            <a:ext cx="502920" cy="502920"/>
          </a:xfrm>
          <a:prstGeom prst="ellipse">
            <a:avLst/>
          </a:prstGeom>
          <a:solidFill>
            <a:srgbClr val="FCE7E5"/>
          </a:solidFill>
          <a:ln/>
        </p:spPr>
      </p:sp>
      <p:pic>
        <p:nvPicPr>
          <p:cNvPr id="14" name="Image 1" descr="preencoded.png">    </p:cNvPr>
          <p:cNvPicPr>
            <a:picLocks noChangeAspect="1"/>
          </p:cNvPicPr>
          <p:nvPr/>
        </p:nvPicPr>
        <p:blipFill>
          <a:blip r:embed="rId2"/>
          <a:stretch>
            <a:fillRect/>
          </a:stretch>
        </p:blipFill>
        <p:spPr>
          <a:xfrm>
            <a:off x="4855464" y="1883664"/>
            <a:ext cx="301752" cy="301752"/>
          </a:xfrm>
          <a:prstGeom prst="rect">
            <a:avLst/>
          </a:prstGeom>
        </p:spPr>
      </p:pic>
      <p:sp>
        <p:nvSpPr>
          <p:cNvPr id="15" name="Text 11"/>
          <p:cNvSpPr/>
          <p:nvPr/>
        </p:nvSpPr>
        <p:spPr>
          <a:xfrm>
            <a:off x="5394960" y="1783080"/>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Random reviewer pick</a:t>
            </a:r>
            <a:endParaRPr lang="en-US" sz="1600" dirty="0"/>
          </a:p>
        </p:txBody>
      </p:sp>
      <p:sp>
        <p:nvSpPr>
          <p:cNvPr id="16" name="Text 12"/>
          <p:cNvSpPr/>
          <p:nvPr/>
        </p:nvSpPr>
        <p:spPr>
          <a:xfrm>
            <a:off x="4754880" y="246888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When a paper came in, the system picked a reviewer at random. A real journal never works this way. It needs topic matching.</a:t>
            </a:r>
            <a:endParaRPr lang="en-US" sz="1200" dirty="0"/>
          </a:p>
        </p:txBody>
      </p:sp>
      <p:sp>
        <p:nvSpPr>
          <p:cNvPr id="17" name="Shape 13"/>
          <p:cNvSpPr/>
          <p:nvPr/>
        </p:nvSpPr>
        <p:spPr>
          <a:xfrm>
            <a:off x="8503920" y="1554480"/>
            <a:ext cx="3520440" cy="2194560"/>
          </a:xfrm>
          <a:prstGeom prst="rect">
            <a:avLst/>
          </a:prstGeom>
          <a:solidFill>
            <a:srgbClr val="F7F8FB"/>
          </a:solidFill>
          <a:ln w="12700">
            <a:solidFill>
              <a:srgbClr val="E2E5EE"/>
            </a:solidFill>
            <a:prstDash val="solid"/>
          </a:ln>
        </p:spPr>
      </p:sp>
      <p:sp>
        <p:nvSpPr>
          <p:cNvPr id="18" name="Shape 14"/>
          <p:cNvSpPr/>
          <p:nvPr/>
        </p:nvSpPr>
        <p:spPr>
          <a:xfrm>
            <a:off x="8732520" y="1783080"/>
            <a:ext cx="502920" cy="502920"/>
          </a:xfrm>
          <a:prstGeom prst="ellipse">
            <a:avLst/>
          </a:prstGeom>
          <a:solidFill>
            <a:srgbClr val="FCE7E5"/>
          </a:solidFill>
          <a:ln/>
        </p:spPr>
      </p:sp>
      <p:pic>
        <p:nvPicPr>
          <p:cNvPr id="19" name="Image 2" descr="preencoded.png">    </p:cNvPr>
          <p:cNvPicPr>
            <a:picLocks noChangeAspect="1"/>
          </p:cNvPicPr>
          <p:nvPr/>
        </p:nvPicPr>
        <p:blipFill>
          <a:blip r:embed="rId3"/>
          <a:stretch>
            <a:fillRect/>
          </a:stretch>
        </p:blipFill>
        <p:spPr>
          <a:xfrm>
            <a:off x="8833104" y="1883664"/>
            <a:ext cx="301752" cy="301752"/>
          </a:xfrm>
          <a:prstGeom prst="rect">
            <a:avLst/>
          </a:prstGeom>
        </p:spPr>
      </p:pic>
      <p:sp>
        <p:nvSpPr>
          <p:cNvPr id="20" name="Text 15"/>
          <p:cNvSpPr/>
          <p:nvPr/>
        </p:nvSpPr>
        <p:spPr>
          <a:xfrm>
            <a:off x="9372600" y="1783080"/>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No integrity checks</a:t>
            </a:r>
            <a:endParaRPr lang="en-US" sz="1600" dirty="0"/>
          </a:p>
        </p:txBody>
      </p:sp>
      <p:sp>
        <p:nvSpPr>
          <p:cNvPr id="21" name="Text 16"/>
          <p:cNvSpPr/>
          <p:nvPr/>
        </p:nvSpPr>
        <p:spPr>
          <a:xfrm>
            <a:off x="8732520" y="246888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No plagiarism check. No way to spot duplicate submissions. No flagging of AI-generated text. A real conference would not accept that.</a:t>
            </a:r>
            <a:endParaRPr lang="en-US" sz="1200" dirty="0"/>
          </a:p>
        </p:txBody>
      </p:sp>
      <p:sp>
        <p:nvSpPr>
          <p:cNvPr id="22" name="Shape 17"/>
          <p:cNvSpPr/>
          <p:nvPr/>
        </p:nvSpPr>
        <p:spPr>
          <a:xfrm>
            <a:off x="548640" y="3931920"/>
            <a:ext cx="3520440" cy="2194560"/>
          </a:xfrm>
          <a:prstGeom prst="rect">
            <a:avLst/>
          </a:prstGeom>
          <a:solidFill>
            <a:srgbClr val="F7F8FB"/>
          </a:solidFill>
          <a:ln w="12700">
            <a:solidFill>
              <a:srgbClr val="E2E5EE"/>
            </a:solidFill>
            <a:prstDash val="solid"/>
          </a:ln>
        </p:spPr>
      </p:sp>
      <p:sp>
        <p:nvSpPr>
          <p:cNvPr id="23" name="Shape 18"/>
          <p:cNvSpPr/>
          <p:nvPr/>
        </p:nvSpPr>
        <p:spPr>
          <a:xfrm>
            <a:off x="777240" y="4160520"/>
            <a:ext cx="502920" cy="502920"/>
          </a:xfrm>
          <a:prstGeom prst="ellipse">
            <a:avLst/>
          </a:prstGeom>
          <a:solidFill>
            <a:srgbClr val="FCE7E5"/>
          </a:solidFill>
          <a:ln/>
        </p:spPr>
      </p:sp>
      <p:pic>
        <p:nvPicPr>
          <p:cNvPr id="24" name="Image 3" descr="preencoded.png">    </p:cNvPr>
          <p:cNvPicPr>
            <a:picLocks noChangeAspect="1"/>
          </p:cNvPicPr>
          <p:nvPr/>
        </p:nvPicPr>
        <p:blipFill>
          <a:blip r:embed="rId4"/>
          <a:stretch>
            <a:fillRect/>
          </a:stretch>
        </p:blipFill>
        <p:spPr>
          <a:xfrm>
            <a:off x="877824" y="4261104"/>
            <a:ext cx="301752" cy="301752"/>
          </a:xfrm>
          <a:prstGeom prst="rect">
            <a:avLst/>
          </a:prstGeom>
        </p:spPr>
      </p:pic>
      <p:sp>
        <p:nvSpPr>
          <p:cNvPr id="25" name="Text 19"/>
          <p:cNvSpPr/>
          <p:nvPr/>
        </p:nvSpPr>
        <p:spPr>
          <a:xfrm>
            <a:off x="1417320" y="4160520"/>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Reviews too unstructured</a:t>
            </a:r>
            <a:endParaRPr lang="en-US" sz="1600" dirty="0"/>
          </a:p>
        </p:txBody>
      </p:sp>
      <p:sp>
        <p:nvSpPr>
          <p:cNvPr id="26" name="Text 20"/>
          <p:cNvSpPr/>
          <p:nvPr/>
        </p:nvSpPr>
        <p:spPr>
          <a:xfrm>
            <a:off x="777240" y="484632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Reviewers got one giant text box. No scores, no recommendation field, no way for the editor to compare two reviews side by side.</a:t>
            </a:r>
            <a:endParaRPr lang="en-US" sz="1200" dirty="0"/>
          </a:p>
        </p:txBody>
      </p:sp>
      <p:sp>
        <p:nvSpPr>
          <p:cNvPr id="27" name="Shape 21"/>
          <p:cNvSpPr/>
          <p:nvPr/>
        </p:nvSpPr>
        <p:spPr>
          <a:xfrm>
            <a:off x="4526280" y="3931920"/>
            <a:ext cx="3520440" cy="2194560"/>
          </a:xfrm>
          <a:prstGeom prst="rect">
            <a:avLst/>
          </a:prstGeom>
          <a:solidFill>
            <a:srgbClr val="F7F8FB"/>
          </a:solidFill>
          <a:ln w="12700">
            <a:solidFill>
              <a:srgbClr val="E2E5EE"/>
            </a:solidFill>
            <a:prstDash val="solid"/>
          </a:ln>
        </p:spPr>
      </p:sp>
      <p:sp>
        <p:nvSpPr>
          <p:cNvPr id="28" name="Shape 22"/>
          <p:cNvSpPr/>
          <p:nvPr/>
        </p:nvSpPr>
        <p:spPr>
          <a:xfrm>
            <a:off x="4754880" y="4160520"/>
            <a:ext cx="502920" cy="502920"/>
          </a:xfrm>
          <a:prstGeom prst="ellipse">
            <a:avLst/>
          </a:prstGeom>
          <a:solidFill>
            <a:srgbClr val="FCE7E5"/>
          </a:solidFill>
          <a:ln/>
        </p:spPr>
      </p:sp>
      <p:pic>
        <p:nvPicPr>
          <p:cNvPr id="29" name="Image 4" descr="preencoded.png">    </p:cNvPr>
          <p:cNvPicPr>
            <a:picLocks noChangeAspect="1"/>
          </p:cNvPicPr>
          <p:nvPr/>
        </p:nvPicPr>
        <p:blipFill>
          <a:blip r:embed="rId5"/>
          <a:stretch>
            <a:fillRect/>
          </a:stretch>
        </p:blipFill>
        <p:spPr>
          <a:xfrm>
            <a:off x="4855464" y="4261104"/>
            <a:ext cx="301752" cy="301752"/>
          </a:xfrm>
          <a:prstGeom prst="rect">
            <a:avLst/>
          </a:prstGeom>
        </p:spPr>
      </p:pic>
      <p:sp>
        <p:nvSpPr>
          <p:cNvPr id="30" name="Text 23"/>
          <p:cNvSpPr/>
          <p:nvPr/>
        </p:nvSpPr>
        <p:spPr>
          <a:xfrm>
            <a:off x="5394960" y="4160520"/>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Authors got zero help</a:t>
            </a:r>
            <a:endParaRPr lang="en-US" sz="1600" dirty="0"/>
          </a:p>
        </p:txBody>
      </p:sp>
      <p:sp>
        <p:nvSpPr>
          <p:cNvPr id="31" name="Text 24"/>
          <p:cNvSpPr/>
          <p:nvPr/>
        </p:nvSpPr>
        <p:spPr>
          <a:xfrm>
            <a:off x="4754880" y="484632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Authors typed their abstract into a box and hit submit. No spelling check, no title suggestions, no way to know if their abstract was strong.</a:t>
            </a:r>
            <a:endParaRPr lang="en-US" sz="1200" dirty="0"/>
          </a:p>
        </p:txBody>
      </p:sp>
      <p:sp>
        <p:nvSpPr>
          <p:cNvPr id="32" name="Shape 25"/>
          <p:cNvSpPr/>
          <p:nvPr/>
        </p:nvSpPr>
        <p:spPr>
          <a:xfrm>
            <a:off x="8503920" y="3931920"/>
            <a:ext cx="3520440" cy="2194560"/>
          </a:xfrm>
          <a:prstGeom prst="rect">
            <a:avLst/>
          </a:prstGeom>
          <a:solidFill>
            <a:srgbClr val="F7F8FB"/>
          </a:solidFill>
          <a:ln w="12700">
            <a:solidFill>
              <a:srgbClr val="E2E5EE"/>
            </a:solidFill>
            <a:prstDash val="solid"/>
          </a:ln>
        </p:spPr>
      </p:sp>
      <p:sp>
        <p:nvSpPr>
          <p:cNvPr id="33" name="Shape 26"/>
          <p:cNvSpPr/>
          <p:nvPr/>
        </p:nvSpPr>
        <p:spPr>
          <a:xfrm>
            <a:off x="8732520" y="4160520"/>
            <a:ext cx="502920" cy="502920"/>
          </a:xfrm>
          <a:prstGeom prst="ellipse">
            <a:avLst/>
          </a:prstGeom>
          <a:solidFill>
            <a:srgbClr val="FCE7E5"/>
          </a:solidFill>
          <a:ln/>
        </p:spPr>
      </p:sp>
      <p:pic>
        <p:nvPicPr>
          <p:cNvPr id="34" name="Image 5" descr="preencoded.png">    </p:cNvPr>
          <p:cNvPicPr>
            <a:picLocks noChangeAspect="1"/>
          </p:cNvPicPr>
          <p:nvPr/>
        </p:nvPicPr>
        <p:blipFill>
          <a:blip r:embed="rId6"/>
          <a:stretch>
            <a:fillRect/>
          </a:stretch>
        </p:blipFill>
        <p:spPr>
          <a:xfrm>
            <a:off x="8833104" y="4261104"/>
            <a:ext cx="301752" cy="301752"/>
          </a:xfrm>
          <a:prstGeom prst="rect">
            <a:avLst/>
          </a:prstGeom>
        </p:spPr>
      </p:pic>
      <p:sp>
        <p:nvSpPr>
          <p:cNvPr id="35" name="Text 27"/>
          <p:cNvSpPr/>
          <p:nvPr/>
        </p:nvSpPr>
        <p:spPr>
          <a:xfrm>
            <a:off x="9372600" y="4160520"/>
            <a:ext cx="2560320" cy="45720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No tests, no Docker</a:t>
            </a:r>
            <a:endParaRPr lang="en-US" sz="1600" dirty="0"/>
          </a:p>
        </p:txBody>
      </p:sp>
      <p:sp>
        <p:nvSpPr>
          <p:cNvPr id="36" name="Text 28"/>
          <p:cNvSpPr/>
          <p:nvPr/>
        </p:nvSpPr>
        <p:spPr>
          <a:xfrm>
            <a:off x="8732520" y="4846320"/>
            <a:ext cx="3108960" cy="11887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One giant file, hardcoded passwords in the code, two leftover database files. Would not survive a real code review.</a:t>
            </a:r>
            <a:endParaRPr lang="en-US" sz="1200" dirty="0"/>
          </a:p>
        </p:txBody>
      </p:sp>
      <p:sp>
        <p:nvSpPr>
          <p:cNvPr id="37" name="Shape 29"/>
          <p:cNvSpPr/>
          <p:nvPr/>
        </p:nvSpPr>
        <p:spPr>
          <a:xfrm>
            <a:off x="548640" y="6263640"/>
            <a:ext cx="11064240" cy="502920"/>
          </a:xfrm>
          <a:prstGeom prst="rect">
            <a:avLst/>
          </a:prstGeom>
          <a:solidFill>
            <a:srgbClr val="CADCFC"/>
          </a:solidFill>
          <a:ln/>
        </p:spPr>
      </p:sp>
      <p:sp>
        <p:nvSpPr>
          <p:cNvPr id="38" name="Text 30"/>
          <p:cNvSpPr/>
          <p:nvPr/>
        </p:nvSpPr>
        <p:spPr>
          <a:xfrm>
            <a:off x="777240" y="626364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39" name="Text 31"/>
          <p:cNvSpPr/>
          <p:nvPr/>
        </p:nvSpPr>
        <p:spPr>
          <a:xfrm>
            <a:off x="2331720" y="626364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The original works, but it would never be used by a real journal. Each gap above is something AI can directly fix.</a:t>
            </a:r>
            <a:endParaRPr lang="en-US" sz="1100" dirty="0"/>
          </a:p>
        </p:txBody>
      </p:sp>
      <p:sp>
        <p:nvSpPr>
          <p:cNvPr id="40" name="Text 32"/>
          <p:cNvSpPr/>
          <p:nvPr/>
        </p:nvSpPr>
        <p:spPr>
          <a:xfrm>
            <a:off x="548640" y="6492240"/>
            <a:ext cx="82296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41" name="Text 33"/>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Revised scope &amp; business questions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The questions the new system needs to answer</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2</a:t>
            </a:r>
            <a:endParaRPr lang="en-US" sz="1100" dirty="0"/>
          </a:p>
        </p:txBody>
      </p:sp>
      <p:sp>
        <p:nvSpPr>
          <p:cNvPr id="7" name="Shape 5"/>
          <p:cNvSpPr/>
          <p:nvPr/>
        </p:nvSpPr>
        <p:spPr>
          <a:xfrm>
            <a:off x="548640" y="1463040"/>
            <a:ext cx="11064240" cy="868680"/>
          </a:xfrm>
          <a:prstGeom prst="rect">
            <a:avLst/>
          </a:prstGeom>
          <a:solidFill>
            <a:srgbClr val="1E2761"/>
          </a:solidFill>
          <a:ln/>
        </p:spPr>
      </p:sp>
      <p:sp>
        <p:nvSpPr>
          <p:cNvPr id="8" name="Shape 6"/>
          <p:cNvSpPr/>
          <p:nvPr/>
        </p:nvSpPr>
        <p:spPr>
          <a:xfrm>
            <a:off x="548640" y="1463040"/>
            <a:ext cx="11064240" cy="54864"/>
          </a:xfrm>
          <a:prstGeom prst="rect">
            <a:avLst/>
          </a:prstGeom>
          <a:solidFill>
            <a:srgbClr val="F4B942"/>
          </a:solidFill>
          <a:ln/>
        </p:spPr>
      </p:sp>
      <p:sp>
        <p:nvSpPr>
          <p:cNvPr id="9" name="Text 7"/>
          <p:cNvSpPr/>
          <p:nvPr/>
        </p:nvSpPr>
        <p:spPr>
          <a:xfrm>
            <a:off x="777240" y="1536192"/>
            <a:ext cx="10058400" cy="27432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NEW SCOPE</a:t>
            </a:r>
            <a:endParaRPr lang="en-US" sz="1100" dirty="0"/>
          </a:p>
        </p:txBody>
      </p:sp>
      <p:sp>
        <p:nvSpPr>
          <p:cNvPr id="10" name="Text 8"/>
          <p:cNvSpPr/>
          <p:nvPr/>
        </p:nvSpPr>
        <p:spPr>
          <a:xfrm>
            <a:off x="777240" y="1783080"/>
            <a:ext cx="10607040" cy="50292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Stop being a basic upload-and-track tool. Start being a smart helper that gives authors writing feedback, gives editors topic-matched reviewer suggestions, and gives reviewers a structured starting point — without ever taking the human out of the decision.</a:t>
            </a:r>
            <a:endParaRPr lang="en-US" sz="1300" dirty="0"/>
          </a:p>
        </p:txBody>
      </p:sp>
      <p:sp>
        <p:nvSpPr>
          <p:cNvPr id="11" name="Shape 9"/>
          <p:cNvSpPr/>
          <p:nvPr/>
        </p:nvSpPr>
        <p:spPr>
          <a:xfrm>
            <a:off x="548640" y="2606040"/>
            <a:ext cx="502920" cy="502920"/>
          </a:xfrm>
          <a:prstGeom prst="ellipse">
            <a:avLst/>
          </a:prstGeom>
          <a:solidFill>
            <a:srgbClr val="1E2761"/>
          </a:solidFill>
          <a:ln/>
        </p:spPr>
      </p:sp>
      <p:sp>
        <p:nvSpPr>
          <p:cNvPr id="12" name="Text 10"/>
          <p:cNvSpPr/>
          <p:nvPr/>
        </p:nvSpPr>
        <p:spPr>
          <a:xfrm>
            <a:off x="548640" y="260604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13" name="Shape 11"/>
          <p:cNvSpPr/>
          <p:nvPr/>
        </p:nvSpPr>
        <p:spPr>
          <a:xfrm>
            <a:off x="1234440" y="2606040"/>
            <a:ext cx="10378440" cy="502920"/>
          </a:xfrm>
          <a:prstGeom prst="rect">
            <a:avLst/>
          </a:prstGeom>
          <a:solidFill>
            <a:srgbClr val="F7F8FB"/>
          </a:solidFill>
          <a:ln w="12700">
            <a:solidFill>
              <a:srgbClr val="E2E5EE"/>
            </a:solidFill>
            <a:prstDash val="solid"/>
          </a:ln>
        </p:spPr>
      </p:sp>
      <p:sp>
        <p:nvSpPr>
          <p:cNvPr id="14" name="Text 12"/>
          <p:cNvSpPr/>
          <p:nvPr/>
        </p:nvSpPr>
        <p:spPr>
          <a:xfrm>
            <a:off x="1417320" y="260604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can authors get useful feedback on their abstract before submitting, without paying a copy editor?</a:t>
            </a:r>
            <a:endParaRPr lang="en-US" sz="1300" dirty="0"/>
          </a:p>
        </p:txBody>
      </p:sp>
      <p:sp>
        <p:nvSpPr>
          <p:cNvPr id="15" name="Shape 13"/>
          <p:cNvSpPr/>
          <p:nvPr/>
        </p:nvSpPr>
        <p:spPr>
          <a:xfrm>
            <a:off x="548640" y="3246120"/>
            <a:ext cx="502920" cy="502920"/>
          </a:xfrm>
          <a:prstGeom prst="ellipse">
            <a:avLst/>
          </a:prstGeom>
          <a:solidFill>
            <a:srgbClr val="1E2761"/>
          </a:solidFill>
          <a:ln/>
        </p:spPr>
      </p:sp>
      <p:sp>
        <p:nvSpPr>
          <p:cNvPr id="16" name="Text 14"/>
          <p:cNvSpPr/>
          <p:nvPr/>
        </p:nvSpPr>
        <p:spPr>
          <a:xfrm>
            <a:off x="548640" y="324612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17" name="Shape 15"/>
          <p:cNvSpPr/>
          <p:nvPr/>
        </p:nvSpPr>
        <p:spPr>
          <a:xfrm>
            <a:off x="1234440" y="3246120"/>
            <a:ext cx="10378440" cy="502920"/>
          </a:xfrm>
          <a:prstGeom prst="rect">
            <a:avLst/>
          </a:prstGeom>
          <a:solidFill>
            <a:srgbClr val="F7F8FB"/>
          </a:solidFill>
          <a:ln w="12700">
            <a:solidFill>
              <a:srgbClr val="E2E5EE"/>
            </a:solidFill>
            <a:prstDash val="solid"/>
          </a:ln>
        </p:spPr>
      </p:sp>
      <p:sp>
        <p:nvSpPr>
          <p:cNvPr id="18" name="Text 16"/>
          <p:cNvSpPr/>
          <p:nvPr/>
        </p:nvSpPr>
        <p:spPr>
          <a:xfrm>
            <a:off x="1417320" y="324612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match each paper to the right reviewer instead of choosing at random?</a:t>
            </a:r>
            <a:endParaRPr lang="en-US" sz="1300" dirty="0"/>
          </a:p>
        </p:txBody>
      </p:sp>
      <p:sp>
        <p:nvSpPr>
          <p:cNvPr id="19" name="Shape 17"/>
          <p:cNvSpPr/>
          <p:nvPr/>
        </p:nvSpPr>
        <p:spPr>
          <a:xfrm>
            <a:off x="548640" y="3886200"/>
            <a:ext cx="502920" cy="502920"/>
          </a:xfrm>
          <a:prstGeom prst="ellipse">
            <a:avLst/>
          </a:prstGeom>
          <a:solidFill>
            <a:srgbClr val="1E2761"/>
          </a:solidFill>
          <a:ln/>
        </p:spPr>
      </p:sp>
      <p:sp>
        <p:nvSpPr>
          <p:cNvPr id="20" name="Text 18"/>
          <p:cNvSpPr/>
          <p:nvPr/>
        </p:nvSpPr>
        <p:spPr>
          <a:xfrm>
            <a:off x="548640" y="38862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21" name="Shape 19"/>
          <p:cNvSpPr/>
          <p:nvPr/>
        </p:nvSpPr>
        <p:spPr>
          <a:xfrm>
            <a:off x="1234440" y="3886200"/>
            <a:ext cx="10378440" cy="502920"/>
          </a:xfrm>
          <a:prstGeom prst="rect">
            <a:avLst/>
          </a:prstGeom>
          <a:solidFill>
            <a:srgbClr val="F7F8FB"/>
          </a:solidFill>
          <a:ln w="12700">
            <a:solidFill>
              <a:srgbClr val="E2E5EE"/>
            </a:solidFill>
            <a:prstDash val="solid"/>
          </a:ln>
        </p:spPr>
      </p:sp>
      <p:sp>
        <p:nvSpPr>
          <p:cNvPr id="22" name="Text 20"/>
          <p:cNvSpPr/>
          <p:nvPr/>
        </p:nvSpPr>
        <p:spPr>
          <a:xfrm>
            <a:off x="1417320" y="388620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screen submissions for near-duplicates and AI-generated text without falsely accusing anyone?</a:t>
            </a:r>
            <a:endParaRPr lang="en-US" sz="1300" dirty="0"/>
          </a:p>
        </p:txBody>
      </p:sp>
      <p:sp>
        <p:nvSpPr>
          <p:cNvPr id="23" name="Shape 21"/>
          <p:cNvSpPr/>
          <p:nvPr/>
        </p:nvSpPr>
        <p:spPr>
          <a:xfrm>
            <a:off x="548640" y="4526280"/>
            <a:ext cx="502920" cy="502920"/>
          </a:xfrm>
          <a:prstGeom prst="ellipse">
            <a:avLst/>
          </a:prstGeom>
          <a:solidFill>
            <a:srgbClr val="1E2761"/>
          </a:solidFill>
          <a:ln/>
        </p:spPr>
      </p:sp>
      <p:sp>
        <p:nvSpPr>
          <p:cNvPr id="24" name="Text 22"/>
          <p:cNvSpPr/>
          <p:nvPr/>
        </p:nvSpPr>
        <p:spPr>
          <a:xfrm>
            <a:off x="548640" y="452628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25" name="Shape 23"/>
          <p:cNvSpPr/>
          <p:nvPr/>
        </p:nvSpPr>
        <p:spPr>
          <a:xfrm>
            <a:off x="1234440" y="4526280"/>
            <a:ext cx="10378440" cy="502920"/>
          </a:xfrm>
          <a:prstGeom prst="rect">
            <a:avLst/>
          </a:prstGeom>
          <a:solidFill>
            <a:srgbClr val="F7F8FB"/>
          </a:solidFill>
          <a:ln w="12700">
            <a:solidFill>
              <a:srgbClr val="E2E5EE"/>
            </a:solidFill>
            <a:prstDash val="solid"/>
          </a:ln>
        </p:spPr>
      </p:sp>
      <p:sp>
        <p:nvSpPr>
          <p:cNvPr id="26" name="Text 24"/>
          <p:cNvSpPr/>
          <p:nvPr/>
        </p:nvSpPr>
        <p:spPr>
          <a:xfrm>
            <a:off x="1417320" y="452628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make peer reviews structured and comparable so editors can aggregate them?</a:t>
            </a:r>
            <a:endParaRPr lang="en-US" sz="1300" dirty="0"/>
          </a:p>
        </p:txBody>
      </p:sp>
      <p:sp>
        <p:nvSpPr>
          <p:cNvPr id="27" name="Shape 25"/>
          <p:cNvSpPr/>
          <p:nvPr/>
        </p:nvSpPr>
        <p:spPr>
          <a:xfrm>
            <a:off x="548640" y="5166360"/>
            <a:ext cx="502920" cy="502920"/>
          </a:xfrm>
          <a:prstGeom prst="ellipse">
            <a:avLst/>
          </a:prstGeom>
          <a:solidFill>
            <a:srgbClr val="1E2761"/>
          </a:solidFill>
          <a:ln/>
        </p:spPr>
      </p:sp>
      <p:sp>
        <p:nvSpPr>
          <p:cNvPr id="28" name="Text 26"/>
          <p:cNvSpPr/>
          <p:nvPr/>
        </p:nvSpPr>
        <p:spPr>
          <a:xfrm>
            <a:off x="548640" y="516636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Q5</a:t>
            </a:r>
            <a:endParaRPr lang="en-US" sz="1200" dirty="0"/>
          </a:p>
        </p:txBody>
      </p:sp>
      <p:sp>
        <p:nvSpPr>
          <p:cNvPr id="29" name="Shape 27"/>
          <p:cNvSpPr/>
          <p:nvPr/>
        </p:nvSpPr>
        <p:spPr>
          <a:xfrm>
            <a:off x="1234440" y="5166360"/>
            <a:ext cx="10378440" cy="502920"/>
          </a:xfrm>
          <a:prstGeom prst="rect">
            <a:avLst/>
          </a:prstGeom>
          <a:solidFill>
            <a:srgbClr val="F7F8FB"/>
          </a:solidFill>
          <a:ln w="12700">
            <a:solidFill>
              <a:srgbClr val="E2E5EE"/>
            </a:solidFill>
            <a:prstDash val="solid"/>
          </a:ln>
        </p:spPr>
      </p:sp>
      <p:sp>
        <p:nvSpPr>
          <p:cNvPr id="30" name="Text 28"/>
          <p:cNvSpPr/>
          <p:nvPr/>
        </p:nvSpPr>
        <p:spPr>
          <a:xfrm>
            <a:off x="1417320" y="5166360"/>
            <a:ext cx="10058400" cy="502920"/>
          </a:xfrm>
          <a:prstGeom prst="rect">
            <a:avLst/>
          </a:prstGeom>
          <a:noFill/>
          <a:ln/>
        </p:spPr>
        <p:txBody>
          <a:bodyPr wrap="square" lIns="0" tIns="0" rIns="0" bIns="0" rtlCol="0" anchor="ctr"/>
          <a:lstStyle/>
          <a:p>
            <a:pPr indent="0" marL="0">
              <a:buNone/>
            </a:pPr>
            <a:r>
              <a:rPr lang="en-US" sz="1300" dirty="0">
                <a:solidFill>
                  <a:srgbClr val="0F1538"/>
                </a:solidFill>
                <a:latin typeface="Calibri" pitchFamily="34" charset="0"/>
                <a:ea typeface="Calibri" pitchFamily="34" charset="-122"/>
                <a:cs typeface="Calibri" pitchFamily="34" charset="-120"/>
              </a:rPr>
              <a:t>How do we keep cost at zero today while leaving a clean upgrade path to a paid AI later?</a:t>
            </a:r>
            <a:endParaRPr lang="en-US" sz="1300" dirty="0"/>
          </a:p>
        </p:txBody>
      </p:sp>
      <p:sp>
        <p:nvSpPr>
          <p:cNvPr id="31" name="Shape 29"/>
          <p:cNvSpPr/>
          <p:nvPr/>
        </p:nvSpPr>
        <p:spPr>
          <a:xfrm>
            <a:off x="548640" y="5989320"/>
            <a:ext cx="11064240" cy="502920"/>
          </a:xfrm>
          <a:prstGeom prst="rect">
            <a:avLst/>
          </a:prstGeom>
          <a:solidFill>
            <a:srgbClr val="CADCFC"/>
          </a:solidFill>
          <a:ln/>
        </p:spPr>
      </p:sp>
      <p:sp>
        <p:nvSpPr>
          <p:cNvPr id="32" name="Text 30"/>
          <p:cNvSpPr/>
          <p:nvPr/>
        </p:nvSpPr>
        <p:spPr>
          <a:xfrm>
            <a:off x="777240" y="598932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33" name="Text 31"/>
          <p:cNvSpPr/>
          <p:nvPr/>
        </p:nvSpPr>
        <p:spPr>
          <a:xfrm>
            <a:off x="2331720" y="598932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Five plain-English questions. Each one becomes a feature. Every feature in the new system answers exactly one of these.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What Generative AI can actually do</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Concepts, models, and techniques relevant here</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463040"/>
            <a:ext cx="3520440" cy="4572000"/>
          </a:xfrm>
          <a:prstGeom prst="rect">
            <a:avLst/>
          </a:prstGeom>
          <a:solidFill>
            <a:srgbClr val="F7F8FB"/>
          </a:solidFill>
          <a:ln w="12700">
            <a:solidFill>
              <a:srgbClr val="E2E5EE"/>
            </a:solidFill>
            <a:prstDash val="solid"/>
          </a:ln>
        </p:spPr>
      </p:sp>
      <p:sp>
        <p:nvSpPr>
          <p:cNvPr id="8" name="Shape 6"/>
          <p:cNvSpPr/>
          <p:nvPr/>
        </p:nvSpPr>
        <p:spPr>
          <a:xfrm>
            <a:off x="548640" y="1463040"/>
            <a:ext cx="3520440" cy="73152"/>
          </a:xfrm>
          <a:prstGeom prst="rect">
            <a:avLst/>
          </a:prstGeom>
          <a:solidFill>
            <a:srgbClr val="1E2761"/>
          </a:solidFill>
          <a:ln/>
        </p:spPr>
      </p:sp>
      <p:sp>
        <p:nvSpPr>
          <p:cNvPr id="9" name="Shape 7"/>
          <p:cNvSpPr/>
          <p:nvPr/>
        </p:nvSpPr>
        <p:spPr>
          <a:xfrm>
            <a:off x="822960" y="1645920"/>
            <a:ext cx="594360" cy="594360"/>
          </a:xfrm>
          <a:prstGeom prst="ellipse">
            <a:avLst/>
          </a:prstGeom>
          <a:solidFill>
            <a:srgbClr val="1E2761"/>
          </a:solidFill>
          <a:ln/>
        </p:spPr>
      </p:sp>
      <p:pic>
        <p:nvPicPr>
          <p:cNvPr id="10" name="Image 0" descr="preencoded.png">    </p:cNvPr>
          <p:cNvPicPr>
            <a:picLocks noChangeAspect="1"/>
          </p:cNvPicPr>
          <p:nvPr/>
        </p:nvPicPr>
        <p:blipFill>
          <a:blip r:embed="rId1"/>
          <a:stretch>
            <a:fillRect/>
          </a:stretch>
        </p:blipFill>
        <p:spPr>
          <a:xfrm>
            <a:off x="941832" y="1764792"/>
            <a:ext cx="365760" cy="365760"/>
          </a:xfrm>
          <a:prstGeom prst="rect">
            <a:avLst/>
          </a:prstGeom>
        </p:spPr>
      </p:pic>
      <p:sp>
        <p:nvSpPr>
          <p:cNvPr id="11" name="Text 8"/>
          <p:cNvSpPr/>
          <p:nvPr/>
        </p:nvSpPr>
        <p:spPr>
          <a:xfrm>
            <a:off x="1508760" y="1645920"/>
            <a:ext cx="2468880" cy="59436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Concepts</a:t>
            </a:r>
            <a:endParaRPr lang="en-US" sz="1800" dirty="0"/>
          </a:p>
        </p:txBody>
      </p:sp>
      <p:sp>
        <p:nvSpPr>
          <p:cNvPr id="12" name="Text 9"/>
          <p:cNvSpPr/>
          <p:nvPr/>
        </p:nvSpPr>
        <p:spPr>
          <a:xfrm>
            <a:off x="822960" y="2423160"/>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Generative vs scoring</a:t>
            </a:r>
            <a:endParaRPr lang="en-US" sz="1300" dirty="0"/>
          </a:p>
        </p:txBody>
      </p:sp>
      <p:sp>
        <p:nvSpPr>
          <p:cNvPr id="13" name="Text 10"/>
          <p:cNvSpPr/>
          <p:nvPr/>
        </p:nvSpPr>
        <p:spPr>
          <a:xfrm>
            <a:off x="822960" y="2743200"/>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Generative AI writes new text. Scoring AI just rates or compares. I use both.</a:t>
            </a:r>
            <a:endParaRPr lang="en-US" sz="1100" dirty="0"/>
          </a:p>
        </p:txBody>
      </p:sp>
      <p:sp>
        <p:nvSpPr>
          <p:cNvPr id="14" name="Text 11"/>
          <p:cNvSpPr/>
          <p:nvPr/>
        </p:nvSpPr>
        <p:spPr>
          <a:xfrm>
            <a:off x="822960" y="3630168"/>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Embeddings</a:t>
            </a:r>
            <a:endParaRPr lang="en-US" sz="1300" dirty="0"/>
          </a:p>
        </p:txBody>
      </p:sp>
      <p:sp>
        <p:nvSpPr>
          <p:cNvPr id="15" name="Text 12"/>
          <p:cNvSpPr/>
          <p:nvPr/>
        </p:nvSpPr>
        <p:spPr>
          <a:xfrm>
            <a:off x="822960" y="3950208"/>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Turn a sentence into a list of numbers. Sentences about similar topics end up near each other.</a:t>
            </a:r>
            <a:endParaRPr lang="en-US" sz="1100" dirty="0"/>
          </a:p>
        </p:txBody>
      </p:sp>
      <p:sp>
        <p:nvSpPr>
          <p:cNvPr id="16" name="Text 13"/>
          <p:cNvSpPr/>
          <p:nvPr/>
        </p:nvSpPr>
        <p:spPr>
          <a:xfrm>
            <a:off x="822960" y="4837176"/>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Prompt engineering</a:t>
            </a:r>
            <a:endParaRPr lang="en-US" sz="1300" dirty="0"/>
          </a:p>
        </p:txBody>
      </p:sp>
      <p:sp>
        <p:nvSpPr>
          <p:cNvPr id="17" name="Text 14"/>
          <p:cNvSpPr/>
          <p:nvPr/>
        </p:nvSpPr>
        <p:spPr>
          <a:xfrm>
            <a:off x="822960" y="5157216"/>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Carefully writing instructions for the AI so the output is reliable and in the format I need.</a:t>
            </a:r>
            <a:endParaRPr lang="en-US" sz="1100" dirty="0"/>
          </a:p>
        </p:txBody>
      </p:sp>
      <p:sp>
        <p:nvSpPr>
          <p:cNvPr id="18" name="Shape 15"/>
          <p:cNvSpPr/>
          <p:nvPr/>
        </p:nvSpPr>
        <p:spPr>
          <a:xfrm>
            <a:off x="4526280" y="1463040"/>
            <a:ext cx="3520440" cy="4572000"/>
          </a:xfrm>
          <a:prstGeom prst="rect">
            <a:avLst/>
          </a:prstGeom>
          <a:solidFill>
            <a:srgbClr val="F7F8FB"/>
          </a:solidFill>
          <a:ln w="12700">
            <a:solidFill>
              <a:srgbClr val="E2E5EE"/>
            </a:solidFill>
            <a:prstDash val="solid"/>
          </a:ln>
        </p:spPr>
      </p:sp>
      <p:sp>
        <p:nvSpPr>
          <p:cNvPr id="19" name="Shape 16"/>
          <p:cNvSpPr/>
          <p:nvPr/>
        </p:nvSpPr>
        <p:spPr>
          <a:xfrm>
            <a:off x="4526280" y="1463040"/>
            <a:ext cx="3520440" cy="73152"/>
          </a:xfrm>
          <a:prstGeom prst="rect">
            <a:avLst/>
          </a:prstGeom>
          <a:solidFill>
            <a:srgbClr val="1E2761"/>
          </a:solidFill>
          <a:ln/>
        </p:spPr>
      </p:sp>
      <p:sp>
        <p:nvSpPr>
          <p:cNvPr id="20" name="Shape 17"/>
          <p:cNvSpPr/>
          <p:nvPr/>
        </p:nvSpPr>
        <p:spPr>
          <a:xfrm>
            <a:off x="4800600" y="1645920"/>
            <a:ext cx="594360" cy="594360"/>
          </a:xfrm>
          <a:prstGeom prst="ellipse">
            <a:avLst/>
          </a:prstGeom>
          <a:solidFill>
            <a:srgbClr val="1E2761"/>
          </a:solidFill>
          <a:ln/>
        </p:spPr>
      </p:sp>
      <p:pic>
        <p:nvPicPr>
          <p:cNvPr id="21" name="Image 1" descr="preencoded.png">    </p:cNvPr>
          <p:cNvPicPr>
            <a:picLocks noChangeAspect="1"/>
          </p:cNvPicPr>
          <p:nvPr/>
        </p:nvPicPr>
        <p:blipFill>
          <a:blip r:embed="rId2"/>
          <a:stretch>
            <a:fillRect/>
          </a:stretch>
        </p:blipFill>
        <p:spPr>
          <a:xfrm>
            <a:off x="4919472" y="1764792"/>
            <a:ext cx="365760" cy="365760"/>
          </a:xfrm>
          <a:prstGeom prst="rect">
            <a:avLst/>
          </a:prstGeom>
        </p:spPr>
      </p:pic>
      <p:sp>
        <p:nvSpPr>
          <p:cNvPr id="22" name="Text 18"/>
          <p:cNvSpPr/>
          <p:nvPr/>
        </p:nvSpPr>
        <p:spPr>
          <a:xfrm>
            <a:off x="5486400" y="1645920"/>
            <a:ext cx="2468880" cy="59436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Models</a:t>
            </a:r>
            <a:endParaRPr lang="en-US" sz="1800" dirty="0"/>
          </a:p>
        </p:txBody>
      </p:sp>
      <p:sp>
        <p:nvSpPr>
          <p:cNvPr id="23" name="Text 19"/>
          <p:cNvSpPr/>
          <p:nvPr/>
        </p:nvSpPr>
        <p:spPr>
          <a:xfrm>
            <a:off x="4800600" y="2423160"/>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Large language models</a:t>
            </a:r>
            <a:endParaRPr lang="en-US" sz="1300" dirty="0"/>
          </a:p>
        </p:txBody>
      </p:sp>
      <p:sp>
        <p:nvSpPr>
          <p:cNvPr id="24" name="Text 20"/>
          <p:cNvSpPr/>
          <p:nvPr/>
        </p:nvSpPr>
        <p:spPr>
          <a:xfrm>
            <a:off x="4800600" y="2743200"/>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Claude, GPT-4, Gemini. The big AI writers. Best for drafting reviews and rewriting abstracts.</a:t>
            </a:r>
            <a:endParaRPr lang="en-US" sz="1100" dirty="0"/>
          </a:p>
        </p:txBody>
      </p:sp>
      <p:sp>
        <p:nvSpPr>
          <p:cNvPr id="25" name="Text 21"/>
          <p:cNvSpPr/>
          <p:nvPr/>
        </p:nvSpPr>
        <p:spPr>
          <a:xfrm>
            <a:off x="4800600" y="3630168"/>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Embedding models</a:t>
            </a:r>
            <a:endParaRPr lang="en-US" sz="1300" dirty="0"/>
          </a:p>
        </p:txBody>
      </p:sp>
      <p:sp>
        <p:nvSpPr>
          <p:cNvPr id="26" name="Text 22"/>
          <p:cNvSpPr/>
          <p:nvPr/>
        </p:nvSpPr>
        <p:spPr>
          <a:xfrm>
            <a:off x="4800600" y="3950208"/>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Smaller models that turn text into numbers. Used for matching reviewers to papers by topic.</a:t>
            </a:r>
            <a:endParaRPr lang="en-US" sz="1100" dirty="0"/>
          </a:p>
        </p:txBody>
      </p:sp>
      <p:sp>
        <p:nvSpPr>
          <p:cNvPr id="27" name="Text 23"/>
          <p:cNvSpPr/>
          <p:nvPr/>
        </p:nvSpPr>
        <p:spPr>
          <a:xfrm>
            <a:off x="4800600" y="4837176"/>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Stylometric checks</a:t>
            </a:r>
            <a:endParaRPr lang="en-US" sz="1300" dirty="0"/>
          </a:p>
        </p:txBody>
      </p:sp>
      <p:sp>
        <p:nvSpPr>
          <p:cNvPr id="28" name="Text 24"/>
          <p:cNvSpPr/>
          <p:nvPr/>
        </p:nvSpPr>
        <p:spPr>
          <a:xfrm>
            <a:off x="4800600" y="5157216"/>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Simple math that looks at writing style to flag text that looks AI-generated. Not perfect, just a flag.</a:t>
            </a:r>
            <a:endParaRPr lang="en-US" sz="1100" dirty="0"/>
          </a:p>
        </p:txBody>
      </p:sp>
      <p:sp>
        <p:nvSpPr>
          <p:cNvPr id="29" name="Shape 25"/>
          <p:cNvSpPr/>
          <p:nvPr/>
        </p:nvSpPr>
        <p:spPr>
          <a:xfrm>
            <a:off x="8503920" y="1463040"/>
            <a:ext cx="3520440" cy="4572000"/>
          </a:xfrm>
          <a:prstGeom prst="rect">
            <a:avLst/>
          </a:prstGeom>
          <a:solidFill>
            <a:srgbClr val="F7F8FB"/>
          </a:solidFill>
          <a:ln w="12700">
            <a:solidFill>
              <a:srgbClr val="E2E5EE"/>
            </a:solidFill>
            <a:prstDash val="solid"/>
          </a:ln>
        </p:spPr>
      </p:sp>
      <p:sp>
        <p:nvSpPr>
          <p:cNvPr id="30" name="Shape 26"/>
          <p:cNvSpPr/>
          <p:nvPr/>
        </p:nvSpPr>
        <p:spPr>
          <a:xfrm>
            <a:off x="8503920" y="1463040"/>
            <a:ext cx="3520440" cy="73152"/>
          </a:xfrm>
          <a:prstGeom prst="rect">
            <a:avLst/>
          </a:prstGeom>
          <a:solidFill>
            <a:srgbClr val="1E2761"/>
          </a:solidFill>
          <a:ln/>
        </p:spPr>
      </p:sp>
      <p:sp>
        <p:nvSpPr>
          <p:cNvPr id="31" name="Shape 27"/>
          <p:cNvSpPr/>
          <p:nvPr/>
        </p:nvSpPr>
        <p:spPr>
          <a:xfrm>
            <a:off x="8778240" y="1645920"/>
            <a:ext cx="594360" cy="594360"/>
          </a:xfrm>
          <a:prstGeom prst="ellipse">
            <a:avLst/>
          </a:prstGeom>
          <a:solidFill>
            <a:srgbClr val="1E2761"/>
          </a:solidFill>
          <a:ln/>
        </p:spPr>
      </p:sp>
      <p:pic>
        <p:nvPicPr>
          <p:cNvPr id="32" name="Image 2" descr="preencoded.png">    </p:cNvPr>
          <p:cNvPicPr>
            <a:picLocks noChangeAspect="1"/>
          </p:cNvPicPr>
          <p:nvPr/>
        </p:nvPicPr>
        <p:blipFill>
          <a:blip r:embed="rId3"/>
          <a:stretch>
            <a:fillRect/>
          </a:stretch>
        </p:blipFill>
        <p:spPr>
          <a:xfrm>
            <a:off x="8897112" y="1764792"/>
            <a:ext cx="365760" cy="365760"/>
          </a:xfrm>
          <a:prstGeom prst="rect">
            <a:avLst/>
          </a:prstGeom>
        </p:spPr>
      </p:pic>
      <p:sp>
        <p:nvSpPr>
          <p:cNvPr id="33" name="Text 28"/>
          <p:cNvSpPr/>
          <p:nvPr/>
        </p:nvSpPr>
        <p:spPr>
          <a:xfrm>
            <a:off x="9464040" y="1645920"/>
            <a:ext cx="2468880" cy="594360"/>
          </a:xfrm>
          <a:prstGeom prst="rect">
            <a:avLst/>
          </a:prstGeom>
          <a:noFill/>
          <a:ln/>
        </p:spPr>
        <p:txBody>
          <a:bodyPr wrap="square" lIns="0" tIns="0" rIns="0" bIns="0" rtlCol="0" anchor="ctr"/>
          <a:lstStyle/>
          <a:p>
            <a:pPr indent="0" marL="0">
              <a:buNone/>
            </a:pPr>
            <a:r>
              <a:rPr lang="en-US" sz="1800" b="1" dirty="0">
                <a:solidFill>
                  <a:srgbClr val="0F1538"/>
                </a:solidFill>
                <a:latin typeface="Calibri" pitchFamily="34" charset="0"/>
                <a:ea typeface="Calibri" pitchFamily="34" charset="-122"/>
                <a:cs typeface="Calibri" pitchFamily="34" charset="-120"/>
              </a:rPr>
              <a:t>Techniques</a:t>
            </a:r>
            <a:endParaRPr lang="en-US" sz="1800" dirty="0"/>
          </a:p>
        </p:txBody>
      </p:sp>
      <p:sp>
        <p:nvSpPr>
          <p:cNvPr id="34" name="Text 29"/>
          <p:cNvSpPr/>
          <p:nvPr/>
        </p:nvSpPr>
        <p:spPr>
          <a:xfrm>
            <a:off x="8778240" y="2423160"/>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TF-IDF baseline</a:t>
            </a:r>
            <a:endParaRPr lang="en-US" sz="1300" dirty="0"/>
          </a:p>
        </p:txBody>
      </p:sp>
      <p:sp>
        <p:nvSpPr>
          <p:cNvPr id="35" name="Text 30"/>
          <p:cNvSpPr/>
          <p:nvPr/>
        </p:nvSpPr>
        <p:spPr>
          <a:xfrm>
            <a:off x="8778240" y="2743200"/>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A classic, free, explainable way to find similar documents. Works without any AI calls.</a:t>
            </a:r>
            <a:endParaRPr lang="en-US" sz="1100" dirty="0"/>
          </a:p>
        </p:txBody>
      </p:sp>
      <p:sp>
        <p:nvSpPr>
          <p:cNvPr id="36" name="Text 31"/>
          <p:cNvSpPr/>
          <p:nvPr/>
        </p:nvSpPr>
        <p:spPr>
          <a:xfrm>
            <a:off x="8778240" y="3630168"/>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Retrieve then generate</a:t>
            </a:r>
            <a:endParaRPr lang="en-US" sz="1300" dirty="0"/>
          </a:p>
        </p:txBody>
      </p:sp>
      <p:sp>
        <p:nvSpPr>
          <p:cNvPr id="37" name="Text 32"/>
          <p:cNvSpPr/>
          <p:nvPr/>
        </p:nvSpPr>
        <p:spPr>
          <a:xfrm>
            <a:off x="8778240" y="3950208"/>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First find the relevant info, then ask the AI to write about it. Keeps the AI grounded in real data.</a:t>
            </a:r>
            <a:endParaRPr lang="en-US" sz="1100" dirty="0"/>
          </a:p>
        </p:txBody>
      </p:sp>
      <p:sp>
        <p:nvSpPr>
          <p:cNvPr id="38" name="Text 33"/>
          <p:cNvSpPr/>
          <p:nvPr/>
        </p:nvSpPr>
        <p:spPr>
          <a:xfrm>
            <a:off x="8778240" y="4837176"/>
            <a:ext cx="31546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Provider switch</a:t>
            </a:r>
            <a:endParaRPr lang="en-US" sz="1300" dirty="0"/>
          </a:p>
        </p:txBody>
      </p:sp>
      <p:sp>
        <p:nvSpPr>
          <p:cNvPr id="39" name="Text 34"/>
          <p:cNvSpPr/>
          <p:nvPr/>
        </p:nvSpPr>
        <p:spPr>
          <a:xfrm>
            <a:off x="8778240" y="5157216"/>
            <a:ext cx="3154680" cy="86868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Code is built so swapping AI providers is one line. Free local AI today, paid Claude tomorrow.</a:t>
            </a:r>
            <a:endParaRPr lang="en-US" sz="1100" dirty="0"/>
          </a:p>
        </p:txBody>
      </p:sp>
      <p:sp>
        <p:nvSpPr>
          <p:cNvPr id="40" name="Shape 35"/>
          <p:cNvSpPr/>
          <p:nvPr/>
        </p:nvSpPr>
        <p:spPr>
          <a:xfrm>
            <a:off x="548640" y="6126480"/>
            <a:ext cx="11064240" cy="502920"/>
          </a:xfrm>
          <a:prstGeom prst="rect">
            <a:avLst/>
          </a:prstGeom>
          <a:solidFill>
            <a:srgbClr val="CADCFC"/>
          </a:solidFill>
          <a:ln/>
        </p:spPr>
      </p:sp>
      <p:sp>
        <p:nvSpPr>
          <p:cNvPr id="41" name="Text 36"/>
          <p:cNvSpPr/>
          <p:nvPr/>
        </p:nvSpPr>
        <p:spPr>
          <a:xfrm>
            <a:off x="777240" y="612648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42" name="Text 37"/>
          <p:cNvSpPr/>
          <p:nvPr/>
        </p:nvSpPr>
        <p:spPr>
          <a:xfrm>
            <a:off x="2331720" y="612648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AI can write text, find similar things, and combine the two. Some tasks need the big paid AI. Many tasks just need the free local one.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Four planned AI features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Each one answers one of the five questions</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508760"/>
            <a:ext cx="5486400" cy="2057400"/>
          </a:xfrm>
          <a:prstGeom prst="rect">
            <a:avLst/>
          </a:prstGeom>
          <a:solidFill>
            <a:srgbClr val="F7F8FB"/>
          </a:solidFill>
          <a:ln w="12700">
            <a:solidFill>
              <a:srgbClr val="E2E5EE"/>
            </a:solidFill>
            <a:prstDash val="solid"/>
          </a:ln>
        </p:spPr>
      </p:sp>
      <p:sp>
        <p:nvSpPr>
          <p:cNvPr id="8" name="Shape 6"/>
          <p:cNvSpPr/>
          <p:nvPr/>
        </p:nvSpPr>
        <p:spPr>
          <a:xfrm>
            <a:off x="548640" y="1508760"/>
            <a:ext cx="73152" cy="2057400"/>
          </a:xfrm>
          <a:prstGeom prst="rect">
            <a:avLst/>
          </a:prstGeom>
          <a:solidFill>
            <a:srgbClr val="1E2761"/>
          </a:solidFill>
          <a:ln/>
        </p:spPr>
      </p:sp>
      <p:sp>
        <p:nvSpPr>
          <p:cNvPr id="9" name="Shape 7"/>
          <p:cNvSpPr/>
          <p:nvPr/>
        </p:nvSpPr>
        <p:spPr>
          <a:xfrm>
            <a:off x="868680" y="1828800"/>
            <a:ext cx="640080" cy="640080"/>
          </a:xfrm>
          <a:prstGeom prst="ellipse">
            <a:avLst/>
          </a:prstGeom>
          <a:solidFill>
            <a:srgbClr val="1E2761"/>
          </a:solidFill>
          <a:ln/>
        </p:spPr>
      </p:sp>
      <p:pic>
        <p:nvPicPr>
          <p:cNvPr id="10" name="Image 0" descr="preencoded.png">    </p:cNvPr>
          <p:cNvPicPr>
            <a:picLocks noChangeAspect="1"/>
          </p:cNvPicPr>
          <p:nvPr/>
        </p:nvPicPr>
        <p:blipFill>
          <a:blip r:embed="rId1"/>
          <a:stretch>
            <a:fillRect/>
          </a:stretch>
        </p:blipFill>
        <p:spPr>
          <a:xfrm>
            <a:off x="996696" y="1956816"/>
            <a:ext cx="384048" cy="384048"/>
          </a:xfrm>
          <a:prstGeom prst="rect">
            <a:avLst/>
          </a:prstGeom>
        </p:spPr>
      </p:pic>
      <p:sp>
        <p:nvSpPr>
          <p:cNvPr id="11" name="Text 8"/>
          <p:cNvSpPr/>
          <p:nvPr/>
        </p:nvSpPr>
        <p:spPr>
          <a:xfrm>
            <a:off x="1691640" y="1783080"/>
            <a:ext cx="3200400" cy="45720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Author writing helper</a:t>
            </a:r>
            <a:endParaRPr lang="en-US" sz="1700" dirty="0"/>
          </a:p>
        </p:txBody>
      </p:sp>
      <p:sp>
        <p:nvSpPr>
          <p:cNvPr id="12" name="Shape 9"/>
          <p:cNvSpPr/>
          <p:nvPr/>
        </p:nvSpPr>
        <p:spPr>
          <a:xfrm>
            <a:off x="4754880" y="1874520"/>
            <a:ext cx="1143000" cy="320040"/>
          </a:xfrm>
          <a:prstGeom prst="rect">
            <a:avLst/>
          </a:prstGeom>
          <a:solidFill>
            <a:srgbClr val="CADCFC"/>
          </a:solidFill>
          <a:ln/>
        </p:spPr>
      </p:sp>
      <p:sp>
        <p:nvSpPr>
          <p:cNvPr id="13" name="Text 10"/>
          <p:cNvSpPr/>
          <p:nvPr/>
        </p:nvSpPr>
        <p:spPr>
          <a:xfrm>
            <a:off x="4754880" y="1874520"/>
            <a:ext cx="1143000" cy="320040"/>
          </a:xfrm>
          <a:prstGeom prst="rect">
            <a:avLst/>
          </a:prstGeom>
          <a:noFill/>
          <a:ln/>
        </p:spPr>
        <p:txBody>
          <a:bodyPr wrap="square" lIns="0" tIns="0" rIns="0" bIns="0" rtlCol="0" anchor="ctr"/>
          <a:lstStyle/>
          <a:p>
            <a:pPr algn="ctr" indent="0" marL="0">
              <a:buNone/>
            </a:pPr>
            <a:r>
              <a:rPr lang="en-US" sz="900" b="1" spc="100" kern="0" dirty="0">
                <a:solidFill>
                  <a:srgbClr val="1E2761"/>
                </a:solidFill>
                <a:latin typeface="Calibri" pitchFamily="34" charset="0"/>
                <a:ea typeface="Calibri" pitchFamily="34" charset="-122"/>
                <a:cs typeface="Calibri" pitchFamily="34" charset="-120"/>
              </a:rPr>
              <a:t>Q1 · LLM</a:t>
            </a:r>
            <a:endParaRPr lang="en-US" sz="900" dirty="0"/>
          </a:p>
        </p:txBody>
      </p:sp>
      <p:sp>
        <p:nvSpPr>
          <p:cNvPr id="14" name="Text 11"/>
          <p:cNvSpPr/>
          <p:nvPr/>
        </p:nvSpPr>
        <p:spPr>
          <a:xfrm>
            <a:off x="868680" y="251460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Polishes the abstract, suggests better titles, pulls out keywords. Author still edits and accepts.</a:t>
            </a:r>
            <a:endParaRPr lang="en-US" sz="1300" dirty="0"/>
          </a:p>
        </p:txBody>
      </p:sp>
      <p:sp>
        <p:nvSpPr>
          <p:cNvPr id="15" name="Shape 12"/>
          <p:cNvSpPr/>
          <p:nvPr/>
        </p:nvSpPr>
        <p:spPr>
          <a:xfrm>
            <a:off x="6199632" y="1508760"/>
            <a:ext cx="5486400" cy="2057400"/>
          </a:xfrm>
          <a:prstGeom prst="rect">
            <a:avLst/>
          </a:prstGeom>
          <a:solidFill>
            <a:srgbClr val="F7F8FB"/>
          </a:solidFill>
          <a:ln w="12700">
            <a:solidFill>
              <a:srgbClr val="E2E5EE"/>
            </a:solidFill>
            <a:prstDash val="solid"/>
          </a:ln>
        </p:spPr>
      </p:sp>
      <p:sp>
        <p:nvSpPr>
          <p:cNvPr id="16" name="Shape 13"/>
          <p:cNvSpPr/>
          <p:nvPr/>
        </p:nvSpPr>
        <p:spPr>
          <a:xfrm>
            <a:off x="6199632" y="1508760"/>
            <a:ext cx="73152" cy="2057400"/>
          </a:xfrm>
          <a:prstGeom prst="rect">
            <a:avLst/>
          </a:prstGeom>
          <a:solidFill>
            <a:srgbClr val="1E2761"/>
          </a:solidFill>
          <a:ln/>
        </p:spPr>
      </p:sp>
      <p:sp>
        <p:nvSpPr>
          <p:cNvPr id="17" name="Shape 14"/>
          <p:cNvSpPr/>
          <p:nvPr/>
        </p:nvSpPr>
        <p:spPr>
          <a:xfrm>
            <a:off x="6519672" y="1828800"/>
            <a:ext cx="640080" cy="640080"/>
          </a:xfrm>
          <a:prstGeom prst="ellipse">
            <a:avLst/>
          </a:prstGeom>
          <a:solidFill>
            <a:srgbClr val="1E2761"/>
          </a:solidFill>
          <a:ln/>
        </p:spPr>
      </p:sp>
      <p:pic>
        <p:nvPicPr>
          <p:cNvPr id="18" name="Image 1" descr="preencoded.png">    </p:cNvPr>
          <p:cNvPicPr>
            <a:picLocks noChangeAspect="1"/>
          </p:cNvPicPr>
          <p:nvPr/>
        </p:nvPicPr>
        <p:blipFill>
          <a:blip r:embed="rId2"/>
          <a:stretch>
            <a:fillRect/>
          </a:stretch>
        </p:blipFill>
        <p:spPr>
          <a:xfrm>
            <a:off x="6647688" y="1956816"/>
            <a:ext cx="384048" cy="384048"/>
          </a:xfrm>
          <a:prstGeom prst="rect">
            <a:avLst/>
          </a:prstGeom>
        </p:spPr>
      </p:pic>
      <p:sp>
        <p:nvSpPr>
          <p:cNvPr id="19" name="Text 15"/>
          <p:cNvSpPr/>
          <p:nvPr/>
        </p:nvSpPr>
        <p:spPr>
          <a:xfrm>
            <a:off x="7342632" y="1783080"/>
            <a:ext cx="3200400" cy="45720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Smart reviewer matching</a:t>
            </a:r>
            <a:endParaRPr lang="en-US" sz="1700" dirty="0"/>
          </a:p>
        </p:txBody>
      </p:sp>
      <p:sp>
        <p:nvSpPr>
          <p:cNvPr id="20" name="Shape 16"/>
          <p:cNvSpPr/>
          <p:nvPr/>
        </p:nvSpPr>
        <p:spPr>
          <a:xfrm>
            <a:off x="10405872" y="1874520"/>
            <a:ext cx="1143000" cy="320040"/>
          </a:xfrm>
          <a:prstGeom prst="rect">
            <a:avLst/>
          </a:prstGeom>
          <a:solidFill>
            <a:srgbClr val="CADCFC"/>
          </a:solidFill>
          <a:ln/>
        </p:spPr>
      </p:sp>
      <p:sp>
        <p:nvSpPr>
          <p:cNvPr id="21" name="Text 17"/>
          <p:cNvSpPr/>
          <p:nvPr/>
        </p:nvSpPr>
        <p:spPr>
          <a:xfrm>
            <a:off x="10405872" y="1874520"/>
            <a:ext cx="1143000" cy="320040"/>
          </a:xfrm>
          <a:prstGeom prst="rect">
            <a:avLst/>
          </a:prstGeom>
          <a:noFill/>
          <a:ln/>
        </p:spPr>
        <p:txBody>
          <a:bodyPr wrap="square" lIns="0" tIns="0" rIns="0" bIns="0" rtlCol="0" anchor="ctr"/>
          <a:lstStyle/>
          <a:p>
            <a:pPr algn="ctr" indent="0" marL="0">
              <a:buNone/>
            </a:pPr>
            <a:r>
              <a:rPr lang="en-US" sz="900" b="1" spc="100" kern="0" dirty="0">
                <a:solidFill>
                  <a:srgbClr val="1E2761"/>
                </a:solidFill>
                <a:latin typeface="Calibri" pitchFamily="34" charset="0"/>
                <a:ea typeface="Calibri" pitchFamily="34" charset="-122"/>
                <a:cs typeface="Calibri" pitchFamily="34" charset="-120"/>
              </a:rPr>
              <a:t>Q2 · Embeddings</a:t>
            </a:r>
            <a:endParaRPr lang="en-US" sz="900" dirty="0"/>
          </a:p>
        </p:txBody>
      </p:sp>
      <p:sp>
        <p:nvSpPr>
          <p:cNvPr id="22" name="Text 18"/>
          <p:cNvSpPr/>
          <p:nvPr/>
        </p:nvSpPr>
        <p:spPr>
          <a:xfrm>
            <a:off x="6519672" y="251460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Looks at each reviewer's expertise and ranks them by how well they match the paper. Editor still picks.</a:t>
            </a:r>
            <a:endParaRPr lang="en-US" sz="1300" dirty="0"/>
          </a:p>
        </p:txBody>
      </p:sp>
      <p:sp>
        <p:nvSpPr>
          <p:cNvPr id="23" name="Shape 19"/>
          <p:cNvSpPr/>
          <p:nvPr/>
        </p:nvSpPr>
        <p:spPr>
          <a:xfrm>
            <a:off x="548640" y="3749040"/>
            <a:ext cx="5486400" cy="2057400"/>
          </a:xfrm>
          <a:prstGeom prst="rect">
            <a:avLst/>
          </a:prstGeom>
          <a:solidFill>
            <a:srgbClr val="F7F8FB"/>
          </a:solidFill>
          <a:ln w="12700">
            <a:solidFill>
              <a:srgbClr val="E2E5EE"/>
            </a:solidFill>
            <a:prstDash val="solid"/>
          </a:ln>
        </p:spPr>
      </p:sp>
      <p:sp>
        <p:nvSpPr>
          <p:cNvPr id="24" name="Shape 20"/>
          <p:cNvSpPr/>
          <p:nvPr/>
        </p:nvSpPr>
        <p:spPr>
          <a:xfrm>
            <a:off x="548640" y="3749040"/>
            <a:ext cx="73152" cy="2057400"/>
          </a:xfrm>
          <a:prstGeom prst="rect">
            <a:avLst/>
          </a:prstGeom>
          <a:solidFill>
            <a:srgbClr val="1E2761"/>
          </a:solidFill>
          <a:ln/>
        </p:spPr>
      </p:sp>
      <p:sp>
        <p:nvSpPr>
          <p:cNvPr id="25" name="Shape 21"/>
          <p:cNvSpPr/>
          <p:nvPr/>
        </p:nvSpPr>
        <p:spPr>
          <a:xfrm>
            <a:off x="868680" y="4069080"/>
            <a:ext cx="640080" cy="640080"/>
          </a:xfrm>
          <a:prstGeom prst="ellipse">
            <a:avLst/>
          </a:prstGeom>
          <a:solidFill>
            <a:srgbClr val="1E2761"/>
          </a:solidFill>
          <a:ln/>
        </p:spPr>
      </p:sp>
      <p:pic>
        <p:nvPicPr>
          <p:cNvPr id="26" name="Image 2" descr="preencoded.png">    </p:cNvPr>
          <p:cNvPicPr>
            <a:picLocks noChangeAspect="1"/>
          </p:cNvPicPr>
          <p:nvPr/>
        </p:nvPicPr>
        <p:blipFill>
          <a:blip r:embed="rId3"/>
          <a:stretch>
            <a:fillRect/>
          </a:stretch>
        </p:blipFill>
        <p:spPr>
          <a:xfrm>
            <a:off x="996696" y="4197096"/>
            <a:ext cx="384048" cy="384048"/>
          </a:xfrm>
          <a:prstGeom prst="rect">
            <a:avLst/>
          </a:prstGeom>
        </p:spPr>
      </p:pic>
      <p:sp>
        <p:nvSpPr>
          <p:cNvPr id="27" name="Text 22"/>
          <p:cNvSpPr/>
          <p:nvPr/>
        </p:nvSpPr>
        <p:spPr>
          <a:xfrm>
            <a:off x="1691640" y="4023360"/>
            <a:ext cx="3200400" cy="45720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Plagiarism + AI-text flag</a:t>
            </a:r>
            <a:endParaRPr lang="en-US" sz="1700" dirty="0"/>
          </a:p>
        </p:txBody>
      </p:sp>
      <p:sp>
        <p:nvSpPr>
          <p:cNvPr id="28" name="Shape 23"/>
          <p:cNvSpPr/>
          <p:nvPr/>
        </p:nvSpPr>
        <p:spPr>
          <a:xfrm>
            <a:off x="4754880" y="4114800"/>
            <a:ext cx="1143000" cy="320040"/>
          </a:xfrm>
          <a:prstGeom prst="rect">
            <a:avLst/>
          </a:prstGeom>
          <a:solidFill>
            <a:srgbClr val="CADCFC"/>
          </a:solidFill>
          <a:ln/>
        </p:spPr>
      </p:sp>
      <p:sp>
        <p:nvSpPr>
          <p:cNvPr id="29" name="Text 24"/>
          <p:cNvSpPr/>
          <p:nvPr/>
        </p:nvSpPr>
        <p:spPr>
          <a:xfrm>
            <a:off x="4754880" y="4114800"/>
            <a:ext cx="1143000" cy="320040"/>
          </a:xfrm>
          <a:prstGeom prst="rect">
            <a:avLst/>
          </a:prstGeom>
          <a:noFill/>
          <a:ln/>
        </p:spPr>
        <p:txBody>
          <a:bodyPr wrap="square" lIns="0" tIns="0" rIns="0" bIns="0" rtlCol="0" anchor="ctr"/>
          <a:lstStyle/>
          <a:p>
            <a:pPr algn="ctr" indent="0" marL="0">
              <a:buNone/>
            </a:pPr>
            <a:r>
              <a:rPr lang="en-US" sz="900" b="1" spc="100" kern="0" dirty="0">
                <a:solidFill>
                  <a:srgbClr val="1E2761"/>
                </a:solidFill>
                <a:latin typeface="Calibri" pitchFamily="34" charset="0"/>
                <a:ea typeface="Calibri" pitchFamily="34" charset="-122"/>
                <a:cs typeface="Calibri" pitchFamily="34" charset="-120"/>
              </a:rPr>
              <a:t>Q3 · Embeddings</a:t>
            </a:r>
            <a:endParaRPr lang="en-US" sz="900" dirty="0"/>
          </a:p>
        </p:txBody>
      </p:sp>
      <p:sp>
        <p:nvSpPr>
          <p:cNvPr id="30" name="Text 25"/>
          <p:cNvSpPr/>
          <p:nvPr/>
        </p:nvSpPr>
        <p:spPr>
          <a:xfrm>
            <a:off x="868680" y="475488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Compares each new paper to existing ones and gives a "looks AI-written" score. Always a flag, never a verdict.</a:t>
            </a:r>
            <a:endParaRPr lang="en-US" sz="1300" dirty="0"/>
          </a:p>
        </p:txBody>
      </p:sp>
      <p:sp>
        <p:nvSpPr>
          <p:cNvPr id="31" name="Shape 26"/>
          <p:cNvSpPr/>
          <p:nvPr/>
        </p:nvSpPr>
        <p:spPr>
          <a:xfrm>
            <a:off x="6199632" y="3749040"/>
            <a:ext cx="5486400" cy="2057400"/>
          </a:xfrm>
          <a:prstGeom prst="rect">
            <a:avLst/>
          </a:prstGeom>
          <a:solidFill>
            <a:srgbClr val="F7F8FB"/>
          </a:solidFill>
          <a:ln w="12700">
            <a:solidFill>
              <a:srgbClr val="E2E5EE"/>
            </a:solidFill>
            <a:prstDash val="solid"/>
          </a:ln>
        </p:spPr>
      </p:sp>
      <p:sp>
        <p:nvSpPr>
          <p:cNvPr id="32" name="Shape 27"/>
          <p:cNvSpPr/>
          <p:nvPr/>
        </p:nvSpPr>
        <p:spPr>
          <a:xfrm>
            <a:off x="6199632" y="3749040"/>
            <a:ext cx="73152" cy="2057400"/>
          </a:xfrm>
          <a:prstGeom prst="rect">
            <a:avLst/>
          </a:prstGeom>
          <a:solidFill>
            <a:srgbClr val="1E2761"/>
          </a:solidFill>
          <a:ln/>
        </p:spPr>
      </p:sp>
      <p:sp>
        <p:nvSpPr>
          <p:cNvPr id="33" name="Shape 28"/>
          <p:cNvSpPr/>
          <p:nvPr/>
        </p:nvSpPr>
        <p:spPr>
          <a:xfrm>
            <a:off x="6519672" y="4069080"/>
            <a:ext cx="640080" cy="640080"/>
          </a:xfrm>
          <a:prstGeom prst="ellipse">
            <a:avLst/>
          </a:prstGeom>
          <a:solidFill>
            <a:srgbClr val="1E2761"/>
          </a:solidFill>
          <a:ln/>
        </p:spPr>
      </p:sp>
      <p:pic>
        <p:nvPicPr>
          <p:cNvPr id="34" name="Image 3" descr="preencoded.png">    </p:cNvPr>
          <p:cNvPicPr>
            <a:picLocks noChangeAspect="1"/>
          </p:cNvPicPr>
          <p:nvPr/>
        </p:nvPicPr>
        <p:blipFill>
          <a:blip r:embed="rId4"/>
          <a:stretch>
            <a:fillRect/>
          </a:stretch>
        </p:blipFill>
        <p:spPr>
          <a:xfrm>
            <a:off x="6647688" y="4197096"/>
            <a:ext cx="384048" cy="384048"/>
          </a:xfrm>
          <a:prstGeom prst="rect">
            <a:avLst/>
          </a:prstGeom>
        </p:spPr>
      </p:pic>
      <p:sp>
        <p:nvSpPr>
          <p:cNvPr id="35" name="Text 29"/>
          <p:cNvSpPr/>
          <p:nvPr/>
        </p:nvSpPr>
        <p:spPr>
          <a:xfrm>
            <a:off x="7342632" y="4023360"/>
            <a:ext cx="3200400" cy="45720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AI reviewer helper</a:t>
            </a:r>
            <a:endParaRPr lang="en-US" sz="1700" dirty="0"/>
          </a:p>
        </p:txBody>
      </p:sp>
      <p:sp>
        <p:nvSpPr>
          <p:cNvPr id="36" name="Shape 30"/>
          <p:cNvSpPr/>
          <p:nvPr/>
        </p:nvSpPr>
        <p:spPr>
          <a:xfrm>
            <a:off x="10405872" y="4114800"/>
            <a:ext cx="1143000" cy="320040"/>
          </a:xfrm>
          <a:prstGeom prst="rect">
            <a:avLst/>
          </a:prstGeom>
          <a:solidFill>
            <a:srgbClr val="CADCFC"/>
          </a:solidFill>
          <a:ln/>
        </p:spPr>
      </p:sp>
      <p:sp>
        <p:nvSpPr>
          <p:cNvPr id="37" name="Text 31"/>
          <p:cNvSpPr/>
          <p:nvPr/>
        </p:nvSpPr>
        <p:spPr>
          <a:xfrm>
            <a:off x="10405872" y="4114800"/>
            <a:ext cx="1143000" cy="320040"/>
          </a:xfrm>
          <a:prstGeom prst="rect">
            <a:avLst/>
          </a:prstGeom>
          <a:noFill/>
          <a:ln/>
        </p:spPr>
        <p:txBody>
          <a:bodyPr wrap="square" lIns="0" tIns="0" rIns="0" bIns="0" rtlCol="0" anchor="ctr"/>
          <a:lstStyle/>
          <a:p>
            <a:pPr algn="ctr" indent="0" marL="0">
              <a:buNone/>
            </a:pPr>
            <a:r>
              <a:rPr lang="en-US" sz="900" b="1" spc="100" kern="0" dirty="0">
                <a:solidFill>
                  <a:srgbClr val="1E2761"/>
                </a:solidFill>
                <a:latin typeface="Calibri" pitchFamily="34" charset="0"/>
                <a:ea typeface="Calibri" pitchFamily="34" charset="-122"/>
                <a:cs typeface="Calibri" pitchFamily="34" charset="-120"/>
              </a:rPr>
              <a:t>Q4 · LLM</a:t>
            </a:r>
            <a:endParaRPr lang="en-US" sz="900" dirty="0"/>
          </a:p>
        </p:txBody>
      </p:sp>
      <p:sp>
        <p:nvSpPr>
          <p:cNvPr id="38" name="Text 32"/>
          <p:cNvSpPr/>
          <p:nvPr/>
        </p:nvSpPr>
        <p:spPr>
          <a:xfrm>
            <a:off x="6519672" y="4754880"/>
            <a:ext cx="4937760" cy="960120"/>
          </a:xfrm>
          <a:prstGeom prst="rect">
            <a:avLst/>
          </a:prstGeom>
          <a:noFill/>
          <a:ln/>
        </p:spPr>
        <p:txBody>
          <a:bodyPr wrap="square" lIns="0" tIns="0" rIns="0" bIns="0" rtlCol="0" anchor="ctr"/>
          <a:lstStyle/>
          <a:p>
            <a:pPr indent="0" marL="0">
              <a:buNone/>
            </a:pPr>
            <a:r>
              <a:rPr lang="en-US" sz="1300" dirty="0">
                <a:solidFill>
                  <a:srgbClr val="5C6488"/>
                </a:solidFill>
                <a:latin typeface="Calibri" pitchFamily="34" charset="0"/>
                <a:ea typeface="Calibri" pitchFamily="34" charset="-122"/>
                <a:cs typeface="Calibri" pitchFamily="34" charset="-120"/>
              </a:rPr>
              <a:t>Drafts a structured first-pass review (summary, strengths, weaknesses, scores). Reviewer edits before submitting.</a:t>
            </a:r>
            <a:endParaRPr lang="en-US" sz="1300" dirty="0"/>
          </a:p>
        </p:txBody>
      </p:sp>
      <p:sp>
        <p:nvSpPr>
          <p:cNvPr id="39" name="Shape 33"/>
          <p:cNvSpPr/>
          <p:nvPr/>
        </p:nvSpPr>
        <p:spPr>
          <a:xfrm>
            <a:off x="548640" y="6080760"/>
            <a:ext cx="11064240" cy="502920"/>
          </a:xfrm>
          <a:prstGeom prst="rect">
            <a:avLst/>
          </a:prstGeom>
          <a:solidFill>
            <a:srgbClr val="CADCFC"/>
          </a:solidFill>
          <a:ln/>
        </p:spPr>
      </p:sp>
      <p:sp>
        <p:nvSpPr>
          <p:cNvPr id="40" name="Text 34"/>
          <p:cNvSpPr/>
          <p:nvPr/>
        </p:nvSpPr>
        <p:spPr>
          <a:xfrm>
            <a:off x="777240" y="608076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41" name="Text 35"/>
          <p:cNvSpPr/>
          <p:nvPr/>
        </p:nvSpPr>
        <p:spPr>
          <a:xfrm>
            <a:off x="2331720" y="608076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Two features write text (need a big AI). Two features find similar things (use a free local technique). The human is still in charge in all four.</a:t>
            </a:r>
            <a:endParaRPr lang="en-US" sz="1100" dirty="0"/>
          </a:p>
        </p:txBody>
      </p:sp>
      <p:sp>
        <p:nvSpPr>
          <p:cNvPr id="42" name="Text 36"/>
          <p:cNvSpPr/>
          <p:nvPr/>
        </p:nvSpPr>
        <p:spPr>
          <a:xfrm>
            <a:off x="548640" y="6492240"/>
            <a:ext cx="82296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43" name="Text 37"/>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How the system fits together</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Reading the architecture left to right</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485900"/>
            <a:ext cx="2286000" cy="777240"/>
          </a:xfrm>
          <a:prstGeom prst="rect">
            <a:avLst/>
          </a:prstGeom>
          <a:solidFill>
            <a:srgbClr val="CADCFC"/>
          </a:solidFill>
          <a:ln w="12700">
            <a:solidFill>
              <a:srgbClr val="D5D9E5"/>
            </a:solidFill>
            <a:prstDash val="solid"/>
          </a:ln>
        </p:spPr>
      </p:sp>
      <p:sp>
        <p:nvSpPr>
          <p:cNvPr id="8" name="Text 6"/>
          <p:cNvSpPr/>
          <p:nvPr/>
        </p:nvSpPr>
        <p:spPr>
          <a:xfrm>
            <a:off x="548640" y="1485900"/>
            <a:ext cx="2286000" cy="77724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Browser</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(what users see)</a:t>
            </a:r>
            <a:endParaRPr lang="en-US" sz="1200" dirty="0"/>
          </a:p>
        </p:txBody>
      </p:sp>
      <p:sp>
        <p:nvSpPr>
          <p:cNvPr id="9" name="Shape 7"/>
          <p:cNvSpPr/>
          <p:nvPr/>
        </p:nvSpPr>
        <p:spPr>
          <a:xfrm>
            <a:off x="2834640" y="1874520"/>
            <a:ext cx="548640" cy="0"/>
          </a:xfrm>
          <a:prstGeom prst="line">
            <a:avLst/>
          </a:prstGeom>
          <a:noFill/>
          <a:ln w="19050">
            <a:solidFill>
              <a:srgbClr val="1E2761"/>
            </a:solidFill>
            <a:prstDash val="solid"/>
            <a:tailEnd type="triangle"/>
          </a:ln>
        </p:spPr>
      </p:sp>
      <p:sp>
        <p:nvSpPr>
          <p:cNvPr id="10" name="Shape 8"/>
          <p:cNvSpPr/>
          <p:nvPr/>
        </p:nvSpPr>
        <p:spPr>
          <a:xfrm>
            <a:off x="3383280" y="1371600"/>
            <a:ext cx="2743200" cy="1005840"/>
          </a:xfrm>
          <a:prstGeom prst="rect">
            <a:avLst/>
          </a:prstGeom>
          <a:solidFill>
            <a:srgbClr val="1E2761"/>
          </a:solidFill>
          <a:ln w="12700">
            <a:solidFill>
              <a:srgbClr val="1E2761"/>
            </a:solidFill>
            <a:prstDash val="solid"/>
          </a:ln>
        </p:spPr>
      </p:sp>
      <p:sp>
        <p:nvSpPr>
          <p:cNvPr id="11" name="Text 9"/>
          <p:cNvSpPr/>
          <p:nvPr/>
        </p:nvSpPr>
        <p:spPr>
          <a:xfrm>
            <a:off x="3383280" y="1371600"/>
            <a:ext cx="27432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p:txBody>
      </p:sp>
      <p:sp>
        <p:nvSpPr>
          <p:cNvPr id="12" name="Text 10"/>
          <p:cNvSpPr/>
          <p:nvPr/>
        </p:nvSpPr>
        <p:spPr>
          <a:xfrm>
            <a:off x="3383280" y="1920240"/>
            <a:ext cx="2743200" cy="365760"/>
          </a:xfrm>
          <a:prstGeom prst="rect">
            <a:avLst/>
          </a:prstGeom>
          <a:noFill/>
          <a:ln/>
        </p:spPr>
        <p:txBody>
          <a:bodyPr wrap="square" lIns="0" tIns="0" rIns="0" bIns="0" rtlCol="0" anchor="ctr"/>
          <a:lstStyle/>
          <a:p>
            <a:pPr algn="ctr" indent="0" marL="0">
              <a:buNone/>
            </a:pPr>
            <a:r>
              <a:rPr lang="en-US" sz="900" i="1" dirty="0">
                <a:solidFill>
                  <a:srgbClr val="CADCFC"/>
                </a:solidFill>
                <a:latin typeface="Calibri" pitchFamily="34" charset="0"/>
                <a:ea typeface="Calibri" pitchFamily="34" charset="-122"/>
                <a:cs typeface="Calibri" pitchFamily="34" charset="-120"/>
              </a:rPr>
              <a:t>handles security and login</a:t>
            </a:r>
            <a:endParaRPr lang="en-US" sz="900" dirty="0"/>
          </a:p>
        </p:txBody>
      </p:sp>
      <p:sp>
        <p:nvSpPr>
          <p:cNvPr id="13" name="Shape 11"/>
          <p:cNvSpPr/>
          <p:nvPr/>
        </p:nvSpPr>
        <p:spPr>
          <a:xfrm>
            <a:off x="6126480" y="1874520"/>
            <a:ext cx="548640" cy="0"/>
          </a:xfrm>
          <a:prstGeom prst="line">
            <a:avLst/>
          </a:prstGeom>
          <a:noFill/>
          <a:ln w="19050">
            <a:solidFill>
              <a:srgbClr val="1E2761"/>
            </a:solidFill>
            <a:prstDash val="solid"/>
            <a:tailEnd type="triangle"/>
          </a:ln>
        </p:spPr>
      </p:sp>
      <p:sp>
        <p:nvSpPr>
          <p:cNvPr id="14" name="Shape 12"/>
          <p:cNvSpPr/>
          <p:nvPr/>
        </p:nvSpPr>
        <p:spPr>
          <a:xfrm>
            <a:off x="6675120" y="1485900"/>
            <a:ext cx="4937760" cy="777240"/>
          </a:xfrm>
          <a:prstGeom prst="rect">
            <a:avLst/>
          </a:prstGeom>
          <a:solidFill>
            <a:srgbClr val="000000"/>
          </a:solidFill>
          <a:ln w="12700">
            <a:solidFill>
              <a:srgbClr val="D5D9E5"/>
            </a:solidFill>
            <a:prstDash val="solid"/>
          </a:ln>
        </p:spPr>
      </p:sp>
      <p:sp>
        <p:nvSpPr>
          <p:cNvPr id="15" name="Text 13"/>
          <p:cNvSpPr/>
          <p:nvPr/>
        </p:nvSpPr>
        <p:spPr>
          <a:xfrm>
            <a:off x="6675120" y="1485900"/>
            <a:ext cx="4937760" cy="777240"/>
          </a:xfrm>
          <a:prstGeom prst="rect">
            <a:avLst/>
          </a:prstGeom>
          <a:noFill/>
          <a:ln/>
        </p:spPr>
        <p:txBody>
          <a:bodyPr wrap="square" lIns="0" tIns="0" rIns="0" bIns="0" rtlCol="0" anchor="ctr"/>
          <a:lstStyle/>
          <a:p>
            <a:pPr algn="ctr" indent="0" marL="0">
              <a:buNone/>
            </a:pPr>
            <a:r>
              <a:rPr lang="en-US" sz="1200" b="1" dirty="0">
                <a:solidFill>
                  <a:srgbClr val="0F1538"/>
                </a:solidFill>
                <a:latin typeface="Calibri" pitchFamily="34" charset="0"/>
                <a:ea typeface="Calibri" pitchFamily="34" charset="-122"/>
                <a:cs typeface="Calibri" pitchFamily="34" charset="-120"/>
              </a:rPr>
              <a:t>Routes → Logic → Database</a:t>
            </a:r>
            <a:endParaRPr lang="en-US" sz="1200" dirty="0"/>
          </a:p>
        </p:txBody>
      </p:sp>
      <p:sp>
        <p:nvSpPr>
          <p:cNvPr id="16" name="Shape 14"/>
          <p:cNvSpPr/>
          <p:nvPr/>
        </p:nvSpPr>
        <p:spPr>
          <a:xfrm>
            <a:off x="548640" y="2743200"/>
            <a:ext cx="2103120" cy="868680"/>
          </a:xfrm>
          <a:prstGeom prst="rect">
            <a:avLst/>
          </a:prstGeom>
          <a:solidFill>
            <a:srgbClr val="FFFFFF"/>
          </a:solidFill>
          <a:ln w="12700">
            <a:solidFill>
              <a:srgbClr val="1E2761"/>
            </a:solidFill>
            <a:prstDash val="solid"/>
          </a:ln>
        </p:spPr>
      </p:sp>
      <p:sp>
        <p:nvSpPr>
          <p:cNvPr id="17" name="Text 15"/>
          <p:cNvSpPr/>
          <p:nvPr/>
        </p:nvSpPr>
        <p:spPr>
          <a:xfrm>
            <a:off x="548640" y="280720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reviewerMatcher</a:t>
            </a:r>
            <a:endParaRPr lang="en-US" sz="1100" dirty="0"/>
          </a:p>
        </p:txBody>
      </p:sp>
      <p:sp>
        <p:nvSpPr>
          <p:cNvPr id="18" name="Text 16"/>
          <p:cNvSpPr/>
          <p:nvPr/>
        </p:nvSpPr>
        <p:spPr>
          <a:xfrm>
            <a:off x="548640" y="320040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matches reviewers</a:t>
            </a:r>
            <a:endParaRPr lang="en-US" sz="1000" dirty="0"/>
          </a:p>
        </p:txBody>
      </p:sp>
      <p:sp>
        <p:nvSpPr>
          <p:cNvPr id="19" name="Shape 17"/>
          <p:cNvSpPr/>
          <p:nvPr/>
        </p:nvSpPr>
        <p:spPr>
          <a:xfrm>
            <a:off x="2743200" y="2743200"/>
            <a:ext cx="2103120" cy="868680"/>
          </a:xfrm>
          <a:prstGeom prst="rect">
            <a:avLst/>
          </a:prstGeom>
          <a:solidFill>
            <a:srgbClr val="FFFFFF"/>
          </a:solidFill>
          <a:ln w="12700">
            <a:solidFill>
              <a:srgbClr val="1E2761"/>
            </a:solidFill>
            <a:prstDash val="solid"/>
          </a:ln>
        </p:spPr>
      </p:sp>
      <p:sp>
        <p:nvSpPr>
          <p:cNvPr id="20" name="Text 18"/>
          <p:cNvSpPr/>
          <p:nvPr/>
        </p:nvSpPr>
        <p:spPr>
          <a:xfrm>
            <a:off x="2743200" y="280720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plagiarism</a:t>
            </a:r>
            <a:endParaRPr lang="en-US" sz="1100" dirty="0"/>
          </a:p>
        </p:txBody>
      </p:sp>
      <p:sp>
        <p:nvSpPr>
          <p:cNvPr id="21" name="Text 19"/>
          <p:cNvSpPr/>
          <p:nvPr/>
        </p:nvSpPr>
        <p:spPr>
          <a:xfrm>
            <a:off x="2743200" y="320040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similarity check</a:t>
            </a:r>
            <a:endParaRPr lang="en-US" sz="1000" dirty="0"/>
          </a:p>
        </p:txBody>
      </p:sp>
      <p:sp>
        <p:nvSpPr>
          <p:cNvPr id="22" name="Shape 20"/>
          <p:cNvSpPr/>
          <p:nvPr/>
        </p:nvSpPr>
        <p:spPr>
          <a:xfrm>
            <a:off x="4937760" y="2743200"/>
            <a:ext cx="2103120" cy="868680"/>
          </a:xfrm>
          <a:prstGeom prst="rect">
            <a:avLst/>
          </a:prstGeom>
          <a:solidFill>
            <a:srgbClr val="FFFFFF"/>
          </a:solidFill>
          <a:ln w="12700">
            <a:solidFill>
              <a:srgbClr val="1E2761"/>
            </a:solidFill>
            <a:prstDash val="solid"/>
          </a:ln>
        </p:spPr>
      </p:sp>
      <p:sp>
        <p:nvSpPr>
          <p:cNvPr id="23" name="Text 21"/>
          <p:cNvSpPr/>
          <p:nvPr/>
        </p:nvSpPr>
        <p:spPr>
          <a:xfrm>
            <a:off x="4937760" y="280720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aiReviewer</a:t>
            </a:r>
            <a:endParaRPr lang="en-US" sz="1100" dirty="0"/>
          </a:p>
        </p:txBody>
      </p:sp>
      <p:sp>
        <p:nvSpPr>
          <p:cNvPr id="24" name="Text 22"/>
          <p:cNvSpPr/>
          <p:nvPr/>
        </p:nvSpPr>
        <p:spPr>
          <a:xfrm>
            <a:off x="4937760" y="320040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drafts reviews</a:t>
            </a:r>
            <a:endParaRPr lang="en-US" sz="1000" dirty="0"/>
          </a:p>
        </p:txBody>
      </p:sp>
      <p:sp>
        <p:nvSpPr>
          <p:cNvPr id="25" name="Shape 23"/>
          <p:cNvSpPr/>
          <p:nvPr/>
        </p:nvSpPr>
        <p:spPr>
          <a:xfrm>
            <a:off x="7132320" y="2743200"/>
            <a:ext cx="2103120" cy="868680"/>
          </a:xfrm>
          <a:prstGeom prst="rect">
            <a:avLst/>
          </a:prstGeom>
          <a:solidFill>
            <a:srgbClr val="FFFFFF"/>
          </a:solidFill>
          <a:ln w="12700">
            <a:solidFill>
              <a:srgbClr val="1E2761"/>
            </a:solidFill>
            <a:prstDash val="solid"/>
          </a:ln>
        </p:spPr>
      </p:sp>
      <p:sp>
        <p:nvSpPr>
          <p:cNvPr id="26" name="Text 24"/>
          <p:cNvSpPr/>
          <p:nvPr/>
        </p:nvSpPr>
        <p:spPr>
          <a:xfrm>
            <a:off x="7132320" y="280720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writingAssistant</a:t>
            </a:r>
            <a:endParaRPr lang="en-US" sz="1100" dirty="0"/>
          </a:p>
        </p:txBody>
      </p:sp>
      <p:sp>
        <p:nvSpPr>
          <p:cNvPr id="27" name="Text 25"/>
          <p:cNvSpPr/>
          <p:nvPr/>
        </p:nvSpPr>
        <p:spPr>
          <a:xfrm>
            <a:off x="7132320" y="320040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polishes abstracts</a:t>
            </a:r>
            <a:endParaRPr lang="en-US" sz="1000" dirty="0"/>
          </a:p>
        </p:txBody>
      </p:sp>
      <p:sp>
        <p:nvSpPr>
          <p:cNvPr id="28" name="Shape 26"/>
          <p:cNvSpPr/>
          <p:nvPr/>
        </p:nvSpPr>
        <p:spPr>
          <a:xfrm>
            <a:off x="9326880" y="2743200"/>
            <a:ext cx="2103120" cy="868680"/>
          </a:xfrm>
          <a:prstGeom prst="rect">
            <a:avLst/>
          </a:prstGeom>
          <a:solidFill>
            <a:srgbClr val="FFFFFF"/>
          </a:solidFill>
          <a:ln w="12700">
            <a:solidFill>
              <a:srgbClr val="1E2761"/>
            </a:solidFill>
            <a:prstDash val="solid"/>
          </a:ln>
        </p:spPr>
      </p:sp>
      <p:sp>
        <p:nvSpPr>
          <p:cNvPr id="29" name="Text 27"/>
          <p:cNvSpPr/>
          <p:nvPr/>
        </p:nvSpPr>
        <p:spPr>
          <a:xfrm>
            <a:off x="9326880" y="2807208"/>
            <a:ext cx="2103120" cy="365760"/>
          </a:xfrm>
          <a:prstGeom prst="rect">
            <a:avLst/>
          </a:prstGeom>
          <a:noFill/>
          <a:ln/>
        </p:spPr>
        <p:txBody>
          <a:bodyPr wrap="square" lIns="0" tIns="0" rIns="0" bIns="0" rtlCol="0" anchor="ctr"/>
          <a:lstStyle/>
          <a:p>
            <a:pPr algn="ctr" indent="0" marL="0">
              <a:buNone/>
            </a:pPr>
            <a:r>
              <a:rPr lang="en-US" sz="1100" b="1" dirty="0">
                <a:solidFill>
                  <a:srgbClr val="1E2761"/>
                </a:solidFill>
                <a:latin typeface="Consolas" pitchFamily="34" charset="0"/>
                <a:ea typeface="Consolas" pitchFamily="34" charset="-122"/>
                <a:cs typeface="Consolas" pitchFamily="34" charset="-120"/>
              </a:rPr>
              <a:t>embeddings</a:t>
            </a:r>
            <a:endParaRPr lang="en-US" sz="1100" dirty="0"/>
          </a:p>
        </p:txBody>
      </p:sp>
      <p:sp>
        <p:nvSpPr>
          <p:cNvPr id="30" name="Text 28"/>
          <p:cNvSpPr/>
          <p:nvPr/>
        </p:nvSpPr>
        <p:spPr>
          <a:xfrm>
            <a:off x="9326880" y="3200400"/>
            <a:ext cx="2103120" cy="320040"/>
          </a:xfrm>
          <a:prstGeom prst="rect">
            <a:avLst/>
          </a:prstGeom>
          <a:noFill/>
          <a:ln/>
        </p:spPr>
        <p:txBody>
          <a:bodyPr wrap="square" lIns="0" tIns="0" rIns="0" bIns="0" rtlCol="0" anchor="ctr"/>
          <a:lstStyle/>
          <a:p>
            <a:pPr algn="ctr" indent="0" marL="0">
              <a:buNone/>
            </a:pPr>
            <a:r>
              <a:rPr lang="en-US" sz="1000" i="1" dirty="0">
                <a:solidFill>
                  <a:srgbClr val="5C6488"/>
                </a:solidFill>
                <a:latin typeface="Calibri" pitchFamily="34" charset="0"/>
                <a:ea typeface="Calibri" pitchFamily="34" charset="-122"/>
                <a:cs typeface="Calibri" pitchFamily="34" charset="-120"/>
              </a:rPr>
              <a:t>shared text vectors</a:t>
            </a:r>
            <a:endParaRPr lang="en-US" sz="1000" dirty="0"/>
          </a:p>
        </p:txBody>
      </p:sp>
      <p:sp>
        <p:nvSpPr>
          <p:cNvPr id="31" name="Shape 29"/>
          <p:cNvSpPr/>
          <p:nvPr/>
        </p:nvSpPr>
        <p:spPr>
          <a:xfrm>
            <a:off x="548640" y="3931920"/>
            <a:ext cx="11064240" cy="1508760"/>
          </a:xfrm>
          <a:prstGeom prst="rect">
            <a:avLst/>
          </a:prstGeom>
          <a:solidFill>
            <a:srgbClr val="1E2761"/>
          </a:solidFill>
          <a:ln/>
        </p:spPr>
      </p:sp>
      <p:sp>
        <p:nvSpPr>
          <p:cNvPr id="32" name="Shape 30"/>
          <p:cNvSpPr/>
          <p:nvPr/>
        </p:nvSpPr>
        <p:spPr>
          <a:xfrm>
            <a:off x="548640" y="3931920"/>
            <a:ext cx="11064240" cy="54864"/>
          </a:xfrm>
          <a:prstGeom prst="rect">
            <a:avLst/>
          </a:prstGeom>
          <a:solidFill>
            <a:srgbClr val="F4B942"/>
          </a:solidFill>
          <a:ln/>
        </p:spPr>
      </p:sp>
      <p:sp>
        <p:nvSpPr>
          <p:cNvPr id="33" name="Text 31"/>
          <p:cNvSpPr/>
          <p:nvPr/>
        </p:nvSpPr>
        <p:spPr>
          <a:xfrm>
            <a:off x="777240" y="4069080"/>
            <a:ext cx="10515600" cy="27432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THE AI PROVIDER SWITCH</a:t>
            </a:r>
            <a:endParaRPr lang="en-US" sz="1100" dirty="0"/>
          </a:p>
        </p:txBody>
      </p:sp>
      <p:sp>
        <p:nvSpPr>
          <p:cNvPr id="34" name="Shape 32"/>
          <p:cNvSpPr/>
          <p:nvPr/>
        </p:nvSpPr>
        <p:spPr>
          <a:xfrm>
            <a:off x="777240" y="4389120"/>
            <a:ext cx="5349240" cy="914400"/>
          </a:xfrm>
          <a:prstGeom prst="rect">
            <a:avLst/>
          </a:prstGeom>
          <a:solidFill>
            <a:srgbClr val="141C49"/>
          </a:solidFill>
          <a:ln w="12700">
            <a:solidFill>
              <a:srgbClr val="F4B942"/>
            </a:solidFill>
            <a:prstDash val="solid"/>
          </a:ln>
        </p:spPr>
      </p:sp>
      <p:sp>
        <p:nvSpPr>
          <p:cNvPr id="35" name="Text 33"/>
          <p:cNvSpPr/>
          <p:nvPr/>
        </p:nvSpPr>
        <p:spPr>
          <a:xfrm>
            <a:off x="960120" y="4462272"/>
            <a:ext cx="5029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local AI (default)</a:t>
            </a:r>
            <a:endParaRPr lang="en-US" sz="1400" dirty="0"/>
          </a:p>
        </p:txBody>
      </p:sp>
      <p:sp>
        <p:nvSpPr>
          <p:cNvPr id="36" name="Text 34"/>
          <p:cNvSpPr/>
          <p:nvPr/>
        </p:nvSpPr>
        <p:spPr>
          <a:xfrm>
            <a:off x="960120" y="4828032"/>
            <a:ext cx="5029200" cy="41148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Free, runs on your laptop, ships today</a:t>
            </a:r>
            <a:endParaRPr lang="en-US" sz="1100" dirty="0"/>
          </a:p>
        </p:txBody>
      </p:sp>
      <p:sp>
        <p:nvSpPr>
          <p:cNvPr id="37" name="Shape 35"/>
          <p:cNvSpPr/>
          <p:nvPr/>
        </p:nvSpPr>
        <p:spPr>
          <a:xfrm>
            <a:off x="6263640" y="4389120"/>
            <a:ext cx="5349240" cy="914400"/>
          </a:xfrm>
          <a:prstGeom prst="rect">
            <a:avLst/>
          </a:prstGeom>
          <a:solidFill>
            <a:srgbClr val="141C49"/>
          </a:solidFill>
          <a:ln w="12700">
            <a:solidFill>
              <a:srgbClr val="F4B942"/>
            </a:solidFill>
            <a:prstDash val="solid"/>
          </a:ln>
        </p:spPr>
      </p:sp>
      <p:sp>
        <p:nvSpPr>
          <p:cNvPr id="38" name="Text 36"/>
          <p:cNvSpPr/>
          <p:nvPr/>
        </p:nvSpPr>
        <p:spPr>
          <a:xfrm>
            <a:off x="6446520" y="4462272"/>
            <a:ext cx="5029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Claude (when key set)</a:t>
            </a:r>
            <a:endParaRPr lang="en-US" sz="1400" dirty="0"/>
          </a:p>
        </p:txBody>
      </p:sp>
      <p:sp>
        <p:nvSpPr>
          <p:cNvPr id="39" name="Text 37"/>
          <p:cNvSpPr/>
          <p:nvPr/>
        </p:nvSpPr>
        <p:spPr>
          <a:xfrm>
            <a:off x="6446520" y="4828032"/>
            <a:ext cx="5029200" cy="41148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Anthropic Claude Sonnet 4.6, one-line upgrade</a:t>
            </a:r>
            <a:endParaRPr lang="en-US" sz="1100" dirty="0"/>
          </a:p>
        </p:txBody>
      </p:sp>
      <p:sp>
        <p:nvSpPr>
          <p:cNvPr id="40" name="Shape 38"/>
          <p:cNvSpPr/>
          <p:nvPr/>
        </p:nvSpPr>
        <p:spPr>
          <a:xfrm>
            <a:off x="548640" y="5623560"/>
            <a:ext cx="11064240" cy="502920"/>
          </a:xfrm>
          <a:prstGeom prst="rect">
            <a:avLst/>
          </a:prstGeom>
          <a:solidFill>
            <a:srgbClr val="CADCFC"/>
          </a:solidFill>
          <a:ln/>
        </p:spPr>
      </p:sp>
      <p:sp>
        <p:nvSpPr>
          <p:cNvPr id="41" name="Text 39"/>
          <p:cNvSpPr/>
          <p:nvPr/>
        </p:nvSpPr>
        <p:spPr>
          <a:xfrm>
            <a:off x="777240" y="562356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42" name="Text 40"/>
          <p:cNvSpPr/>
          <p:nvPr/>
        </p:nvSpPr>
        <p:spPr>
          <a:xfrm>
            <a:off x="2331720" y="562356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Read it left to right: user opens website, server handles security, code calls the right service. The yellow-bordered area is the magic part — switch the AI provider with one setting.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Where I am right now</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Honest status: done, half-done, planned</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3</a:t>
            </a:r>
            <a:endParaRPr lang="en-US" sz="1100" dirty="0"/>
          </a:p>
        </p:txBody>
      </p:sp>
      <p:sp>
        <p:nvSpPr>
          <p:cNvPr id="7" name="Shape 5"/>
          <p:cNvSpPr/>
          <p:nvPr/>
        </p:nvSpPr>
        <p:spPr>
          <a:xfrm>
            <a:off x="548640" y="1508760"/>
            <a:ext cx="11064240" cy="457200"/>
          </a:xfrm>
          <a:prstGeom prst="rect">
            <a:avLst/>
          </a:prstGeom>
          <a:solidFill>
            <a:srgbClr val="1E2761"/>
          </a:solidFill>
          <a:ln/>
        </p:spPr>
      </p:sp>
      <p:sp>
        <p:nvSpPr>
          <p:cNvPr id="8" name="Text 6"/>
          <p:cNvSpPr/>
          <p:nvPr/>
        </p:nvSpPr>
        <p:spPr>
          <a:xfrm>
            <a:off x="777240" y="1508760"/>
            <a:ext cx="411480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Capability</a:t>
            </a:r>
            <a:endParaRPr lang="en-US" sz="1200" dirty="0"/>
          </a:p>
        </p:txBody>
      </p:sp>
      <p:sp>
        <p:nvSpPr>
          <p:cNvPr id="9" name="Text 7"/>
          <p:cNvSpPr/>
          <p:nvPr/>
        </p:nvSpPr>
        <p:spPr>
          <a:xfrm>
            <a:off x="5074920" y="1508760"/>
            <a:ext cx="137160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Status</a:t>
            </a:r>
            <a:endParaRPr lang="en-US" sz="1200" dirty="0"/>
          </a:p>
        </p:txBody>
      </p:sp>
      <p:sp>
        <p:nvSpPr>
          <p:cNvPr id="10" name="Text 8"/>
          <p:cNvSpPr/>
          <p:nvPr/>
        </p:nvSpPr>
        <p:spPr>
          <a:xfrm>
            <a:off x="6629400" y="1508760"/>
            <a:ext cx="484632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Plain English notes</a:t>
            </a:r>
            <a:endParaRPr lang="en-US" sz="1200" dirty="0"/>
          </a:p>
        </p:txBody>
      </p:sp>
      <p:sp>
        <p:nvSpPr>
          <p:cNvPr id="11" name="Shape 9"/>
          <p:cNvSpPr/>
          <p:nvPr/>
        </p:nvSpPr>
        <p:spPr>
          <a:xfrm>
            <a:off x="548640" y="1965960"/>
            <a:ext cx="11064240" cy="384048"/>
          </a:xfrm>
          <a:prstGeom prst="rect">
            <a:avLst/>
          </a:prstGeom>
          <a:solidFill>
            <a:srgbClr val="F7F8FB"/>
          </a:solidFill>
          <a:ln/>
        </p:spPr>
      </p:sp>
      <p:sp>
        <p:nvSpPr>
          <p:cNvPr id="12" name="Text 10"/>
          <p:cNvSpPr/>
          <p:nvPr/>
        </p:nvSpPr>
        <p:spPr>
          <a:xfrm>
            <a:off x="777240" y="1965960"/>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MVC project structure</a:t>
            </a:r>
            <a:endParaRPr lang="en-US" sz="1200" dirty="0"/>
          </a:p>
        </p:txBody>
      </p:sp>
      <p:sp>
        <p:nvSpPr>
          <p:cNvPr id="13" name="Shape 11"/>
          <p:cNvSpPr/>
          <p:nvPr/>
        </p:nvSpPr>
        <p:spPr>
          <a:xfrm>
            <a:off x="5074920" y="2020824"/>
            <a:ext cx="1371600" cy="274320"/>
          </a:xfrm>
          <a:prstGeom prst="rect">
            <a:avLst/>
          </a:prstGeom>
          <a:solidFill>
            <a:srgbClr val="2E8B57"/>
          </a:solidFill>
          <a:ln/>
        </p:spPr>
      </p:sp>
      <p:sp>
        <p:nvSpPr>
          <p:cNvPr id="14" name="Text 12"/>
          <p:cNvSpPr/>
          <p:nvPr/>
        </p:nvSpPr>
        <p:spPr>
          <a:xfrm>
            <a:off x="5074920" y="2020824"/>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15" name="Text 13"/>
          <p:cNvSpPr/>
          <p:nvPr/>
        </p:nvSpPr>
        <p:spPr>
          <a:xfrm>
            <a:off x="6629400" y="1965960"/>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Clean folder layout. Routes, controllers, services, models, views all separated.</a:t>
            </a:r>
            <a:endParaRPr lang="en-US" sz="1100" dirty="0"/>
          </a:p>
        </p:txBody>
      </p:sp>
      <p:sp>
        <p:nvSpPr>
          <p:cNvPr id="16" name="Text 14"/>
          <p:cNvSpPr/>
          <p:nvPr/>
        </p:nvSpPr>
        <p:spPr>
          <a:xfrm>
            <a:off x="777240" y="2350008"/>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Login + roles for 5 user types</a:t>
            </a:r>
            <a:endParaRPr lang="en-US" sz="1200" dirty="0"/>
          </a:p>
        </p:txBody>
      </p:sp>
      <p:sp>
        <p:nvSpPr>
          <p:cNvPr id="17" name="Shape 15"/>
          <p:cNvSpPr/>
          <p:nvPr/>
        </p:nvSpPr>
        <p:spPr>
          <a:xfrm>
            <a:off x="5074920" y="2404872"/>
            <a:ext cx="1371600" cy="274320"/>
          </a:xfrm>
          <a:prstGeom prst="rect">
            <a:avLst/>
          </a:prstGeom>
          <a:solidFill>
            <a:srgbClr val="2E8B57"/>
          </a:solidFill>
          <a:ln/>
        </p:spPr>
      </p:sp>
      <p:sp>
        <p:nvSpPr>
          <p:cNvPr id="18" name="Text 16"/>
          <p:cNvSpPr/>
          <p:nvPr/>
        </p:nvSpPr>
        <p:spPr>
          <a:xfrm>
            <a:off x="5074920" y="2404872"/>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19" name="Text 17"/>
          <p:cNvSpPr/>
          <p:nvPr/>
        </p:nvSpPr>
        <p:spPr>
          <a:xfrm>
            <a:off x="6629400" y="2350008"/>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Author, reviewer, editor, admin, reader. Helmet, rate-limit, secure sessions.</a:t>
            </a:r>
            <a:endParaRPr lang="en-US" sz="1100" dirty="0"/>
          </a:p>
        </p:txBody>
      </p:sp>
      <p:sp>
        <p:nvSpPr>
          <p:cNvPr id="20" name="Shape 18"/>
          <p:cNvSpPr/>
          <p:nvPr/>
        </p:nvSpPr>
        <p:spPr>
          <a:xfrm>
            <a:off x="548640" y="2734056"/>
            <a:ext cx="11064240" cy="384048"/>
          </a:xfrm>
          <a:prstGeom prst="rect">
            <a:avLst/>
          </a:prstGeom>
          <a:solidFill>
            <a:srgbClr val="F7F8FB"/>
          </a:solidFill>
          <a:ln/>
        </p:spPr>
      </p:sp>
      <p:sp>
        <p:nvSpPr>
          <p:cNvPr id="21" name="Text 19"/>
          <p:cNvSpPr/>
          <p:nvPr/>
        </p:nvSpPr>
        <p:spPr>
          <a:xfrm>
            <a:off x="777240" y="2734056"/>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Smart reviewer matching</a:t>
            </a:r>
            <a:endParaRPr lang="en-US" sz="1200" dirty="0"/>
          </a:p>
        </p:txBody>
      </p:sp>
      <p:sp>
        <p:nvSpPr>
          <p:cNvPr id="22" name="Shape 20"/>
          <p:cNvSpPr/>
          <p:nvPr/>
        </p:nvSpPr>
        <p:spPr>
          <a:xfrm>
            <a:off x="5074920" y="2788920"/>
            <a:ext cx="1371600" cy="274320"/>
          </a:xfrm>
          <a:prstGeom prst="rect">
            <a:avLst/>
          </a:prstGeom>
          <a:solidFill>
            <a:srgbClr val="2E8B57"/>
          </a:solidFill>
          <a:ln/>
        </p:spPr>
      </p:sp>
      <p:sp>
        <p:nvSpPr>
          <p:cNvPr id="23" name="Text 21"/>
          <p:cNvSpPr/>
          <p:nvPr/>
        </p:nvSpPr>
        <p:spPr>
          <a:xfrm>
            <a:off x="5074920" y="2788920"/>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24" name="Text 22"/>
          <p:cNvSpPr/>
          <p:nvPr/>
        </p:nvSpPr>
        <p:spPr>
          <a:xfrm>
            <a:off x="6629400" y="2734056"/>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Working today. Visible in the editor dashboard with a score for each suggestion.</a:t>
            </a:r>
            <a:endParaRPr lang="en-US" sz="1100" dirty="0"/>
          </a:p>
        </p:txBody>
      </p:sp>
      <p:sp>
        <p:nvSpPr>
          <p:cNvPr id="25" name="Text 23"/>
          <p:cNvSpPr/>
          <p:nvPr/>
        </p:nvSpPr>
        <p:spPr>
          <a:xfrm>
            <a:off x="777240" y="3118104"/>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Plagiarism similarity score</a:t>
            </a:r>
            <a:endParaRPr lang="en-US" sz="1200" dirty="0"/>
          </a:p>
        </p:txBody>
      </p:sp>
      <p:sp>
        <p:nvSpPr>
          <p:cNvPr id="26" name="Shape 24"/>
          <p:cNvSpPr/>
          <p:nvPr/>
        </p:nvSpPr>
        <p:spPr>
          <a:xfrm>
            <a:off x="5074920" y="3172968"/>
            <a:ext cx="1371600" cy="274320"/>
          </a:xfrm>
          <a:prstGeom prst="rect">
            <a:avLst/>
          </a:prstGeom>
          <a:solidFill>
            <a:srgbClr val="2E8B57"/>
          </a:solidFill>
          <a:ln/>
        </p:spPr>
      </p:sp>
      <p:sp>
        <p:nvSpPr>
          <p:cNvPr id="27" name="Text 25"/>
          <p:cNvSpPr/>
          <p:nvPr/>
        </p:nvSpPr>
        <p:spPr>
          <a:xfrm>
            <a:off x="5074920" y="3172968"/>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28" name="Text 26"/>
          <p:cNvSpPr/>
          <p:nvPr/>
        </p:nvSpPr>
        <p:spPr>
          <a:xfrm>
            <a:off x="6629400" y="3118104"/>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Runs on every submission. Compares the new paper to all existing ones.</a:t>
            </a:r>
            <a:endParaRPr lang="en-US" sz="1100" dirty="0"/>
          </a:p>
        </p:txBody>
      </p:sp>
      <p:sp>
        <p:nvSpPr>
          <p:cNvPr id="29" name="Shape 27"/>
          <p:cNvSpPr/>
          <p:nvPr/>
        </p:nvSpPr>
        <p:spPr>
          <a:xfrm>
            <a:off x="548640" y="3502152"/>
            <a:ext cx="11064240" cy="384048"/>
          </a:xfrm>
          <a:prstGeom prst="rect">
            <a:avLst/>
          </a:prstGeom>
          <a:solidFill>
            <a:srgbClr val="F7F8FB"/>
          </a:solidFill>
          <a:ln/>
        </p:spPr>
      </p:sp>
      <p:sp>
        <p:nvSpPr>
          <p:cNvPr id="30" name="Text 28"/>
          <p:cNvSpPr/>
          <p:nvPr/>
        </p:nvSpPr>
        <p:spPr>
          <a:xfrm>
            <a:off x="777240" y="3502152"/>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AI-text flag (writing-style check)</a:t>
            </a:r>
            <a:endParaRPr lang="en-US" sz="1200" dirty="0"/>
          </a:p>
        </p:txBody>
      </p:sp>
      <p:sp>
        <p:nvSpPr>
          <p:cNvPr id="31" name="Shape 29"/>
          <p:cNvSpPr/>
          <p:nvPr/>
        </p:nvSpPr>
        <p:spPr>
          <a:xfrm>
            <a:off x="5074920" y="3557016"/>
            <a:ext cx="1371600" cy="274320"/>
          </a:xfrm>
          <a:prstGeom prst="rect">
            <a:avLst/>
          </a:prstGeom>
          <a:solidFill>
            <a:srgbClr val="2E8B57"/>
          </a:solidFill>
          <a:ln/>
        </p:spPr>
      </p:sp>
      <p:sp>
        <p:nvSpPr>
          <p:cNvPr id="32" name="Text 30"/>
          <p:cNvSpPr/>
          <p:nvPr/>
        </p:nvSpPr>
        <p:spPr>
          <a:xfrm>
            <a:off x="5074920" y="3557016"/>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DONE</a:t>
            </a:r>
            <a:endParaRPr lang="en-US" sz="900" dirty="0"/>
          </a:p>
        </p:txBody>
      </p:sp>
      <p:sp>
        <p:nvSpPr>
          <p:cNvPr id="33" name="Text 31"/>
          <p:cNvSpPr/>
          <p:nvPr/>
        </p:nvSpPr>
        <p:spPr>
          <a:xfrm>
            <a:off x="6629400" y="3502152"/>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Shows how AI-generated the text looks, with the reasoning visible.</a:t>
            </a:r>
            <a:endParaRPr lang="en-US" sz="1100" dirty="0"/>
          </a:p>
        </p:txBody>
      </p:sp>
      <p:sp>
        <p:nvSpPr>
          <p:cNvPr id="34" name="Text 32"/>
          <p:cNvSpPr/>
          <p:nvPr/>
        </p:nvSpPr>
        <p:spPr>
          <a:xfrm>
            <a:off x="777240" y="3886200"/>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AI reviewer drafts (local fallback)</a:t>
            </a:r>
            <a:endParaRPr lang="en-US" sz="1200" dirty="0"/>
          </a:p>
        </p:txBody>
      </p:sp>
      <p:sp>
        <p:nvSpPr>
          <p:cNvPr id="35" name="Shape 33"/>
          <p:cNvSpPr/>
          <p:nvPr/>
        </p:nvSpPr>
        <p:spPr>
          <a:xfrm>
            <a:off x="5074920" y="3941064"/>
            <a:ext cx="1371600" cy="274320"/>
          </a:xfrm>
          <a:prstGeom prst="rect">
            <a:avLst/>
          </a:prstGeom>
          <a:solidFill>
            <a:srgbClr val="F4B942"/>
          </a:solidFill>
          <a:ln/>
        </p:spPr>
      </p:sp>
      <p:sp>
        <p:nvSpPr>
          <p:cNvPr id="36" name="Text 34"/>
          <p:cNvSpPr/>
          <p:nvPr/>
        </p:nvSpPr>
        <p:spPr>
          <a:xfrm>
            <a:off x="5074920" y="3941064"/>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HALF-DONE</a:t>
            </a:r>
            <a:endParaRPr lang="en-US" sz="900" dirty="0"/>
          </a:p>
        </p:txBody>
      </p:sp>
      <p:sp>
        <p:nvSpPr>
          <p:cNvPr id="37" name="Text 35"/>
          <p:cNvSpPr/>
          <p:nvPr/>
        </p:nvSpPr>
        <p:spPr>
          <a:xfrm>
            <a:off x="6629400" y="3886200"/>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Draft button works today using local logic. Switches to Claude once a paid key is added.</a:t>
            </a:r>
            <a:endParaRPr lang="en-US" sz="1100" dirty="0"/>
          </a:p>
        </p:txBody>
      </p:sp>
      <p:sp>
        <p:nvSpPr>
          <p:cNvPr id="38" name="Shape 36"/>
          <p:cNvSpPr/>
          <p:nvPr/>
        </p:nvSpPr>
        <p:spPr>
          <a:xfrm>
            <a:off x="548640" y="4270248"/>
            <a:ext cx="11064240" cy="384048"/>
          </a:xfrm>
          <a:prstGeom prst="rect">
            <a:avLst/>
          </a:prstGeom>
          <a:solidFill>
            <a:srgbClr val="F7F8FB"/>
          </a:solidFill>
          <a:ln/>
        </p:spPr>
      </p:sp>
      <p:sp>
        <p:nvSpPr>
          <p:cNvPr id="39" name="Text 37"/>
          <p:cNvSpPr/>
          <p:nvPr/>
        </p:nvSpPr>
        <p:spPr>
          <a:xfrm>
            <a:off x="777240" y="4270248"/>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Author writing helper (local fallback)</a:t>
            </a:r>
            <a:endParaRPr lang="en-US" sz="1200" dirty="0"/>
          </a:p>
        </p:txBody>
      </p:sp>
      <p:sp>
        <p:nvSpPr>
          <p:cNvPr id="40" name="Shape 38"/>
          <p:cNvSpPr/>
          <p:nvPr/>
        </p:nvSpPr>
        <p:spPr>
          <a:xfrm>
            <a:off x="5074920" y="4325112"/>
            <a:ext cx="1371600" cy="274320"/>
          </a:xfrm>
          <a:prstGeom prst="rect">
            <a:avLst/>
          </a:prstGeom>
          <a:solidFill>
            <a:srgbClr val="F4B942"/>
          </a:solidFill>
          <a:ln/>
        </p:spPr>
      </p:sp>
      <p:sp>
        <p:nvSpPr>
          <p:cNvPr id="41" name="Text 39"/>
          <p:cNvSpPr/>
          <p:nvPr/>
        </p:nvSpPr>
        <p:spPr>
          <a:xfrm>
            <a:off x="5074920" y="4325112"/>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HALF-DONE</a:t>
            </a:r>
            <a:endParaRPr lang="en-US" sz="900" dirty="0"/>
          </a:p>
        </p:txBody>
      </p:sp>
      <p:sp>
        <p:nvSpPr>
          <p:cNvPr id="42" name="Text 40"/>
          <p:cNvSpPr/>
          <p:nvPr/>
        </p:nvSpPr>
        <p:spPr>
          <a:xfrm>
            <a:off x="6629400" y="4270248"/>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Polish, titles, keywords work locally. Same one-line upgrade to Claude.</a:t>
            </a:r>
            <a:endParaRPr lang="en-US" sz="1100" dirty="0"/>
          </a:p>
        </p:txBody>
      </p:sp>
      <p:sp>
        <p:nvSpPr>
          <p:cNvPr id="43" name="Text 41"/>
          <p:cNvSpPr/>
          <p:nvPr/>
        </p:nvSpPr>
        <p:spPr>
          <a:xfrm>
            <a:off x="777240" y="4654296"/>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Claude API integration</a:t>
            </a:r>
            <a:endParaRPr lang="en-US" sz="1200" dirty="0"/>
          </a:p>
        </p:txBody>
      </p:sp>
      <p:sp>
        <p:nvSpPr>
          <p:cNvPr id="44" name="Shape 42"/>
          <p:cNvSpPr/>
          <p:nvPr/>
        </p:nvSpPr>
        <p:spPr>
          <a:xfrm>
            <a:off x="5074920" y="4709160"/>
            <a:ext cx="1371600" cy="274320"/>
          </a:xfrm>
          <a:prstGeom prst="rect">
            <a:avLst/>
          </a:prstGeom>
          <a:solidFill>
            <a:srgbClr val="1E2761"/>
          </a:solidFill>
          <a:ln/>
        </p:spPr>
      </p:sp>
      <p:sp>
        <p:nvSpPr>
          <p:cNvPr id="45" name="Text 43"/>
          <p:cNvSpPr/>
          <p:nvPr/>
        </p:nvSpPr>
        <p:spPr>
          <a:xfrm>
            <a:off x="5074920" y="4709160"/>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46" name="Text 44"/>
          <p:cNvSpPr/>
          <p:nvPr/>
        </p:nvSpPr>
        <p:spPr>
          <a:xfrm>
            <a:off x="6629400" y="4654296"/>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Code is ready. Just waiting until the budget is approved to flip the switch.</a:t>
            </a:r>
            <a:endParaRPr lang="en-US" sz="1100" dirty="0"/>
          </a:p>
        </p:txBody>
      </p:sp>
      <p:sp>
        <p:nvSpPr>
          <p:cNvPr id="47" name="Shape 45"/>
          <p:cNvSpPr/>
          <p:nvPr/>
        </p:nvSpPr>
        <p:spPr>
          <a:xfrm>
            <a:off x="548640" y="5038344"/>
            <a:ext cx="11064240" cy="384048"/>
          </a:xfrm>
          <a:prstGeom prst="rect">
            <a:avLst/>
          </a:prstGeom>
          <a:solidFill>
            <a:srgbClr val="F7F8FB"/>
          </a:solidFill>
          <a:ln/>
        </p:spPr>
      </p:sp>
      <p:sp>
        <p:nvSpPr>
          <p:cNvPr id="48" name="Text 46"/>
          <p:cNvSpPr/>
          <p:nvPr/>
        </p:nvSpPr>
        <p:spPr>
          <a:xfrm>
            <a:off x="777240" y="5038344"/>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Sentence-transformer matching</a:t>
            </a:r>
            <a:endParaRPr lang="en-US" sz="1200" dirty="0"/>
          </a:p>
        </p:txBody>
      </p:sp>
      <p:sp>
        <p:nvSpPr>
          <p:cNvPr id="49" name="Shape 47"/>
          <p:cNvSpPr/>
          <p:nvPr/>
        </p:nvSpPr>
        <p:spPr>
          <a:xfrm>
            <a:off x="5074920" y="5093208"/>
            <a:ext cx="1371600" cy="274320"/>
          </a:xfrm>
          <a:prstGeom prst="rect">
            <a:avLst/>
          </a:prstGeom>
          <a:solidFill>
            <a:srgbClr val="1E2761"/>
          </a:solidFill>
          <a:ln/>
        </p:spPr>
      </p:sp>
      <p:sp>
        <p:nvSpPr>
          <p:cNvPr id="50" name="Text 48"/>
          <p:cNvSpPr/>
          <p:nvPr/>
        </p:nvSpPr>
        <p:spPr>
          <a:xfrm>
            <a:off x="5074920" y="5093208"/>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51" name="Text 49"/>
          <p:cNvSpPr/>
          <p:nvPr/>
        </p:nvSpPr>
        <p:spPr>
          <a:xfrm>
            <a:off x="6629400" y="5038344"/>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Roadmap upgrade. Replaces TF-IDF when corpus grows past a few hundred papers.</a:t>
            </a:r>
            <a:endParaRPr lang="en-US" sz="1100" dirty="0"/>
          </a:p>
        </p:txBody>
      </p:sp>
      <p:sp>
        <p:nvSpPr>
          <p:cNvPr id="52" name="Text 50"/>
          <p:cNvSpPr/>
          <p:nvPr/>
        </p:nvSpPr>
        <p:spPr>
          <a:xfrm>
            <a:off x="777240" y="5422392"/>
            <a:ext cx="4114800" cy="384048"/>
          </a:xfrm>
          <a:prstGeom prst="rect">
            <a:avLst/>
          </a:prstGeom>
          <a:noFill/>
          <a:ln/>
        </p:spPr>
        <p:txBody>
          <a:bodyPr wrap="square" lIns="0" tIns="0" rIns="0" bIns="0" rtlCol="0" anchor="ctr"/>
          <a:lstStyle/>
          <a:p>
            <a:pPr indent="0" marL="0">
              <a:buNone/>
            </a:pPr>
            <a:r>
              <a:rPr lang="en-US" sz="1200" b="1" dirty="0">
                <a:solidFill>
                  <a:srgbClr val="0F1538"/>
                </a:solidFill>
                <a:latin typeface="Calibri" pitchFamily="34" charset="0"/>
                <a:ea typeface="Calibri" pitchFamily="34" charset="-122"/>
                <a:cs typeface="Calibri" pitchFamily="34" charset="-120"/>
              </a:rPr>
              <a:t>User study + benchmark</a:t>
            </a:r>
            <a:endParaRPr lang="en-US" sz="1200" dirty="0"/>
          </a:p>
        </p:txBody>
      </p:sp>
      <p:sp>
        <p:nvSpPr>
          <p:cNvPr id="53" name="Shape 51"/>
          <p:cNvSpPr/>
          <p:nvPr/>
        </p:nvSpPr>
        <p:spPr>
          <a:xfrm>
            <a:off x="5074920" y="5477256"/>
            <a:ext cx="1371600" cy="274320"/>
          </a:xfrm>
          <a:prstGeom prst="rect">
            <a:avLst/>
          </a:prstGeom>
          <a:solidFill>
            <a:srgbClr val="1E2761"/>
          </a:solidFill>
          <a:ln/>
        </p:spPr>
      </p:sp>
      <p:sp>
        <p:nvSpPr>
          <p:cNvPr id="54" name="Text 52"/>
          <p:cNvSpPr/>
          <p:nvPr/>
        </p:nvSpPr>
        <p:spPr>
          <a:xfrm>
            <a:off x="5074920" y="5477256"/>
            <a:ext cx="1371600" cy="27432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55" name="Text 53"/>
          <p:cNvSpPr/>
          <p:nvPr/>
        </p:nvSpPr>
        <p:spPr>
          <a:xfrm>
            <a:off x="6629400" y="5422392"/>
            <a:ext cx="4846320" cy="384048"/>
          </a:xfrm>
          <a:prstGeom prst="rect">
            <a:avLst/>
          </a:prstGeom>
          <a:noFill/>
          <a:ln/>
        </p:spPr>
        <p:txBody>
          <a:bodyPr wrap="square" lIns="0" tIns="0" rIns="0" bIns="0" rtlCol="0" anchor="ctr"/>
          <a:lstStyle/>
          <a:p>
            <a:pPr indent="0" marL="0">
              <a:buNone/>
            </a:pPr>
            <a:r>
              <a:rPr lang="en-US" sz="1100" i="1" dirty="0">
                <a:solidFill>
                  <a:srgbClr val="5C6488"/>
                </a:solidFill>
                <a:latin typeface="Calibri" pitchFamily="34" charset="0"/>
                <a:ea typeface="Calibri" pitchFamily="34" charset="-122"/>
                <a:cs typeface="Calibri" pitchFamily="34" charset="-120"/>
              </a:rPr>
              <a:t>Planned for the follow-up phase. The audit log is already collecting the data.</a:t>
            </a:r>
            <a:endParaRPr lang="en-US" sz="1100" dirty="0"/>
          </a:p>
        </p:txBody>
      </p:sp>
      <p:sp>
        <p:nvSpPr>
          <p:cNvPr id="56" name="Shape 54"/>
          <p:cNvSpPr/>
          <p:nvPr/>
        </p:nvSpPr>
        <p:spPr>
          <a:xfrm>
            <a:off x="548640" y="6355080"/>
            <a:ext cx="11064240" cy="502920"/>
          </a:xfrm>
          <a:prstGeom prst="rect">
            <a:avLst/>
          </a:prstGeom>
          <a:solidFill>
            <a:srgbClr val="CADCFC"/>
          </a:solidFill>
          <a:ln/>
        </p:spPr>
      </p:sp>
      <p:sp>
        <p:nvSpPr>
          <p:cNvPr id="57" name="Text 55"/>
          <p:cNvSpPr/>
          <p:nvPr/>
        </p:nvSpPr>
        <p:spPr>
          <a:xfrm>
            <a:off x="777240" y="635508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58" name="Text 56"/>
          <p:cNvSpPr/>
          <p:nvPr/>
        </p:nvSpPr>
        <p:spPr>
          <a:xfrm>
            <a:off x="2331720" y="635508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Green is fully working today. Yellow is the wiring is done, just needs a paid AI key to flip on. Navy is next milestone.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Tools chosen for the project</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And why each one is the right pick for its job</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4</a:t>
            </a:r>
            <a:endParaRPr lang="en-US" sz="1100" dirty="0"/>
          </a:p>
        </p:txBody>
      </p:sp>
      <p:sp>
        <p:nvSpPr>
          <p:cNvPr id="7" name="Shape 5"/>
          <p:cNvSpPr/>
          <p:nvPr/>
        </p:nvSpPr>
        <p:spPr>
          <a:xfrm>
            <a:off x="548640" y="1508760"/>
            <a:ext cx="3520440" cy="4937760"/>
          </a:xfrm>
          <a:prstGeom prst="rect">
            <a:avLst/>
          </a:prstGeom>
          <a:solidFill>
            <a:srgbClr val="F7F8FB"/>
          </a:solidFill>
          <a:ln w="12700">
            <a:solidFill>
              <a:srgbClr val="E2E5EE"/>
            </a:solidFill>
            <a:prstDash val="solid"/>
          </a:ln>
        </p:spPr>
      </p:sp>
      <p:sp>
        <p:nvSpPr>
          <p:cNvPr id="8" name="Shape 6"/>
          <p:cNvSpPr/>
          <p:nvPr/>
        </p:nvSpPr>
        <p:spPr>
          <a:xfrm>
            <a:off x="548640" y="1508760"/>
            <a:ext cx="3520440" cy="73152"/>
          </a:xfrm>
          <a:prstGeom prst="rect">
            <a:avLst/>
          </a:prstGeom>
          <a:solidFill>
            <a:srgbClr val="1E2761"/>
          </a:solidFill>
          <a:ln/>
        </p:spPr>
      </p:sp>
      <p:sp>
        <p:nvSpPr>
          <p:cNvPr id="9" name="Shape 7"/>
          <p:cNvSpPr/>
          <p:nvPr/>
        </p:nvSpPr>
        <p:spPr>
          <a:xfrm>
            <a:off x="822960" y="1737360"/>
            <a:ext cx="777240" cy="777240"/>
          </a:xfrm>
          <a:prstGeom prst="ellipse">
            <a:avLst/>
          </a:prstGeom>
          <a:solidFill>
            <a:srgbClr val="1E2761"/>
          </a:solidFill>
          <a:ln/>
        </p:spPr>
      </p:sp>
      <p:pic>
        <p:nvPicPr>
          <p:cNvPr id="10" name="Image 0" descr="preencoded.png">    </p:cNvPr>
          <p:cNvPicPr>
            <a:picLocks noChangeAspect="1"/>
          </p:cNvPicPr>
          <p:nvPr/>
        </p:nvPicPr>
        <p:blipFill>
          <a:blip r:embed="rId1"/>
          <a:stretch>
            <a:fillRect/>
          </a:stretch>
        </p:blipFill>
        <p:spPr>
          <a:xfrm>
            <a:off x="1005840" y="1920240"/>
            <a:ext cx="411480" cy="411480"/>
          </a:xfrm>
          <a:prstGeom prst="rect">
            <a:avLst/>
          </a:prstGeom>
        </p:spPr>
      </p:pic>
      <p:sp>
        <p:nvSpPr>
          <p:cNvPr id="11" name="Text 8"/>
          <p:cNvSpPr/>
          <p:nvPr/>
        </p:nvSpPr>
        <p:spPr>
          <a:xfrm>
            <a:off x="173736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Anthropic Claude</a:t>
            </a:r>
            <a:endParaRPr lang="en-US" sz="1600" dirty="0"/>
          </a:p>
        </p:txBody>
      </p:sp>
      <p:sp>
        <p:nvSpPr>
          <p:cNvPr id="12" name="Text 9"/>
          <p:cNvSpPr/>
          <p:nvPr/>
        </p:nvSpPr>
        <p:spPr>
          <a:xfrm>
            <a:off x="173736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claude-sonnet-4-6 (paid)</a:t>
            </a:r>
            <a:endParaRPr lang="en-US" sz="1000" dirty="0"/>
          </a:p>
        </p:txBody>
      </p:sp>
      <p:sp>
        <p:nvSpPr>
          <p:cNvPr id="13" name="Text 10"/>
          <p:cNvSpPr/>
          <p:nvPr/>
        </p:nvSpPr>
        <p:spPr>
          <a:xfrm>
            <a:off x="822960" y="2697480"/>
            <a:ext cx="301752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drafting reviews, polishing abstracts, suggesting titles, extracting keywords.</a:t>
            </a:r>
            <a:endParaRPr lang="en-US" sz="1200" dirty="0"/>
          </a:p>
        </p:txBody>
      </p:sp>
      <p:sp>
        <p:nvSpPr>
          <p:cNvPr id="14" name="Shape 11"/>
          <p:cNvSpPr/>
          <p:nvPr/>
        </p:nvSpPr>
        <p:spPr>
          <a:xfrm>
            <a:off x="822960" y="3794760"/>
            <a:ext cx="3017520" cy="292608"/>
          </a:xfrm>
          <a:prstGeom prst="rect">
            <a:avLst/>
          </a:prstGeom>
          <a:solidFill>
            <a:srgbClr val="1E2761"/>
          </a:solidFill>
          <a:ln/>
        </p:spPr>
      </p:sp>
      <p:sp>
        <p:nvSpPr>
          <p:cNvPr id="15" name="Text 12"/>
          <p:cNvSpPr/>
          <p:nvPr/>
        </p:nvSpPr>
        <p:spPr>
          <a:xfrm>
            <a:off x="822960" y="379476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IS THE BEST FIT</a:t>
            </a:r>
            <a:endParaRPr lang="en-US" sz="900" dirty="0"/>
          </a:p>
        </p:txBody>
      </p:sp>
      <p:sp>
        <p:nvSpPr>
          <p:cNvPr id="16" name="Text 13"/>
          <p:cNvSpPr/>
          <p:nvPr/>
        </p:nvSpPr>
        <p:spPr>
          <a:xfrm>
            <a:off x="822960" y="4160520"/>
            <a:ext cx="3017520" cy="219456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Claude is the strongest writer of the big three AI models right now. Reviews need to sound human, fair, and structured. Claude follows my JSON format reliably so the draft drops cleanly into the reviewer's form. GPT-4 hallucinates more on long context. Gemini is cheaper but less consistent. For peer review, quality matters more than cost.</a:t>
            </a:r>
            <a:endParaRPr lang="en-US" sz="1100" dirty="0"/>
          </a:p>
        </p:txBody>
      </p:sp>
      <p:sp>
        <p:nvSpPr>
          <p:cNvPr id="17" name="Shape 14"/>
          <p:cNvSpPr/>
          <p:nvPr/>
        </p:nvSpPr>
        <p:spPr>
          <a:xfrm>
            <a:off x="4526280" y="1508760"/>
            <a:ext cx="3520440" cy="4937760"/>
          </a:xfrm>
          <a:prstGeom prst="rect">
            <a:avLst/>
          </a:prstGeom>
          <a:solidFill>
            <a:srgbClr val="F7F8FB"/>
          </a:solidFill>
          <a:ln w="12700">
            <a:solidFill>
              <a:srgbClr val="E2E5EE"/>
            </a:solidFill>
            <a:prstDash val="solid"/>
          </a:ln>
        </p:spPr>
      </p:sp>
      <p:sp>
        <p:nvSpPr>
          <p:cNvPr id="18" name="Shape 15"/>
          <p:cNvSpPr/>
          <p:nvPr/>
        </p:nvSpPr>
        <p:spPr>
          <a:xfrm>
            <a:off x="4526280" y="1508760"/>
            <a:ext cx="3520440" cy="73152"/>
          </a:xfrm>
          <a:prstGeom prst="rect">
            <a:avLst/>
          </a:prstGeom>
          <a:solidFill>
            <a:srgbClr val="1E2761"/>
          </a:solidFill>
          <a:ln/>
        </p:spPr>
      </p:sp>
      <p:sp>
        <p:nvSpPr>
          <p:cNvPr id="19" name="Shape 16"/>
          <p:cNvSpPr/>
          <p:nvPr/>
        </p:nvSpPr>
        <p:spPr>
          <a:xfrm>
            <a:off x="4800600" y="1737360"/>
            <a:ext cx="777240" cy="777240"/>
          </a:xfrm>
          <a:prstGeom prst="ellipse">
            <a:avLst/>
          </a:prstGeom>
          <a:solidFill>
            <a:srgbClr val="1E2761"/>
          </a:solidFill>
          <a:ln/>
        </p:spPr>
      </p:sp>
      <p:pic>
        <p:nvPicPr>
          <p:cNvPr id="20" name="Image 1" descr="preencoded.png">    </p:cNvPr>
          <p:cNvPicPr>
            <a:picLocks noChangeAspect="1"/>
          </p:cNvPicPr>
          <p:nvPr/>
        </p:nvPicPr>
        <p:blipFill>
          <a:blip r:embed="rId2"/>
          <a:stretch>
            <a:fillRect/>
          </a:stretch>
        </p:blipFill>
        <p:spPr>
          <a:xfrm>
            <a:off x="4983480" y="1920240"/>
            <a:ext cx="411480" cy="411480"/>
          </a:xfrm>
          <a:prstGeom prst="rect">
            <a:avLst/>
          </a:prstGeom>
        </p:spPr>
      </p:pic>
      <p:sp>
        <p:nvSpPr>
          <p:cNvPr id="21" name="Text 17"/>
          <p:cNvSpPr/>
          <p:nvPr/>
        </p:nvSpPr>
        <p:spPr>
          <a:xfrm>
            <a:off x="571500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TF-IDF embeddings</a:t>
            </a:r>
            <a:endParaRPr lang="en-US" sz="1600" dirty="0"/>
          </a:p>
        </p:txBody>
      </p:sp>
      <p:sp>
        <p:nvSpPr>
          <p:cNvPr id="22" name="Text 18"/>
          <p:cNvSpPr/>
          <p:nvPr/>
        </p:nvSpPr>
        <p:spPr>
          <a:xfrm>
            <a:off x="571500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free, pure JavaScript</a:t>
            </a:r>
            <a:endParaRPr lang="en-US" sz="1000" dirty="0"/>
          </a:p>
        </p:txBody>
      </p:sp>
      <p:sp>
        <p:nvSpPr>
          <p:cNvPr id="23" name="Text 19"/>
          <p:cNvSpPr/>
          <p:nvPr/>
        </p:nvSpPr>
        <p:spPr>
          <a:xfrm>
            <a:off x="4800600" y="2697480"/>
            <a:ext cx="301752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matching papers to reviewers and checking similarity against existing papers.</a:t>
            </a:r>
            <a:endParaRPr lang="en-US" sz="1200" dirty="0"/>
          </a:p>
        </p:txBody>
      </p:sp>
      <p:sp>
        <p:nvSpPr>
          <p:cNvPr id="24" name="Shape 20"/>
          <p:cNvSpPr/>
          <p:nvPr/>
        </p:nvSpPr>
        <p:spPr>
          <a:xfrm>
            <a:off x="4800600" y="3794760"/>
            <a:ext cx="3017520" cy="292608"/>
          </a:xfrm>
          <a:prstGeom prst="rect">
            <a:avLst/>
          </a:prstGeom>
          <a:solidFill>
            <a:srgbClr val="1E2761"/>
          </a:solidFill>
          <a:ln/>
        </p:spPr>
      </p:sp>
      <p:sp>
        <p:nvSpPr>
          <p:cNvPr id="25" name="Text 21"/>
          <p:cNvSpPr/>
          <p:nvPr/>
        </p:nvSpPr>
        <p:spPr>
          <a:xfrm>
            <a:off x="4800600" y="379476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IS THE BEST FIT</a:t>
            </a:r>
            <a:endParaRPr lang="en-US" sz="900" dirty="0"/>
          </a:p>
        </p:txBody>
      </p:sp>
      <p:sp>
        <p:nvSpPr>
          <p:cNvPr id="26" name="Text 22"/>
          <p:cNvSpPr/>
          <p:nvPr/>
        </p:nvSpPr>
        <p:spPr>
          <a:xfrm>
            <a:off x="4800600" y="4160520"/>
            <a:ext cx="3017520" cy="219456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At workshop scale (under 1000 papers) you do not need a billion-parameter model to find topic matches. TF-IDF is free, runs in milliseconds, and most importantly it is explainable. I can show the editor exactly which words triggered a match. A neural model is a black box. Editors making real decisions want to see the reasoning.</a:t>
            </a:r>
            <a:endParaRPr lang="en-US" sz="1100" dirty="0"/>
          </a:p>
        </p:txBody>
      </p:sp>
      <p:sp>
        <p:nvSpPr>
          <p:cNvPr id="27" name="Shape 23"/>
          <p:cNvSpPr/>
          <p:nvPr/>
        </p:nvSpPr>
        <p:spPr>
          <a:xfrm>
            <a:off x="8503920" y="1508760"/>
            <a:ext cx="3520440" cy="4937760"/>
          </a:xfrm>
          <a:prstGeom prst="rect">
            <a:avLst/>
          </a:prstGeom>
          <a:solidFill>
            <a:srgbClr val="F7F8FB"/>
          </a:solidFill>
          <a:ln w="12700">
            <a:solidFill>
              <a:srgbClr val="E2E5EE"/>
            </a:solidFill>
            <a:prstDash val="solid"/>
          </a:ln>
        </p:spPr>
      </p:sp>
      <p:sp>
        <p:nvSpPr>
          <p:cNvPr id="28" name="Shape 24"/>
          <p:cNvSpPr/>
          <p:nvPr/>
        </p:nvSpPr>
        <p:spPr>
          <a:xfrm>
            <a:off x="8503920" y="1508760"/>
            <a:ext cx="3520440" cy="73152"/>
          </a:xfrm>
          <a:prstGeom prst="rect">
            <a:avLst/>
          </a:prstGeom>
          <a:solidFill>
            <a:srgbClr val="1E2761"/>
          </a:solidFill>
          <a:ln/>
        </p:spPr>
      </p:sp>
      <p:sp>
        <p:nvSpPr>
          <p:cNvPr id="29" name="Shape 25"/>
          <p:cNvSpPr/>
          <p:nvPr/>
        </p:nvSpPr>
        <p:spPr>
          <a:xfrm>
            <a:off x="8778240" y="1737360"/>
            <a:ext cx="777240" cy="777240"/>
          </a:xfrm>
          <a:prstGeom prst="ellipse">
            <a:avLst/>
          </a:prstGeom>
          <a:solidFill>
            <a:srgbClr val="1E2761"/>
          </a:solidFill>
          <a:ln/>
        </p:spPr>
      </p:sp>
      <p:pic>
        <p:nvPicPr>
          <p:cNvPr id="30" name="Image 2" descr="preencoded.png">    </p:cNvPr>
          <p:cNvPicPr>
            <a:picLocks noChangeAspect="1"/>
          </p:cNvPicPr>
          <p:nvPr/>
        </p:nvPicPr>
        <p:blipFill>
          <a:blip r:embed="rId3"/>
          <a:stretch>
            <a:fillRect/>
          </a:stretch>
        </p:blipFill>
        <p:spPr>
          <a:xfrm>
            <a:off x="8961120" y="1920240"/>
            <a:ext cx="411480" cy="411480"/>
          </a:xfrm>
          <a:prstGeom prst="rect">
            <a:avLst/>
          </a:prstGeom>
        </p:spPr>
      </p:pic>
      <p:sp>
        <p:nvSpPr>
          <p:cNvPr id="31" name="Text 26"/>
          <p:cNvSpPr/>
          <p:nvPr/>
        </p:nvSpPr>
        <p:spPr>
          <a:xfrm>
            <a:off x="969264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sentence-transformers</a:t>
            </a:r>
            <a:endParaRPr lang="en-US" sz="1600" dirty="0"/>
          </a:p>
        </p:txBody>
      </p:sp>
      <p:sp>
        <p:nvSpPr>
          <p:cNvPr id="32" name="Text 27"/>
          <p:cNvSpPr/>
          <p:nvPr/>
        </p:nvSpPr>
        <p:spPr>
          <a:xfrm>
            <a:off x="969264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@xenova/transformers (free, local)</a:t>
            </a:r>
            <a:endParaRPr lang="en-US" sz="1000" dirty="0"/>
          </a:p>
        </p:txBody>
      </p:sp>
      <p:sp>
        <p:nvSpPr>
          <p:cNvPr id="33" name="Text 28"/>
          <p:cNvSpPr/>
          <p:nvPr/>
        </p:nvSpPr>
        <p:spPr>
          <a:xfrm>
            <a:off x="8778240" y="2697480"/>
            <a:ext cx="3017520" cy="96012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planned upgrade when the corpus grows past TF-IDF's sweet spot.</a:t>
            </a:r>
            <a:endParaRPr lang="en-US" sz="1200" dirty="0"/>
          </a:p>
        </p:txBody>
      </p:sp>
      <p:sp>
        <p:nvSpPr>
          <p:cNvPr id="34" name="Shape 29"/>
          <p:cNvSpPr/>
          <p:nvPr/>
        </p:nvSpPr>
        <p:spPr>
          <a:xfrm>
            <a:off x="8778240" y="3794760"/>
            <a:ext cx="3017520" cy="292608"/>
          </a:xfrm>
          <a:prstGeom prst="rect">
            <a:avLst/>
          </a:prstGeom>
          <a:solidFill>
            <a:srgbClr val="1E2761"/>
          </a:solidFill>
          <a:ln/>
        </p:spPr>
      </p:sp>
      <p:sp>
        <p:nvSpPr>
          <p:cNvPr id="35" name="Text 30"/>
          <p:cNvSpPr/>
          <p:nvPr/>
        </p:nvSpPr>
        <p:spPr>
          <a:xfrm>
            <a:off x="8778240" y="379476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IS THE BEST FIT</a:t>
            </a:r>
            <a:endParaRPr lang="en-US" sz="900" dirty="0"/>
          </a:p>
        </p:txBody>
      </p:sp>
      <p:sp>
        <p:nvSpPr>
          <p:cNvPr id="36" name="Text 31"/>
          <p:cNvSpPr/>
          <p:nvPr/>
        </p:nvSpPr>
        <p:spPr>
          <a:xfrm>
            <a:off x="8778240" y="4160520"/>
            <a:ext cx="3017520" cy="219456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When the database hits a thousand papers, TF-IDF starts missing paraphrases. Words like "attention" and "transformers" mean similar things, but TF-IDF treats them as separate. sentence-transformers runs locally in Node, so the system stays free and nothing leaves the machine. Same trust, better matching.</a:t>
            </a:r>
            <a:endParaRPr lang="en-US" sz="1100" dirty="0"/>
          </a:p>
        </p:txBody>
      </p:sp>
      <p:sp>
        <p:nvSpPr>
          <p:cNvPr id="37" name="Shape 32"/>
          <p:cNvSpPr/>
          <p:nvPr/>
        </p:nvSpPr>
        <p:spPr>
          <a:xfrm>
            <a:off x="548640" y="6537960"/>
            <a:ext cx="11064240" cy="502920"/>
          </a:xfrm>
          <a:prstGeom prst="rect">
            <a:avLst/>
          </a:prstGeom>
          <a:solidFill>
            <a:srgbClr val="CADCFC"/>
          </a:solidFill>
          <a:ln/>
        </p:spPr>
      </p:sp>
      <p:sp>
        <p:nvSpPr>
          <p:cNvPr id="38" name="Text 33"/>
          <p:cNvSpPr/>
          <p:nvPr/>
        </p:nvSpPr>
        <p:spPr>
          <a:xfrm>
            <a:off x="777240" y="653796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39" name="Text 34"/>
          <p:cNvSpPr/>
          <p:nvPr/>
        </p:nvSpPr>
        <p:spPr>
          <a:xfrm>
            <a:off x="2331720" y="653796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Big paid AI for writing tasks where quality matters. Free local techniques for matching and similarity. Right tool for each job.</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AI tools I used to build this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And why each one made me faster</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4</a:t>
            </a:r>
            <a:endParaRPr lang="en-US" sz="1100" dirty="0"/>
          </a:p>
        </p:txBody>
      </p:sp>
      <p:sp>
        <p:nvSpPr>
          <p:cNvPr id="7" name="Shape 5"/>
          <p:cNvSpPr/>
          <p:nvPr/>
        </p:nvSpPr>
        <p:spPr>
          <a:xfrm>
            <a:off x="548640" y="1508760"/>
            <a:ext cx="3520440" cy="4526280"/>
          </a:xfrm>
          <a:prstGeom prst="rect">
            <a:avLst/>
          </a:prstGeom>
          <a:solidFill>
            <a:srgbClr val="F7F8FB"/>
          </a:solidFill>
          <a:ln w="12700">
            <a:solidFill>
              <a:srgbClr val="E2E5EE"/>
            </a:solidFill>
            <a:prstDash val="solid"/>
          </a:ln>
        </p:spPr>
      </p:sp>
      <p:sp>
        <p:nvSpPr>
          <p:cNvPr id="8" name="Shape 6"/>
          <p:cNvSpPr/>
          <p:nvPr/>
        </p:nvSpPr>
        <p:spPr>
          <a:xfrm>
            <a:off x="548640" y="1508760"/>
            <a:ext cx="3520440" cy="73152"/>
          </a:xfrm>
          <a:prstGeom prst="rect">
            <a:avLst/>
          </a:prstGeom>
          <a:solidFill>
            <a:srgbClr val="1E2761"/>
          </a:solidFill>
          <a:ln/>
        </p:spPr>
      </p:sp>
      <p:sp>
        <p:nvSpPr>
          <p:cNvPr id="9" name="Shape 7"/>
          <p:cNvSpPr/>
          <p:nvPr/>
        </p:nvSpPr>
        <p:spPr>
          <a:xfrm>
            <a:off x="822960" y="1737360"/>
            <a:ext cx="777240" cy="777240"/>
          </a:xfrm>
          <a:prstGeom prst="ellipse">
            <a:avLst/>
          </a:prstGeom>
          <a:solidFill>
            <a:srgbClr val="1E2761"/>
          </a:solidFill>
          <a:ln/>
        </p:spPr>
      </p:sp>
      <p:pic>
        <p:nvPicPr>
          <p:cNvPr id="10" name="Image 0" descr="preencoded.png">    </p:cNvPr>
          <p:cNvPicPr>
            <a:picLocks noChangeAspect="1"/>
          </p:cNvPicPr>
          <p:nvPr/>
        </p:nvPicPr>
        <p:blipFill>
          <a:blip r:embed="rId1"/>
          <a:stretch>
            <a:fillRect/>
          </a:stretch>
        </p:blipFill>
        <p:spPr>
          <a:xfrm>
            <a:off x="1005840" y="1920240"/>
            <a:ext cx="411480" cy="411480"/>
          </a:xfrm>
          <a:prstGeom prst="rect">
            <a:avLst/>
          </a:prstGeom>
        </p:spPr>
      </p:pic>
      <p:sp>
        <p:nvSpPr>
          <p:cNvPr id="11" name="Text 8"/>
          <p:cNvSpPr/>
          <p:nvPr/>
        </p:nvSpPr>
        <p:spPr>
          <a:xfrm>
            <a:off x="173736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Claude</a:t>
            </a:r>
            <a:endParaRPr lang="en-US" sz="1600" dirty="0"/>
          </a:p>
        </p:txBody>
      </p:sp>
      <p:sp>
        <p:nvSpPr>
          <p:cNvPr id="12" name="Text 9"/>
          <p:cNvSpPr/>
          <p:nvPr/>
        </p:nvSpPr>
        <p:spPr>
          <a:xfrm>
            <a:off x="173736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Sonnet 4.6 (chat + code)</a:t>
            </a:r>
            <a:endParaRPr lang="en-US" sz="1000" dirty="0"/>
          </a:p>
        </p:txBody>
      </p:sp>
      <p:sp>
        <p:nvSpPr>
          <p:cNvPr id="13" name="Text 10"/>
          <p:cNvSpPr/>
          <p:nvPr/>
        </p:nvSpPr>
        <p:spPr>
          <a:xfrm>
            <a:off x="822960" y="2697480"/>
            <a:ext cx="3017520" cy="91440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architecture decisions, generating most of the code, writing all documentation, and building this deck.</a:t>
            </a:r>
            <a:endParaRPr lang="en-US" sz="1200" dirty="0"/>
          </a:p>
        </p:txBody>
      </p:sp>
      <p:sp>
        <p:nvSpPr>
          <p:cNvPr id="14" name="Shape 11"/>
          <p:cNvSpPr/>
          <p:nvPr/>
        </p:nvSpPr>
        <p:spPr>
          <a:xfrm>
            <a:off x="822960" y="3657600"/>
            <a:ext cx="3017520" cy="292608"/>
          </a:xfrm>
          <a:prstGeom prst="rect">
            <a:avLst/>
          </a:prstGeom>
          <a:solidFill>
            <a:srgbClr val="1E2761"/>
          </a:solidFill>
          <a:ln/>
        </p:spPr>
      </p:sp>
      <p:sp>
        <p:nvSpPr>
          <p:cNvPr id="15" name="Text 12"/>
          <p:cNvSpPr/>
          <p:nvPr/>
        </p:nvSpPr>
        <p:spPr>
          <a:xfrm>
            <a:off x="822960" y="365760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16" name="Text 13"/>
          <p:cNvSpPr/>
          <p:nvPr/>
        </p:nvSpPr>
        <p:spPr>
          <a:xfrm>
            <a:off x="822960" y="4023360"/>
            <a:ext cx="3017520" cy="192024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Claude's coding is a step ahead of GPT-4 right now. It catches design issues during planning, not after the bug shows up. It follows long instructions without losing context. For a 36-file rebuild, that consistency is the difference between a few days of work and a few weeks.</a:t>
            </a:r>
            <a:endParaRPr lang="en-US" sz="1100" dirty="0"/>
          </a:p>
        </p:txBody>
      </p:sp>
      <p:sp>
        <p:nvSpPr>
          <p:cNvPr id="17" name="Shape 14"/>
          <p:cNvSpPr/>
          <p:nvPr/>
        </p:nvSpPr>
        <p:spPr>
          <a:xfrm>
            <a:off x="4526280" y="1508760"/>
            <a:ext cx="3520440" cy="4526280"/>
          </a:xfrm>
          <a:prstGeom prst="rect">
            <a:avLst/>
          </a:prstGeom>
          <a:solidFill>
            <a:srgbClr val="F7F8FB"/>
          </a:solidFill>
          <a:ln w="12700">
            <a:solidFill>
              <a:srgbClr val="E2E5EE"/>
            </a:solidFill>
            <a:prstDash val="solid"/>
          </a:ln>
        </p:spPr>
      </p:sp>
      <p:sp>
        <p:nvSpPr>
          <p:cNvPr id="18" name="Shape 15"/>
          <p:cNvSpPr/>
          <p:nvPr/>
        </p:nvSpPr>
        <p:spPr>
          <a:xfrm>
            <a:off x="4526280" y="1508760"/>
            <a:ext cx="3520440" cy="73152"/>
          </a:xfrm>
          <a:prstGeom prst="rect">
            <a:avLst/>
          </a:prstGeom>
          <a:solidFill>
            <a:srgbClr val="1E2761"/>
          </a:solidFill>
          <a:ln/>
        </p:spPr>
      </p:sp>
      <p:sp>
        <p:nvSpPr>
          <p:cNvPr id="19" name="Shape 16"/>
          <p:cNvSpPr/>
          <p:nvPr/>
        </p:nvSpPr>
        <p:spPr>
          <a:xfrm>
            <a:off x="4800600" y="1737360"/>
            <a:ext cx="777240" cy="777240"/>
          </a:xfrm>
          <a:prstGeom prst="ellipse">
            <a:avLst/>
          </a:prstGeom>
          <a:solidFill>
            <a:srgbClr val="1E2761"/>
          </a:solidFill>
          <a:ln/>
        </p:spPr>
      </p:sp>
      <p:pic>
        <p:nvPicPr>
          <p:cNvPr id="20" name="Image 1" descr="preencoded.png">    </p:cNvPr>
          <p:cNvPicPr>
            <a:picLocks noChangeAspect="1"/>
          </p:cNvPicPr>
          <p:nvPr/>
        </p:nvPicPr>
        <p:blipFill>
          <a:blip r:embed="rId2"/>
          <a:stretch>
            <a:fillRect/>
          </a:stretch>
        </p:blipFill>
        <p:spPr>
          <a:xfrm>
            <a:off x="4983480" y="1920240"/>
            <a:ext cx="411480" cy="411480"/>
          </a:xfrm>
          <a:prstGeom prst="rect">
            <a:avLst/>
          </a:prstGeom>
        </p:spPr>
      </p:pic>
      <p:sp>
        <p:nvSpPr>
          <p:cNvPr id="21" name="Text 17"/>
          <p:cNvSpPr/>
          <p:nvPr/>
        </p:nvSpPr>
        <p:spPr>
          <a:xfrm>
            <a:off x="571500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Whisper Flow</a:t>
            </a:r>
            <a:endParaRPr lang="en-US" sz="1600" dirty="0"/>
          </a:p>
        </p:txBody>
      </p:sp>
      <p:sp>
        <p:nvSpPr>
          <p:cNvPr id="22" name="Text 18"/>
          <p:cNvSpPr/>
          <p:nvPr/>
        </p:nvSpPr>
        <p:spPr>
          <a:xfrm>
            <a:off x="571500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voice → text dictation</a:t>
            </a:r>
            <a:endParaRPr lang="en-US" sz="1000" dirty="0"/>
          </a:p>
        </p:txBody>
      </p:sp>
      <p:sp>
        <p:nvSpPr>
          <p:cNvPr id="23" name="Text 19"/>
          <p:cNvSpPr/>
          <p:nvPr/>
        </p:nvSpPr>
        <p:spPr>
          <a:xfrm>
            <a:off x="4800600" y="2697480"/>
            <a:ext cx="3017520" cy="91440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dictating prompts to the AI instead of typing them.</a:t>
            </a:r>
            <a:endParaRPr lang="en-US" sz="1200" dirty="0"/>
          </a:p>
        </p:txBody>
      </p:sp>
      <p:sp>
        <p:nvSpPr>
          <p:cNvPr id="24" name="Shape 20"/>
          <p:cNvSpPr/>
          <p:nvPr/>
        </p:nvSpPr>
        <p:spPr>
          <a:xfrm>
            <a:off x="4800600" y="3657600"/>
            <a:ext cx="3017520" cy="292608"/>
          </a:xfrm>
          <a:prstGeom prst="rect">
            <a:avLst/>
          </a:prstGeom>
          <a:solidFill>
            <a:srgbClr val="1E2761"/>
          </a:solidFill>
          <a:ln/>
        </p:spPr>
      </p:sp>
      <p:sp>
        <p:nvSpPr>
          <p:cNvPr id="25" name="Text 21"/>
          <p:cNvSpPr/>
          <p:nvPr/>
        </p:nvSpPr>
        <p:spPr>
          <a:xfrm>
            <a:off x="4800600" y="365760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26" name="Text 22"/>
          <p:cNvSpPr/>
          <p:nvPr/>
        </p:nvSpPr>
        <p:spPr>
          <a:xfrm>
            <a:off x="4800600" y="4023360"/>
            <a:ext cx="3017520" cy="192024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Typing slows down thinking. Whisper Flow lets me speak prompts at full speed. When I am iterating on architecture, getting from idea to prompt in five seconds versus sixty seconds compounds fast. I can have ten useful AI conversations in a day instead of one.</a:t>
            </a:r>
            <a:endParaRPr lang="en-US" sz="1100" dirty="0"/>
          </a:p>
        </p:txBody>
      </p:sp>
      <p:sp>
        <p:nvSpPr>
          <p:cNvPr id="27" name="Shape 23"/>
          <p:cNvSpPr/>
          <p:nvPr/>
        </p:nvSpPr>
        <p:spPr>
          <a:xfrm>
            <a:off x="8503920" y="1508760"/>
            <a:ext cx="3520440" cy="4526280"/>
          </a:xfrm>
          <a:prstGeom prst="rect">
            <a:avLst/>
          </a:prstGeom>
          <a:solidFill>
            <a:srgbClr val="F7F8FB"/>
          </a:solidFill>
          <a:ln w="12700">
            <a:solidFill>
              <a:srgbClr val="E2E5EE"/>
            </a:solidFill>
            <a:prstDash val="solid"/>
          </a:ln>
        </p:spPr>
      </p:sp>
      <p:sp>
        <p:nvSpPr>
          <p:cNvPr id="28" name="Shape 24"/>
          <p:cNvSpPr/>
          <p:nvPr/>
        </p:nvSpPr>
        <p:spPr>
          <a:xfrm>
            <a:off x="8503920" y="1508760"/>
            <a:ext cx="3520440" cy="73152"/>
          </a:xfrm>
          <a:prstGeom prst="rect">
            <a:avLst/>
          </a:prstGeom>
          <a:solidFill>
            <a:srgbClr val="1E2761"/>
          </a:solidFill>
          <a:ln/>
        </p:spPr>
      </p:sp>
      <p:sp>
        <p:nvSpPr>
          <p:cNvPr id="29" name="Shape 25"/>
          <p:cNvSpPr/>
          <p:nvPr/>
        </p:nvSpPr>
        <p:spPr>
          <a:xfrm>
            <a:off x="8778240" y="1737360"/>
            <a:ext cx="777240" cy="777240"/>
          </a:xfrm>
          <a:prstGeom prst="ellipse">
            <a:avLst/>
          </a:prstGeom>
          <a:solidFill>
            <a:srgbClr val="1E2761"/>
          </a:solidFill>
          <a:ln/>
        </p:spPr>
      </p:sp>
      <p:pic>
        <p:nvPicPr>
          <p:cNvPr id="30" name="Image 2" descr="preencoded.png">    </p:cNvPr>
          <p:cNvPicPr>
            <a:picLocks noChangeAspect="1"/>
          </p:cNvPicPr>
          <p:nvPr/>
        </p:nvPicPr>
        <p:blipFill>
          <a:blip r:embed="rId3"/>
          <a:stretch>
            <a:fillRect/>
          </a:stretch>
        </p:blipFill>
        <p:spPr>
          <a:xfrm>
            <a:off x="8961120" y="1920240"/>
            <a:ext cx="411480" cy="411480"/>
          </a:xfrm>
          <a:prstGeom prst="rect">
            <a:avLst/>
          </a:prstGeom>
        </p:spPr>
      </p:pic>
      <p:sp>
        <p:nvSpPr>
          <p:cNvPr id="31" name="Text 26"/>
          <p:cNvSpPr/>
          <p:nvPr/>
        </p:nvSpPr>
        <p:spPr>
          <a:xfrm>
            <a:off x="9692640" y="1737360"/>
            <a:ext cx="2286000" cy="41148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Cursor</a:t>
            </a:r>
            <a:endParaRPr lang="en-US" sz="1600" dirty="0"/>
          </a:p>
        </p:txBody>
      </p:sp>
      <p:sp>
        <p:nvSpPr>
          <p:cNvPr id="32" name="Text 27"/>
          <p:cNvSpPr/>
          <p:nvPr/>
        </p:nvSpPr>
        <p:spPr>
          <a:xfrm>
            <a:off x="9692640" y="2148840"/>
            <a:ext cx="2286000" cy="320040"/>
          </a:xfrm>
          <a:prstGeom prst="rect">
            <a:avLst/>
          </a:prstGeom>
          <a:noFill/>
          <a:ln/>
        </p:spPr>
        <p:txBody>
          <a:bodyPr wrap="square" lIns="0" tIns="0" rIns="0" bIns="0" rtlCol="0" anchor="ctr"/>
          <a:lstStyle/>
          <a:p>
            <a:pPr indent="0" marL="0">
              <a:buNone/>
            </a:pPr>
            <a:r>
              <a:rPr lang="en-US" sz="1000" i="1" dirty="0">
                <a:solidFill>
                  <a:srgbClr val="1E2761"/>
                </a:solidFill>
                <a:latin typeface="Calibri" pitchFamily="34" charset="0"/>
                <a:ea typeface="Calibri" pitchFamily="34" charset="-122"/>
                <a:cs typeface="Calibri" pitchFamily="34" charset="-120"/>
              </a:rPr>
              <a:t>AI-native code editor</a:t>
            </a:r>
            <a:endParaRPr lang="en-US" sz="1000" dirty="0"/>
          </a:p>
        </p:txBody>
      </p:sp>
      <p:sp>
        <p:nvSpPr>
          <p:cNvPr id="33" name="Text 28"/>
          <p:cNvSpPr/>
          <p:nvPr/>
        </p:nvSpPr>
        <p:spPr>
          <a:xfrm>
            <a:off x="8778240" y="2697480"/>
            <a:ext cx="3017520" cy="914400"/>
          </a:xfrm>
          <a:prstGeom prst="rect">
            <a:avLst/>
          </a:prstGeom>
          <a:noFill/>
          <a:ln/>
        </p:spPr>
        <p:txBody>
          <a:bodyPr wrap="square" lIns="0" tIns="0" rIns="0" bIns="0" rtlCol="0" anchor="ctr"/>
          <a:lstStyle/>
          <a:p>
            <a:pPr indent="0" marL="0">
              <a:buNone/>
            </a:pPr>
            <a:r>
              <a:rPr lang="en-US" sz="1200" dirty="0">
                <a:solidFill>
                  <a:srgbClr val="5C6488"/>
                </a:solidFill>
                <a:latin typeface="Calibri" pitchFamily="34" charset="0"/>
                <a:ea typeface="Calibri" pitchFamily="34" charset="-122"/>
                <a:cs typeface="Calibri" pitchFamily="34" charset="-120"/>
              </a:rPr>
              <a:t>Used for: inline AI completions while editing code by hand.</a:t>
            </a:r>
            <a:endParaRPr lang="en-US" sz="1200" dirty="0"/>
          </a:p>
        </p:txBody>
      </p:sp>
      <p:sp>
        <p:nvSpPr>
          <p:cNvPr id="34" name="Shape 29"/>
          <p:cNvSpPr/>
          <p:nvPr/>
        </p:nvSpPr>
        <p:spPr>
          <a:xfrm>
            <a:off x="8778240" y="3657600"/>
            <a:ext cx="3017520" cy="292608"/>
          </a:xfrm>
          <a:prstGeom prst="rect">
            <a:avLst/>
          </a:prstGeom>
          <a:solidFill>
            <a:srgbClr val="1E2761"/>
          </a:solidFill>
          <a:ln/>
        </p:spPr>
      </p:sp>
      <p:sp>
        <p:nvSpPr>
          <p:cNvPr id="35" name="Text 30"/>
          <p:cNvSpPr/>
          <p:nvPr/>
        </p:nvSpPr>
        <p:spPr>
          <a:xfrm>
            <a:off x="8778240" y="3657600"/>
            <a:ext cx="3017520" cy="292608"/>
          </a:xfrm>
          <a:prstGeom prst="rect">
            <a:avLst/>
          </a:prstGeom>
          <a:noFill/>
          <a:ln/>
        </p:spPr>
        <p:txBody>
          <a:bodyPr wrap="square" lIns="0" tIns="0" rIns="0" bIns="0" rtlCol="0" anchor="ctr"/>
          <a:lstStyle/>
          <a:p>
            <a:pPr algn="ctr" indent="0" marL="0">
              <a:buNone/>
            </a:pPr>
            <a:r>
              <a:rPr lang="en-US" sz="900" b="1" spc="200" kern="0" dirty="0">
                <a:solidFill>
                  <a:srgbClr val="F4B942"/>
                </a:solidFill>
                <a:latin typeface="Calibri" pitchFamily="34" charset="0"/>
                <a:ea typeface="Calibri" pitchFamily="34" charset="-122"/>
                <a:cs typeface="Calibri" pitchFamily="34" charset="-120"/>
              </a:rPr>
              <a:t>WHY THIS MADE ME FASTER</a:t>
            </a:r>
            <a:endParaRPr lang="en-US" sz="900" dirty="0"/>
          </a:p>
        </p:txBody>
      </p:sp>
      <p:sp>
        <p:nvSpPr>
          <p:cNvPr id="36" name="Text 31"/>
          <p:cNvSpPr/>
          <p:nvPr/>
        </p:nvSpPr>
        <p:spPr>
          <a:xfrm>
            <a:off x="8778240" y="4023360"/>
            <a:ext cx="3017520" cy="192024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Cursor reads the whole project so when I edit one file it suggests the right import paths and matching patterns from the rest of the codebase. Tab to accept. Saves me typing on the 80 percent of code that is mechanical, so my attention goes to the 20 percent that actually needs thought.</a:t>
            </a:r>
            <a:endParaRPr lang="en-US" sz="1100" dirty="0"/>
          </a:p>
        </p:txBody>
      </p:sp>
      <p:sp>
        <p:nvSpPr>
          <p:cNvPr id="37" name="Shape 32"/>
          <p:cNvSpPr/>
          <p:nvPr/>
        </p:nvSpPr>
        <p:spPr>
          <a:xfrm>
            <a:off x="548640" y="6172200"/>
            <a:ext cx="11064240" cy="502920"/>
          </a:xfrm>
          <a:prstGeom prst="rect">
            <a:avLst/>
          </a:prstGeom>
          <a:solidFill>
            <a:srgbClr val="1E2761"/>
          </a:solidFill>
          <a:ln/>
        </p:spPr>
      </p:sp>
      <p:sp>
        <p:nvSpPr>
          <p:cNvPr id="38" name="Text 33"/>
          <p:cNvSpPr/>
          <p:nvPr/>
        </p:nvSpPr>
        <p:spPr>
          <a:xfrm>
            <a:off x="548640" y="6172200"/>
            <a:ext cx="11064240" cy="5029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Also used: ChatGPT for second opinions  ·  GitHub Copilot for repetitive code  ·  Excalidraw for diagrams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Ethical considerations</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Bias · privacy · fairness · reliability</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5</a:t>
            </a:r>
            <a:endParaRPr lang="en-US" sz="1100" dirty="0"/>
          </a:p>
        </p:txBody>
      </p:sp>
      <p:sp>
        <p:nvSpPr>
          <p:cNvPr id="7" name="Shape 5"/>
          <p:cNvSpPr/>
          <p:nvPr/>
        </p:nvSpPr>
        <p:spPr>
          <a:xfrm>
            <a:off x="548640" y="1508760"/>
            <a:ext cx="5486400" cy="2103120"/>
          </a:xfrm>
          <a:prstGeom prst="rect">
            <a:avLst/>
          </a:prstGeom>
          <a:solidFill>
            <a:srgbClr val="F7F8FB"/>
          </a:solidFill>
          <a:ln w="12700">
            <a:solidFill>
              <a:srgbClr val="E2E5EE"/>
            </a:solidFill>
            <a:prstDash val="solid"/>
          </a:ln>
        </p:spPr>
      </p:sp>
      <p:sp>
        <p:nvSpPr>
          <p:cNvPr id="8" name="Shape 6"/>
          <p:cNvSpPr/>
          <p:nvPr/>
        </p:nvSpPr>
        <p:spPr>
          <a:xfrm>
            <a:off x="868680" y="1874520"/>
            <a:ext cx="640080" cy="640080"/>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996696" y="2002536"/>
            <a:ext cx="384048" cy="384048"/>
          </a:xfrm>
          <a:prstGeom prst="rect">
            <a:avLst/>
          </a:prstGeom>
        </p:spPr>
      </p:pic>
      <p:sp>
        <p:nvSpPr>
          <p:cNvPr id="10" name="Text 7"/>
          <p:cNvSpPr/>
          <p:nvPr/>
        </p:nvSpPr>
        <p:spPr>
          <a:xfrm>
            <a:off x="1691640" y="182880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Bias and fairness</a:t>
            </a:r>
            <a:endParaRPr lang="en-US" sz="1700" dirty="0"/>
          </a:p>
        </p:txBody>
      </p:sp>
      <p:sp>
        <p:nvSpPr>
          <p:cNvPr id="11" name="Text 8"/>
          <p:cNvSpPr/>
          <p:nvPr/>
        </p:nvSpPr>
        <p:spPr>
          <a:xfrm>
            <a:off x="868680" y="2606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Big AI models inherit bias from their training data. They may favour mainstream research traditions over niche ones. The system mitigates this by letting editors override AI suggestions and logging every AI call for later audit.</a:t>
            </a:r>
            <a:endParaRPr lang="en-US" sz="1100" dirty="0"/>
          </a:p>
        </p:txBody>
      </p:sp>
      <p:sp>
        <p:nvSpPr>
          <p:cNvPr id="12" name="Shape 9"/>
          <p:cNvSpPr/>
          <p:nvPr/>
        </p:nvSpPr>
        <p:spPr>
          <a:xfrm>
            <a:off x="6199632" y="1508760"/>
            <a:ext cx="5486400" cy="2103120"/>
          </a:xfrm>
          <a:prstGeom prst="rect">
            <a:avLst/>
          </a:prstGeom>
          <a:solidFill>
            <a:srgbClr val="F7F8FB"/>
          </a:solidFill>
          <a:ln w="12700">
            <a:solidFill>
              <a:srgbClr val="E2E5EE"/>
            </a:solidFill>
            <a:prstDash val="solid"/>
          </a:ln>
        </p:spPr>
      </p:sp>
      <p:sp>
        <p:nvSpPr>
          <p:cNvPr id="13" name="Shape 10"/>
          <p:cNvSpPr/>
          <p:nvPr/>
        </p:nvSpPr>
        <p:spPr>
          <a:xfrm>
            <a:off x="6519672" y="187452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6647688" y="2002536"/>
            <a:ext cx="384048" cy="384048"/>
          </a:xfrm>
          <a:prstGeom prst="rect">
            <a:avLst/>
          </a:prstGeom>
        </p:spPr>
      </p:pic>
      <p:sp>
        <p:nvSpPr>
          <p:cNvPr id="15" name="Text 11"/>
          <p:cNvSpPr/>
          <p:nvPr/>
        </p:nvSpPr>
        <p:spPr>
          <a:xfrm>
            <a:off x="7342632" y="182880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Privacy and data minimisation</a:t>
            </a:r>
            <a:endParaRPr lang="en-US" sz="1700" dirty="0"/>
          </a:p>
        </p:txBody>
      </p:sp>
      <p:sp>
        <p:nvSpPr>
          <p:cNvPr id="16" name="Text 12"/>
          <p:cNvSpPr/>
          <p:nvPr/>
        </p:nvSpPr>
        <p:spPr>
          <a:xfrm>
            <a:off x="6519672" y="2606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Default mode is local. When the paid AI is on, only the title and abstract leave the machine, never the full paper. Every external call gets logged. A future revision will add an explicit consent checkbox before any external call.</a:t>
            </a:r>
            <a:endParaRPr lang="en-US" sz="1100" dirty="0"/>
          </a:p>
        </p:txBody>
      </p:sp>
      <p:sp>
        <p:nvSpPr>
          <p:cNvPr id="17" name="Shape 13"/>
          <p:cNvSpPr/>
          <p:nvPr/>
        </p:nvSpPr>
        <p:spPr>
          <a:xfrm>
            <a:off x="548640" y="3794760"/>
            <a:ext cx="5486400" cy="2103120"/>
          </a:xfrm>
          <a:prstGeom prst="rect">
            <a:avLst/>
          </a:prstGeom>
          <a:solidFill>
            <a:srgbClr val="F7F8FB"/>
          </a:solidFill>
          <a:ln w="12700">
            <a:solidFill>
              <a:srgbClr val="E2E5EE"/>
            </a:solidFill>
            <a:prstDash val="solid"/>
          </a:ln>
        </p:spPr>
      </p:sp>
      <p:sp>
        <p:nvSpPr>
          <p:cNvPr id="18" name="Shape 14"/>
          <p:cNvSpPr/>
          <p:nvPr/>
        </p:nvSpPr>
        <p:spPr>
          <a:xfrm>
            <a:off x="868680" y="4160520"/>
            <a:ext cx="640080" cy="640080"/>
          </a:xfrm>
          <a:prstGeom prst="ellipse">
            <a:avLst/>
          </a:prstGeom>
          <a:solidFill>
            <a:srgbClr val="1E2761"/>
          </a:solidFill>
          <a:ln/>
        </p:spPr>
      </p:sp>
      <p:pic>
        <p:nvPicPr>
          <p:cNvPr id="19" name="Image 2" descr="preencoded.png">    </p:cNvPr>
          <p:cNvPicPr>
            <a:picLocks noChangeAspect="1"/>
          </p:cNvPicPr>
          <p:nvPr/>
        </p:nvPicPr>
        <p:blipFill>
          <a:blip r:embed="rId3"/>
          <a:stretch>
            <a:fillRect/>
          </a:stretch>
        </p:blipFill>
        <p:spPr>
          <a:xfrm>
            <a:off x="996696" y="4288536"/>
            <a:ext cx="384048" cy="384048"/>
          </a:xfrm>
          <a:prstGeom prst="rect">
            <a:avLst/>
          </a:prstGeom>
        </p:spPr>
      </p:pic>
      <p:sp>
        <p:nvSpPr>
          <p:cNvPr id="20" name="Text 15"/>
          <p:cNvSpPr/>
          <p:nvPr/>
        </p:nvSpPr>
        <p:spPr>
          <a:xfrm>
            <a:off x="1691640" y="411480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Accountability</a:t>
            </a:r>
            <a:endParaRPr lang="en-US" sz="1700" dirty="0"/>
          </a:p>
        </p:txBody>
      </p:sp>
      <p:sp>
        <p:nvSpPr>
          <p:cNvPr id="21" name="Text 16"/>
          <p:cNvSpPr/>
          <p:nvPr/>
        </p:nvSpPr>
        <p:spPr>
          <a:xfrm>
            <a:off x="868680" y="4892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AI drafts. Humans submit. The reviewer is still on the hook for the final review. Whether AI was used gets recorded so authors and editors know. The model never autonomously approves anything.</a:t>
            </a:r>
            <a:endParaRPr lang="en-US" sz="1100" dirty="0"/>
          </a:p>
        </p:txBody>
      </p:sp>
      <p:sp>
        <p:nvSpPr>
          <p:cNvPr id="22" name="Shape 17"/>
          <p:cNvSpPr/>
          <p:nvPr/>
        </p:nvSpPr>
        <p:spPr>
          <a:xfrm>
            <a:off x="6199632" y="3794760"/>
            <a:ext cx="5486400" cy="2103120"/>
          </a:xfrm>
          <a:prstGeom prst="rect">
            <a:avLst/>
          </a:prstGeom>
          <a:solidFill>
            <a:srgbClr val="F7F8FB"/>
          </a:solidFill>
          <a:ln w="12700">
            <a:solidFill>
              <a:srgbClr val="E2E5EE"/>
            </a:solidFill>
            <a:prstDash val="solid"/>
          </a:ln>
        </p:spPr>
      </p:sp>
      <p:sp>
        <p:nvSpPr>
          <p:cNvPr id="23" name="Shape 18"/>
          <p:cNvSpPr/>
          <p:nvPr/>
        </p:nvSpPr>
        <p:spPr>
          <a:xfrm>
            <a:off x="6519672" y="4160520"/>
            <a:ext cx="640080" cy="640080"/>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6647688" y="4288536"/>
            <a:ext cx="384048" cy="384048"/>
          </a:xfrm>
          <a:prstGeom prst="rect">
            <a:avLst/>
          </a:prstGeom>
        </p:spPr>
      </p:pic>
      <p:sp>
        <p:nvSpPr>
          <p:cNvPr id="25" name="Text 19"/>
          <p:cNvSpPr/>
          <p:nvPr/>
        </p:nvSpPr>
        <p:spPr>
          <a:xfrm>
            <a:off x="7342632" y="4114800"/>
            <a:ext cx="4206240" cy="502920"/>
          </a:xfrm>
          <a:prstGeom prst="rect">
            <a:avLst/>
          </a:prstGeom>
          <a:noFill/>
          <a:ln/>
        </p:spPr>
        <p:txBody>
          <a:bodyPr wrap="square" lIns="0" tIns="0" rIns="0" bIns="0" rtlCol="0" anchor="ctr"/>
          <a:lstStyle/>
          <a:p>
            <a:pPr indent="0" marL="0">
              <a:buNone/>
            </a:pPr>
            <a:r>
              <a:rPr lang="en-US" sz="1700" b="1" dirty="0">
                <a:solidFill>
                  <a:srgbClr val="0F1538"/>
                </a:solidFill>
                <a:latin typeface="Calibri" pitchFamily="34" charset="0"/>
                <a:ea typeface="Calibri" pitchFamily="34" charset="-122"/>
                <a:cs typeface="Calibri" pitchFamily="34" charset="-120"/>
              </a:rPr>
              <a:t>Reliability and limitations</a:t>
            </a:r>
            <a:endParaRPr lang="en-US" sz="1700" dirty="0"/>
          </a:p>
        </p:txBody>
      </p:sp>
      <p:sp>
        <p:nvSpPr>
          <p:cNvPr id="26" name="Text 20"/>
          <p:cNvSpPr/>
          <p:nvPr/>
        </p:nvSpPr>
        <p:spPr>
          <a:xfrm>
            <a:off x="6519672" y="4892040"/>
            <a:ext cx="4937760" cy="960120"/>
          </a:xfrm>
          <a:prstGeom prst="rect">
            <a:avLst/>
          </a:prstGeom>
          <a:noFill/>
          <a:ln/>
        </p:spPr>
        <p:txBody>
          <a:bodyPr wrap="square" lIns="0" tIns="0" rIns="0" bIns="0" rtlCol="0" anchor="ctr"/>
          <a:lstStyle/>
          <a:p>
            <a:pPr indent="0" marL="0">
              <a:buNone/>
            </a:pPr>
            <a:r>
              <a:rPr lang="en-US" sz="1100" dirty="0">
                <a:solidFill>
                  <a:srgbClr val="5C6488"/>
                </a:solidFill>
                <a:latin typeface="Calibri" pitchFamily="34" charset="0"/>
                <a:ea typeface="Calibri" pitchFamily="34" charset="-122"/>
                <a:cs typeface="Calibri" pitchFamily="34" charset="-120"/>
              </a:rPr>
              <a:t>The AI-text score is a flag, not a verdict. Real detectors fail on non-native English speakers (Liang et al., 2023). Plagiarism similarity does not catch paraphrasing. Both are decision-support, never used to block a submission on their own.</a:t>
            </a:r>
            <a:endParaRPr lang="en-US" sz="1100" dirty="0"/>
          </a:p>
        </p:txBody>
      </p:sp>
      <p:sp>
        <p:nvSpPr>
          <p:cNvPr id="27" name="Shape 21"/>
          <p:cNvSpPr/>
          <p:nvPr/>
        </p:nvSpPr>
        <p:spPr>
          <a:xfrm>
            <a:off x="548640" y="6126480"/>
            <a:ext cx="11064240" cy="502920"/>
          </a:xfrm>
          <a:prstGeom prst="rect">
            <a:avLst/>
          </a:prstGeom>
          <a:solidFill>
            <a:srgbClr val="CADCFC"/>
          </a:solidFill>
          <a:ln/>
        </p:spPr>
      </p:sp>
      <p:sp>
        <p:nvSpPr>
          <p:cNvPr id="28" name="Text 22"/>
          <p:cNvSpPr/>
          <p:nvPr/>
        </p:nvSpPr>
        <p:spPr>
          <a:xfrm>
            <a:off x="777240" y="612648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29" name="Text 23"/>
          <p:cNvSpPr/>
          <p:nvPr/>
        </p:nvSpPr>
        <p:spPr>
          <a:xfrm>
            <a:off x="2331720" y="612648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AI helps, humans decide. Nothing important is automatic. Everything AI does gets logged so we can check it later.</a:t>
            </a:r>
            <a:endParaRPr lang="en-US" sz="1100" dirty="0"/>
          </a:p>
        </p:txBody>
      </p:sp>
      <p:sp>
        <p:nvSpPr>
          <p:cNvPr id="30" name="Text 24"/>
          <p:cNvSpPr/>
          <p:nvPr/>
        </p:nvSpPr>
        <p:spPr>
          <a:xfrm>
            <a:off x="548640" y="6492240"/>
            <a:ext cx="82296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1" name="Text 25"/>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Reflection on integration</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Where AI helps, where it shares the load, and where it could go wrong</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6</a:t>
            </a:r>
            <a:endParaRPr lang="en-US" sz="1100" dirty="0"/>
          </a:p>
        </p:txBody>
      </p:sp>
      <p:sp>
        <p:nvSpPr>
          <p:cNvPr id="7" name="Shape 5"/>
          <p:cNvSpPr/>
          <p:nvPr/>
        </p:nvSpPr>
        <p:spPr>
          <a:xfrm>
            <a:off x="548640" y="1508760"/>
            <a:ext cx="3520440" cy="4572000"/>
          </a:xfrm>
          <a:prstGeom prst="rect">
            <a:avLst/>
          </a:prstGeom>
          <a:solidFill>
            <a:srgbClr val="F7F8FB"/>
          </a:solidFill>
          <a:ln w="12700">
            <a:solidFill>
              <a:srgbClr val="E2E5EE"/>
            </a:solidFill>
            <a:prstDash val="solid"/>
          </a:ln>
        </p:spPr>
      </p:sp>
      <p:sp>
        <p:nvSpPr>
          <p:cNvPr id="8" name="Shape 6"/>
          <p:cNvSpPr/>
          <p:nvPr/>
        </p:nvSpPr>
        <p:spPr>
          <a:xfrm>
            <a:off x="548640" y="1508760"/>
            <a:ext cx="3520440" cy="457200"/>
          </a:xfrm>
          <a:prstGeom prst="rect">
            <a:avLst/>
          </a:prstGeom>
          <a:solidFill>
            <a:srgbClr val="2E8B57"/>
          </a:solidFill>
          <a:ln/>
        </p:spPr>
      </p:sp>
      <p:sp>
        <p:nvSpPr>
          <p:cNvPr id="9" name="Shape 7"/>
          <p:cNvSpPr/>
          <p:nvPr/>
        </p:nvSpPr>
        <p:spPr>
          <a:xfrm>
            <a:off x="777240" y="1581912"/>
            <a:ext cx="310896" cy="310896"/>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832104" y="1636776"/>
            <a:ext cx="201168" cy="201168"/>
          </a:xfrm>
          <a:prstGeom prst="rect">
            <a:avLst/>
          </a:prstGeom>
        </p:spPr>
      </p:pic>
      <p:sp>
        <p:nvSpPr>
          <p:cNvPr id="11" name="Text 8"/>
          <p:cNvSpPr/>
          <p:nvPr/>
        </p:nvSpPr>
        <p:spPr>
          <a:xfrm>
            <a:off x="1188720" y="1508760"/>
            <a:ext cx="2743200" cy="457200"/>
          </a:xfrm>
          <a:prstGeom prst="rect">
            <a:avLst/>
          </a:prstGeom>
          <a:noFill/>
          <a:ln/>
        </p:spPr>
        <p:txBody>
          <a:bodyPr wrap="square" lIns="0" tIns="0" rIns="0" bIns="0"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Enhances</a:t>
            </a:r>
            <a:endParaRPr lang="en-US" sz="1600" dirty="0"/>
          </a:p>
        </p:txBody>
      </p:sp>
      <p:sp>
        <p:nvSpPr>
          <p:cNvPr id="12" name="Text 9"/>
          <p:cNvSpPr/>
          <p:nvPr/>
        </p:nvSpPr>
        <p:spPr>
          <a:xfrm>
            <a:off x="822960" y="214884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Reviewer matching becomes topic-based, not random. Better feedback per submission.</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get pre-submission feedback that previously cost a copy editor.</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Reviews are structured and comparable. Editors can aggregate scores meaningfully.</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Public reader page surfaces accepted work with AI-extracted keywords.</a:t>
            </a:r>
            <a:endParaRPr lang="en-US" sz="1200" dirty="0"/>
          </a:p>
        </p:txBody>
      </p:sp>
      <p:sp>
        <p:nvSpPr>
          <p:cNvPr id="13" name="Shape 10"/>
          <p:cNvSpPr/>
          <p:nvPr/>
        </p:nvSpPr>
        <p:spPr>
          <a:xfrm>
            <a:off x="4526280" y="1508760"/>
            <a:ext cx="3520440" cy="4572000"/>
          </a:xfrm>
          <a:prstGeom prst="rect">
            <a:avLst/>
          </a:prstGeom>
          <a:solidFill>
            <a:srgbClr val="F7F8FB"/>
          </a:solidFill>
          <a:ln w="12700">
            <a:solidFill>
              <a:srgbClr val="E2E5EE"/>
            </a:solidFill>
            <a:prstDash val="solid"/>
          </a:ln>
        </p:spPr>
      </p:sp>
      <p:sp>
        <p:nvSpPr>
          <p:cNvPr id="14" name="Shape 11"/>
          <p:cNvSpPr/>
          <p:nvPr/>
        </p:nvSpPr>
        <p:spPr>
          <a:xfrm>
            <a:off x="4526280" y="1508760"/>
            <a:ext cx="3520440" cy="457200"/>
          </a:xfrm>
          <a:prstGeom prst="rect">
            <a:avLst/>
          </a:prstGeom>
          <a:solidFill>
            <a:srgbClr val="F4B942"/>
          </a:solidFill>
          <a:ln/>
        </p:spPr>
      </p:sp>
      <p:sp>
        <p:nvSpPr>
          <p:cNvPr id="15" name="Shape 12"/>
          <p:cNvSpPr/>
          <p:nvPr/>
        </p:nvSpPr>
        <p:spPr>
          <a:xfrm>
            <a:off x="4754880" y="1581912"/>
            <a:ext cx="310896" cy="310896"/>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4809744" y="1636776"/>
            <a:ext cx="201168" cy="201168"/>
          </a:xfrm>
          <a:prstGeom prst="rect">
            <a:avLst/>
          </a:prstGeom>
        </p:spPr>
      </p:pic>
      <p:sp>
        <p:nvSpPr>
          <p:cNvPr id="17" name="Text 13"/>
          <p:cNvSpPr/>
          <p:nvPr/>
        </p:nvSpPr>
        <p:spPr>
          <a:xfrm>
            <a:off x="5166360" y="1508760"/>
            <a:ext cx="2743200" cy="457200"/>
          </a:xfrm>
          <a:prstGeom prst="rect">
            <a:avLst/>
          </a:prstGeom>
          <a:noFill/>
          <a:ln/>
        </p:spPr>
        <p:txBody>
          <a:bodyPr wrap="square" lIns="0" tIns="0" rIns="0" bIns="0"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Complements</a:t>
            </a:r>
            <a:endParaRPr lang="en-US" sz="1600" dirty="0"/>
          </a:p>
        </p:txBody>
      </p:sp>
      <p:sp>
        <p:nvSpPr>
          <p:cNvPr id="18" name="Text 14"/>
          <p:cNvSpPr/>
          <p:nvPr/>
        </p:nvSpPr>
        <p:spPr>
          <a:xfrm>
            <a:off x="4800600" y="214884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generates first drafts. Humans always make the final call.</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Free local techniques surface signals. Editors verify before acting.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Audit log captures every AI call, so reviewers and editors can defend decisions.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Local AI and Claude complement each other across cost and quality tiers.</a:t>
            </a:r>
            <a:endParaRPr lang="en-US" sz="1200" dirty="0"/>
          </a:p>
        </p:txBody>
      </p:sp>
      <p:sp>
        <p:nvSpPr>
          <p:cNvPr id="19" name="Shape 15"/>
          <p:cNvSpPr/>
          <p:nvPr/>
        </p:nvSpPr>
        <p:spPr>
          <a:xfrm>
            <a:off x="8503920" y="1508760"/>
            <a:ext cx="3520440" cy="4572000"/>
          </a:xfrm>
          <a:prstGeom prst="rect">
            <a:avLst/>
          </a:prstGeom>
          <a:solidFill>
            <a:srgbClr val="F7F8FB"/>
          </a:solidFill>
          <a:ln w="12700">
            <a:solidFill>
              <a:srgbClr val="E2E5EE"/>
            </a:solidFill>
            <a:prstDash val="solid"/>
          </a:ln>
        </p:spPr>
      </p:sp>
      <p:sp>
        <p:nvSpPr>
          <p:cNvPr id="20" name="Shape 16"/>
          <p:cNvSpPr/>
          <p:nvPr/>
        </p:nvSpPr>
        <p:spPr>
          <a:xfrm>
            <a:off x="8503920" y="1508760"/>
            <a:ext cx="3520440" cy="457200"/>
          </a:xfrm>
          <a:prstGeom prst="rect">
            <a:avLst/>
          </a:prstGeom>
          <a:solidFill>
            <a:srgbClr val="C2453B"/>
          </a:solidFill>
          <a:ln/>
        </p:spPr>
      </p:sp>
      <p:sp>
        <p:nvSpPr>
          <p:cNvPr id="21" name="Shape 17"/>
          <p:cNvSpPr/>
          <p:nvPr/>
        </p:nvSpPr>
        <p:spPr>
          <a:xfrm>
            <a:off x="8732520" y="1581912"/>
            <a:ext cx="310896" cy="310896"/>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787384" y="1636776"/>
            <a:ext cx="201168" cy="201168"/>
          </a:xfrm>
          <a:prstGeom prst="rect">
            <a:avLst/>
          </a:prstGeom>
        </p:spPr>
      </p:pic>
      <p:sp>
        <p:nvSpPr>
          <p:cNvPr id="23" name="Text 18"/>
          <p:cNvSpPr/>
          <p:nvPr/>
        </p:nvSpPr>
        <p:spPr>
          <a:xfrm>
            <a:off x="9144000" y="1508760"/>
            <a:ext cx="2743200" cy="457200"/>
          </a:xfrm>
          <a:prstGeom prst="rect">
            <a:avLst/>
          </a:prstGeom>
          <a:noFill/>
          <a:ln/>
        </p:spPr>
        <p:txBody>
          <a:bodyPr wrap="square" lIns="0" tIns="0" rIns="0" bIns="0"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Challenges</a:t>
            </a:r>
            <a:endParaRPr lang="en-US" sz="1600" dirty="0"/>
          </a:p>
        </p:txBody>
      </p:sp>
      <p:sp>
        <p:nvSpPr>
          <p:cNvPr id="24" name="Text 19"/>
          <p:cNvSpPr/>
          <p:nvPr/>
        </p:nvSpPr>
        <p:spPr>
          <a:xfrm>
            <a:off x="8778240" y="2148840"/>
            <a:ext cx="3200400" cy="3840480"/>
          </a:xfrm>
          <a:prstGeom prst="rect">
            <a:avLst/>
          </a:prstGeom>
          <a:noFill/>
          <a:ln/>
        </p:spPr>
        <p:txBody>
          <a:bodyPr wrap="square" rtlCol="0" anchor="ctr"/>
          <a:lstStyle/>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AI-text detectors misclassify non-native English writing. Risk of unfair flagging.</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AI bias may favour mainstream research traditions over niche subfields.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Authors may over-trust the writing helper and let style become homogeneous.</a:t>
            </a:r>
            <a:endParaRPr lang="en-US" sz="1200" dirty="0"/>
          </a:p>
          <a:p>
            <a:pPr marL="342900" indent="-342900">
              <a:spcAft>
                <a:spcPts val="600"/>
              </a:spcAft>
              <a:buSzPct val="100000"/>
              <a:buChar char="•"/>
            </a:pPr>
            <a:r>
              <a:rPr lang="en-US" sz="1200" dirty="0">
                <a:solidFill>
                  <a:srgbClr val="0F1538"/>
                </a:solidFill>
                <a:latin typeface="Calibri" pitchFamily="34" charset="0"/>
                <a:ea typeface="Calibri" pitchFamily="34" charset="-122"/>
                <a:cs typeface="Calibri" pitchFamily="34" charset="-120"/>
              </a:rPr>
              <a:t>Cost of the paid AI at large scale could become a problem without careful caching.</a:t>
            </a:r>
            <a:endParaRPr lang="en-US" sz="1200" dirty="0"/>
          </a:p>
        </p:txBody>
      </p:sp>
      <p:sp>
        <p:nvSpPr>
          <p:cNvPr id="25" name="Shape 20"/>
          <p:cNvSpPr/>
          <p:nvPr/>
        </p:nvSpPr>
        <p:spPr>
          <a:xfrm>
            <a:off x="548640" y="6172200"/>
            <a:ext cx="11064240" cy="502920"/>
          </a:xfrm>
          <a:prstGeom prst="rect">
            <a:avLst/>
          </a:prstGeom>
          <a:solidFill>
            <a:srgbClr val="CADCFC"/>
          </a:solidFill>
          <a:ln/>
        </p:spPr>
      </p:sp>
      <p:sp>
        <p:nvSpPr>
          <p:cNvPr id="26" name="Text 21"/>
          <p:cNvSpPr/>
          <p:nvPr/>
        </p:nvSpPr>
        <p:spPr>
          <a:xfrm>
            <a:off x="777240" y="617220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27" name="Text 22"/>
          <p:cNvSpPr/>
          <p:nvPr/>
        </p:nvSpPr>
        <p:spPr>
          <a:xfrm>
            <a:off x="2331720" y="617220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Green: AI clearly helps. Gold: AI and humans share the work. Red: things to watch out for.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Live demo: the recreated version</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Five role-aware dashboards with AI features</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DEMO</a:t>
            </a:r>
            <a:endParaRPr lang="en-US" sz="1100" dirty="0"/>
          </a:p>
        </p:txBody>
      </p:sp>
      <p:sp>
        <p:nvSpPr>
          <p:cNvPr id="7" name="Shape 5"/>
          <p:cNvSpPr/>
          <p:nvPr/>
        </p:nvSpPr>
        <p:spPr>
          <a:xfrm>
            <a:off x="548640" y="1554480"/>
            <a:ext cx="640080" cy="640080"/>
          </a:xfrm>
          <a:prstGeom prst="ellipse">
            <a:avLst/>
          </a:prstGeom>
          <a:solidFill>
            <a:srgbClr val="1E2761"/>
          </a:solidFill>
          <a:ln/>
        </p:spPr>
      </p:sp>
      <p:sp>
        <p:nvSpPr>
          <p:cNvPr id="8" name="Text 6"/>
          <p:cNvSpPr/>
          <p:nvPr/>
        </p:nvSpPr>
        <p:spPr>
          <a:xfrm>
            <a:off x="548640" y="1554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1325880" y="1554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Author submit page</a:t>
            </a:r>
            <a:endParaRPr lang="en-US" sz="1600" dirty="0"/>
          </a:p>
        </p:txBody>
      </p:sp>
      <p:sp>
        <p:nvSpPr>
          <p:cNvPr id="10" name="Text 8"/>
          <p:cNvSpPr/>
          <p:nvPr/>
        </p:nvSpPr>
        <p:spPr>
          <a:xfrm>
            <a:off x="1325880" y="1920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Three AI buttons next to the abstract: polish, suggest titles, extract keywords.</a:t>
            </a:r>
            <a:endParaRPr lang="en-US" sz="1200" dirty="0"/>
          </a:p>
        </p:txBody>
      </p:sp>
      <p:sp>
        <p:nvSpPr>
          <p:cNvPr id="11" name="Shape 9"/>
          <p:cNvSpPr/>
          <p:nvPr/>
        </p:nvSpPr>
        <p:spPr>
          <a:xfrm>
            <a:off x="548640" y="2697480"/>
            <a:ext cx="640080" cy="640080"/>
          </a:xfrm>
          <a:prstGeom prst="ellipse">
            <a:avLst/>
          </a:prstGeom>
          <a:solidFill>
            <a:srgbClr val="1E2761"/>
          </a:solidFill>
          <a:ln/>
        </p:spPr>
      </p:sp>
      <p:sp>
        <p:nvSpPr>
          <p:cNvPr id="12" name="Text 10"/>
          <p:cNvSpPr/>
          <p:nvPr/>
        </p:nvSpPr>
        <p:spPr>
          <a:xfrm>
            <a:off x="548640" y="2697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325880" y="2697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Editor dashboard</a:t>
            </a:r>
            <a:endParaRPr lang="en-US" sz="1600" dirty="0"/>
          </a:p>
        </p:txBody>
      </p:sp>
      <p:sp>
        <p:nvSpPr>
          <p:cNvPr id="14" name="Text 12"/>
          <p:cNvSpPr/>
          <p:nvPr/>
        </p:nvSpPr>
        <p:spPr>
          <a:xfrm>
            <a:off x="1325880" y="3063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Top-3 AI-ranked reviewers per paper with scores, plus manual override and final decision.</a:t>
            </a:r>
            <a:endParaRPr lang="en-US" sz="1200" dirty="0"/>
          </a:p>
        </p:txBody>
      </p:sp>
      <p:sp>
        <p:nvSpPr>
          <p:cNvPr id="15" name="Shape 13"/>
          <p:cNvSpPr/>
          <p:nvPr/>
        </p:nvSpPr>
        <p:spPr>
          <a:xfrm>
            <a:off x="548640" y="3840480"/>
            <a:ext cx="640080" cy="640080"/>
          </a:xfrm>
          <a:prstGeom prst="ellipse">
            <a:avLst/>
          </a:prstGeom>
          <a:solidFill>
            <a:srgbClr val="1E2761"/>
          </a:solidFill>
          <a:ln/>
        </p:spPr>
      </p:sp>
      <p:sp>
        <p:nvSpPr>
          <p:cNvPr id="16" name="Text 14"/>
          <p:cNvSpPr/>
          <p:nvPr/>
        </p:nvSpPr>
        <p:spPr>
          <a:xfrm>
            <a:off x="548640" y="3840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7" name="Text 15"/>
          <p:cNvSpPr/>
          <p:nvPr/>
        </p:nvSpPr>
        <p:spPr>
          <a:xfrm>
            <a:off x="1325880" y="3840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Reviewer review</a:t>
            </a:r>
            <a:endParaRPr lang="en-US" sz="1600" dirty="0"/>
          </a:p>
        </p:txBody>
      </p:sp>
      <p:sp>
        <p:nvSpPr>
          <p:cNvPr id="18" name="Text 16"/>
          <p:cNvSpPr/>
          <p:nvPr/>
        </p:nvSpPr>
        <p:spPr>
          <a:xfrm>
            <a:off x="1325880" y="4206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"Generate AI draft" fills in summary, strengths, weaknesses, scores, recommendation.</a:t>
            </a:r>
            <a:endParaRPr lang="en-US" sz="1200" dirty="0"/>
          </a:p>
        </p:txBody>
      </p:sp>
      <p:sp>
        <p:nvSpPr>
          <p:cNvPr id="19" name="Shape 17"/>
          <p:cNvSpPr/>
          <p:nvPr/>
        </p:nvSpPr>
        <p:spPr>
          <a:xfrm>
            <a:off x="548640" y="4983480"/>
            <a:ext cx="640080" cy="640080"/>
          </a:xfrm>
          <a:prstGeom prst="ellipse">
            <a:avLst/>
          </a:prstGeom>
          <a:solidFill>
            <a:srgbClr val="1E2761"/>
          </a:solidFill>
          <a:ln/>
        </p:spPr>
      </p:sp>
      <p:sp>
        <p:nvSpPr>
          <p:cNvPr id="20" name="Text 18"/>
          <p:cNvSpPr/>
          <p:nvPr/>
        </p:nvSpPr>
        <p:spPr>
          <a:xfrm>
            <a:off x="548640" y="4983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1" name="Text 19"/>
          <p:cNvSpPr/>
          <p:nvPr/>
        </p:nvSpPr>
        <p:spPr>
          <a:xfrm>
            <a:off x="1325880" y="4983480"/>
            <a:ext cx="5486400" cy="365760"/>
          </a:xfrm>
          <a:prstGeom prst="rect">
            <a:avLst/>
          </a:prstGeom>
          <a:noFill/>
          <a:ln/>
        </p:spPr>
        <p:txBody>
          <a:bodyPr wrap="square" lIns="0" tIns="0" rIns="0" bIns="0" rtlCol="0" anchor="ctr"/>
          <a:lstStyle/>
          <a:p>
            <a:pPr indent="0" marL="0">
              <a:buNone/>
            </a:pPr>
            <a:r>
              <a:rPr lang="en-US" sz="1600" b="1" dirty="0">
                <a:solidFill>
                  <a:srgbClr val="0F1538"/>
                </a:solidFill>
                <a:latin typeface="Calibri" pitchFamily="34" charset="0"/>
                <a:ea typeface="Calibri" pitchFamily="34" charset="-122"/>
                <a:cs typeface="Calibri" pitchFamily="34" charset="-120"/>
              </a:rPr>
              <a:t>Public reader feed</a:t>
            </a:r>
            <a:endParaRPr lang="en-US" sz="1600" dirty="0"/>
          </a:p>
        </p:txBody>
      </p:sp>
      <p:sp>
        <p:nvSpPr>
          <p:cNvPr id="22" name="Text 20"/>
          <p:cNvSpPr/>
          <p:nvPr/>
        </p:nvSpPr>
        <p:spPr>
          <a:xfrm>
            <a:off x="1325880" y="5349240"/>
            <a:ext cx="5486400" cy="365760"/>
          </a:xfrm>
          <a:prstGeom prst="rect">
            <a:avLst/>
          </a:prstGeom>
          <a:noFill/>
          <a:ln/>
        </p:spPr>
        <p:txBody>
          <a:bodyPr wrap="square" lIns="0" tIns="0" rIns="0" bIns="0" rtlCol="0" anchor="ctr"/>
          <a:lstStyle/>
          <a:p>
            <a:pPr indent="0" marL="0">
              <a:buNone/>
            </a:pPr>
            <a:r>
              <a:rPr lang="en-US" sz="1200" i="1" dirty="0">
                <a:solidFill>
                  <a:srgbClr val="5C6488"/>
                </a:solidFill>
                <a:latin typeface="Calibri" pitchFamily="34" charset="0"/>
                <a:ea typeface="Calibri" pitchFamily="34" charset="-122"/>
                <a:cs typeface="Calibri" pitchFamily="34" charset="-120"/>
              </a:rPr>
              <a:t>Newspaper-style grid of accepted articles with full-text search and public download. No login needed.</a:t>
            </a:r>
            <a:endParaRPr lang="en-US" sz="1200" dirty="0"/>
          </a:p>
        </p:txBody>
      </p:sp>
      <p:sp>
        <p:nvSpPr>
          <p:cNvPr id="23" name="Shape 21"/>
          <p:cNvSpPr/>
          <p:nvPr/>
        </p:nvSpPr>
        <p:spPr>
          <a:xfrm>
            <a:off x="7315200" y="1554480"/>
            <a:ext cx="4297680" cy="4206240"/>
          </a:xfrm>
          <a:prstGeom prst="rect">
            <a:avLst/>
          </a:prstGeom>
          <a:solidFill>
            <a:srgbClr val="141C49"/>
          </a:solidFill>
          <a:ln/>
        </p:spPr>
      </p:sp>
      <p:sp>
        <p:nvSpPr>
          <p:cNvPr id="24" name="Text 22"/>
          <p:cNvSpPr/>
          <p:nvPr/>
        </p:nvSpPr>
        <p:spPr>
          <a:xfrm>
            <a:off x="7498080" y="1691640"/>
            <a:ext cx="3931920" cy="32004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TO RUN LOCALLY</a:t>
            </a:r>
            <a:endParaRPr lang="en-US" sz="1100" dirty="0"/>
          </a:p>
        </p:txBody>
      </p:sp>
      <p:sp>
        <p:nvSpPr>
          <p:cNvPr id="25" name="Text 23"/>
          <p:cNvSpPr/>
          <p:nvPr/>
        </p:nvSpPr>
        <p:spPr>
          <a:xfrm>
            <a:off x="7498080" y="2103120"/>
            <a:ext cx="3931920" cy="3657600"/>
          </a:xfrm>
          <a:prstGeom prst="rect">
            <a:avLst/>
          </a:prstGeom>
          <a:noFill/>
          <a:ln/>
        </p:spPr>
        <p:txBody>
          <a:bodyPr wrap="square" lIns="0" tIns="0" rIns="0" bIns="0" rtlCol="0" anchor="ctr"/>
          <a:lstStyle/>
          <a:p>
            <a:pPr indent="0" marL="0">
              <a:buNone/>
            </a:pPr>
            <a:r>
              <a:rPr lang="en-US" sz="1300" dirty="0">
                <a:solidFill>
                  <a:srgbClr val="CADCFC"/>
                </a:solidFill>
                <a:latin typeface="Consolas" pitchFamily="34" charset="0"/>
                <a:ea typeface="Consolas" pitchFamily="34" charset="-122"/>
                <a:cs typeface="Consolas" pitchFamily="34" charset="-120"/>
              </a:rPr>
              <a:t>$ cd paper-submission-system-v2</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 npm install</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 npm run setup</a:t>
            </a:r>
            <a:endParaRPr lang="en-US" sz="1300" dirty="0"/>
          </a:p>
          <a:p>
            <a:pPr indent="0" marL="0">
              <a:buNone/>
            </a:pPr>
            <a:r>
              <a:rPr lang="en-US" sz="1300" dirty="0">
                <a:solidFill>
                  <a:srgbClr val="CADCFC"/>
                </a:solidFill>
                <a:latin typeface="Consolas" pitchFamily="34" charset="0"/>
                <a:ea typeface="Consolas" pitchFamily="34" charset="-122"/>
                <a:cs typeface="Consolas" pitchFamily="34" charset="-120"/>
              </a:rPr>
              <a:t>$ npm start</a:t>
            </a:r>
            <a:endParaRPr lang="en-US" sz="1300" dirty="0"/>
          </a:p>
          <a:p>
            <a:pPr indent="0" marL="0">
              <a:buNone/>
            </a:pPr>
            <a:endParaRPr lang="en-US" sz="1300" dirty="0"/>
          </a:p>
          <a:p>
            <a:pPr indent="0" marL="0">
              <a:buNone/>
            </a:pPr>
            <a:r>
              <a:rPr lang="en-US" sz="1300" b="1" dirty="0">
                <a:solidFill>
                  <a:srgbClr val="F4B942"/>
                </a:solidFill>
                <a:latin typeface="Consolas" pitchFamily="34" charset="0"/>
                <a:ea typeface="Consolas" pitchFamily="34" charset="-122"/>
                <a:cs typeface="Consolas" pitchFamily="34" charset="-120"/>
              </a:rPr>
              <a:t>→ http://localhost:3000</a:t>
            </a:r>
            <a:endParaRPr lang="en-US" sz="1300" dirty="0"/>
          </a:p>
          <a:p>
            <a:pPr indent="0" marL="0">
              <a:buNone/>
            </a:pPr>
            <a:endParaRPr lang="en-US" sz="1300" dirty="0"/>
          </a:p>
          <a:p>
            <a:pPr indent="0" marL="0">
              <a:buNone/>
            </a:pPr>
            <a:r>
              <a:rPr lang="en-US" sz="1200" b="1" dirty="0">
                <a:solidFill>
                  <a:srgbClr val="FFFFFF"/>
                </a:solidFill>
                <a:latin typeface="Consolas" pitchFamily="34" charset="0"/>
                <a:ea typeface="Consolas" pitchFamily="34" charset="-122"/>
                <a:cs typeface="Consolas" pitchFamily="34" charset="-120"/>
              </a:rPr>
              <a:t>Demo accounts (Password123!):</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alice / bob — author</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reviewer_ml / db / se</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editor — manual + AI matching</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admin — audit dashboard</a:t>
            </a:r>
            <a:endParaRPr lang="en-US" sz="1300" dirty="0"/>
          </a:p>
          <a:p>
            <a:pPr indent="0" marL="0">
              <a:buNone/>
            </a:pPr>
            <a:r>
              <a:rPr lang="en-US" sz="1100" dirty="0">
                <a:solidFill>
                  <a:srgbClr val="CADCFC"/>
                </a:solidFill>
                <a:latin typeface="Consolas" pitchFamily="34" charset="0"/>
                <a:ea typeface="Consolas" pitchFamily="34" charset="-122"/>
                <a:cs typeface="Consolas" pitchFamily="34" charset="-120"/>
              </a:rPr>
              <a:t>  reader — public feed</a:t>
            </a:r>
            <a:endParaRPr lang="en-US" sz="1300" dirty="0"/>
          </a:p>
        </p:txBody>
      </p:sp>
      <p:sp>
        <p:nvSpPr>
          <p:cNvPr id="26" name="Shape 24"/>
          <p:cNvSpPr/>
          <p:nvPr/>
        </p:nvSpPr>
        <p:spPr>
          <a:xfrm>
            <a:off x="548640" y="5989320"/>
            <a:ext cx="11064240" cy="502920"/>
          </a:xfrm>
          <a:prstGeom prst="rect">
            <a:avLst/>
          </a:prstGeom>
          <a:solidFill>
            <a:srgbClr val="CADCFC"/>
          </a:solidFill>
          <a:ln/>
        </p:spPr>
      </p:sp>
      <p:sp>
        <p:nvSpPr>
          <p:cNvPr id="27" name="Text 25"/>
          <p:cNvSpPr/>
          <p:nvPr/>
        </p:nvSpPr>
        <p:spPr>
          <a:xfrm>
            <a:off x="777240" y="598932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28" name="Text 26"/>
          <p:cNvSpPr/>
          <p:nvPr/>
        </p:nvSpPr>
        <p:spPr>
          <a:xfrm>
            <a:off x="2331720" y="598932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All five roles work today on a free local AI. Add a paid Claude key in one line of config to unlock the better drafts.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Roadmap to the next milestone</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Five steps from today through the follow-up submission</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ROADMAP</a:t>
            </a:r>
            <a:endParaRPr lang="en-US" sz="1100" dirty="0"/>
          </a:p>
        </p:txBody>
      </p:sp>
      <p:sp>
        <p:nvSpPr>
          <p:cNvPr id="7" name="Shape 5"/>
          <p:cNvSpPr/>
          <p:nvPr/>
        </p:nvSpPr>
        <p:spPr>
          <a:xfrm>
            <a:off x="1211580" y="1783080"/>
            <a:ext cx="1097280" cy="1097280"/>
          </a:xfrm>
          <a:prstGeom prst="ellipse">
            <a:avLst/>
          </a:prstGeom>
          <a:solidFill>
            <a:srgbClr val="2E8B57"/>
          </a:solidFill>
          <a:ln/>
        </p:spPr>
      </p:sp>
      <p:sp>
        <p:nvSpPr>
          <p:cNvPr id="8" name="Text 6"/>
          <p:cNvSpPr/>
          <p:nvPr/>
        </p:nvSpPr>
        <p:spPr>
          <a:xfrm>
            <a:off x="121158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9" name="Shape 7"/>
          <p:cNvSpPr/>
          <p:nvPr/>
        </p:nvSpPr>
        <p:spPr>
          <a:xfrm>
            <a:off x="2308860" y="2331720"/>
            <a:ext cx="1143000" cy="0"/>
          </a:xfrm>
          <a:prstGeom prst="line">
            <a:avLst/>
          </a:prstGeom>
          <a:noFill/>
          <a:ln w="38100">
            <a:solidFill>
              <a:srgbClr val="D5D9E5"/>
            </a:solidFill>
            <a:prstDash val="dash"/>
          </a:ln>
        </p:spPr>
      </p:sp>
      <p:sp>
        <p:nvSpPr>
          <p:cNvPr id="10" name="Text 8"/>
          <p:cNvSpPr/>
          <p:nvPr/>
        </p:nvSpPr>
        <p:spPr>
          <a:xfrm>
            <a:off x="640080" y="306324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Now</a:t>
            </a:r>
            <a:endParaRPr lang="en-US" sz="1400" dirty="0"/>
          </a:p>
        </p:txBody>
      </p:sp>
      <p:sp>
        <p:nvSpPr>
          <p:cNvPr id="11" name="Text 9"/>
          <p:cNvSpPr/>
          <p:nvPr/>
        </p:nvSpPr>
        <p:spPr>
          <a:xfrm>
            <a:off x="685800" y="347472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Codebase live · local AI covers all four features end-to-end · audit log collecting usage data</a:t>
            </a:r>
            <a:endParaRPr lang="en-US" sz="1100" dirty="0"/>
          </a:p>
        </p:txBody>
      </p:sp>
      <p:sp>
        <p:nvSpPr>
          <p:cNvPr id="12" name="Shape 10"/>
          <p:cNvSpPr/>
          <p:nvPr/>
        </p:nvSpPr>
        <p:spPr>
          <a:xfrm>
            <a:off x="3451860" y="1783080"/>
            <a:ext cx="1097280" cy="1097280"/>
          </a:xfrm>
          <a:prstGeom prst="ellipse">
            <a:avLst/>
          </a:prstGeom>
          <a:solidFill>
            <a:srgbClr val="F4B942"/>
          </a:solidFill>
          <a:ln/>
        </p:spPr>
      </p:sp>
      <p:sp>
        <p:nvSpPr>
          <p:cNvPr id="13" name="Text 11"/>
          <p:cNvSpPr/>
          <p:nvPr/>
        </p:nvSpPr>
        <p:spPr>
          <a:xfrm>
            <a:off x="345186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14" name="Shape 12"/>
          <p:cNvSpPr/>
          <p:nvPr/>
        </p:nvSpPr>
        <p:spPr>
          <a:xfrm>
            <a:off x="4549140" y="2331720"/>
            <a:ext cx="1143000" cy="0"/>
          </a:xfrm>
          <a:prstGeom prst="line">
            <a:avLst/>
          </a:prstGeom>
          <a:noFill/>
          <a:ln w="38100">
            <a:solidFill>
              <a:srgbClr val="D5D9E5"/>
            </a:solidFill>
            <a:prstDash val="dash"/>
          </a:ln>
        </p:spPr>
      </p:sp>
      <p:sp>
        <p:nvSpPr>
          <p:cNvPr id="15" name="Text 13"/>
          <p:cNvSpPr/>
          <p:nvPr/>
        </p:nvSpPr>
        <p:spPr>
          <a:xfrm>
            <a:off x="2880360" y="306324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Week 1-2</a:t>
            </a:r>
            <a:endParaRPr lang="en-US" sz="1400" dirty="0"/>
          </a:p>
        </p:txBody>
      </p:sp>
      <p:sp>
        <p:nvSpPr>
          <p:cNvPr id="16" name="Text 14"/>
          <p:cNvSpPr/>
          <p:nvPr/>
        </p:nvSpPr>
        <p:spPr>
          <a:xfrm>
            <a:off x="2926080" y="347472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Activate Claude · benchmark draft quality vs local on 10 sample papers · cost &amp; latency telemetry</a:t>
            </a:r>
            <a:endParaRPr lang="en-US" sz="1100" dirty="0"/>
          </a:p>
        </p:txBody>
      </p:sp>
      <p:sp>
        <p:nvSpPr>
          <p:cNvPr id="17" name="Shape 15"/>
          <p:cNvSpPr/>
          <p:nvPr/>
        </p:nvSpPr>
        <p:spPr>
          <a:xfrm>
            <a:off x="5692140" y="1783080"/>
            <a:ext cx="1097280" cy="1097280"/>
          </a:xfrm>
          <a:prstGeom prst="ellipse">
            <a:avLst/>
          </a:prstGeom>
          <a:solidFill>
            <a:srgbClr val="1E2761"/>
          </a:solidFill>
          <a:ln/>
        </p:spPr>
      </p:sp>
      <p:sp>
        <p:nvSpPr>
          <p:cNvPr id="18" name="Text 16"/>
          <p:cNvSpPr/>
          <p:nvPr/>
        </p:nvSpPr>
        <p:spPr>
          <a:xfrm>
            <a:off x="569214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19" name="Shape 17"/>
          <p:cNvSpPr/>
          <p:nvPr/>
        </p:nvSpPr>
        <p:spPr>
          <a:xfrm>
            <a:off x="6789420" y="2331720"/>
            <a:ext cx="1143000" cy="0"/>
          </a:xfrm>
          <a:prstGeom prst="line">
            <a:avLst/>
          </a:prstGeom>
          <a:noFill/>
          <a:ln w="38100">
            <a:solidFill>
              <a:srgbClr val="D5D9E5"/>
            </a:solidFill>
            <a:prstDash val="dash"/>
          </a:ln>
        </p:spPr>
      </p:sp>
      <p:sp>
        <p:nvSpPr>
          <p:cNvPr id="20" name="Text 18"/>
          <p:cNvSpPr/>
          <p:nvPr/>
        </p:nvSpPr>
        <p:spPr>
          <a:xfrm>
            <a:off x="5120640" y="306324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Week 3-4</a:t>
            </a:r>
            <a:endParaRPr lang="en-US" sz="1400" dirty="0"/>
          </a:p>
        </p:txBody>
      </p:sp>
      <p:sp>
        <p:nvSpPr>
          <p:cNvPr id="21" name="Text 19"/>
          <p:cNvSpPr/>
          <p:nvPr/>
        </p:nvSpPr>
        <p:spPr>
          <a:xfrm>
            <a:off x="5166360" y="347472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Replace TF-IDF with sentence-transformers (local) · re-evaluate matching precision</a:t>
            </a:r>
            <a:endParaRPr lang="en-US" sz="1100" dirty="0"/>
          </a:p>
        </p:txBody>
      </p:sp>
      <p:sp>
        <p:nvSpPr>
          <p:cNvPr id="22" name="Shape 20"/>
          <p:cNvSpPr/>
          <p:nvPr/>
        </p:nvSpPr>
        <p:spPr>
          <a:xfrm>
            <a:off x="7932420" y="1783080"/>
            <a:ext cx="1097280" cy="1097280"/>
          </a:xfrm>
          <a:prstGeom prst="ellipse">
            <a:avLst/>
          </a:prstGeom>
          <a:solidFill>
            <a:srgbClr val="1E2761"/>
          </a:solidFill>
          <a:ln/>
        </p:spPr>
      </p:sp>
      <p:sp>
        <p:nvSpPr>
          <p:cNvPr id="23" name="Text 21"/>
          <p:cNvSpPr/>
          <p:nvPr/>
        </p:nvSpPr>
        <p:spPr>
          <a:xfrm>
            <a:off x="793242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24" name="Shape 22"/>
          <p:cNvSpPr/>
          <p:nvPr/>
        </p:nvSpPr>
        <p:spPr>
          <a:xfrm>
            <a:off x="9029700" y="2331720"/>
            <a:ext cx="1143000" cy="0"/>
          </a:xfrm>
          <a:prstGeom prst="line">
            <a:avLst/>
          </a:prstGeom>
          <a:noFill/>
          <a:ln w="38100">
            <a:solidFill>
              <a:srgbClr val="D5D9E5"/>
            </a:solidFill>
            <a:prstDash val="dash"/>
          </a:ln>
        </p:spPr>
      </p:sp>
      <p:sp>
        <p:nvSpPr>
          <p:cNvPr id="25" name="Text 23"/>
          <p:cNvSpPr/>
          <p:nvPr/>
        </p:nvSpPr>
        <p:spPr>
          <a:xfrm>
            <a:off x="7360920" y="306324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Week 5-6</a:t>
            </a:r>
            <a:endParaRPr lang="en-US" sz="1400" dirty="0"/>
          </a:p>
        </p:txBody>
      </p:sp>
      <p:sp>
        <p:nvSpPr>
          <p:cNvPr id="26" name="Text 24"/>
          <p:cNvSpPr/>
          <p:nvPr/>
        </p:nvSpPr>
        <p:spPr>
          <a:xfrm>
            <a:off x="7406640" y="347472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Add conflict-of-interest detector (institutional + co-authorship) · automated regression tests</a:t>
            </a:r>
            <a:endParaRPr lang="en-US" sz="1100" dirty="0"/>
          </a:p>
        </p:txBody>
      </p:sp>
      <p:sp>
        <p:nvSpPr>
          <p:cNvPr id="27" name="Shape 25"/>
          <p:cNvSpPr/>
          <p:nvPr/>
        </p:nvSpPr>
        <p:spPr>
          <a:xfrm>
            <a:off x="10172700" y="1783080"/>
            <a:ext cx="1097280" cy="1097280"/>
          </a:xfrm>
          <a:prstGeom prst="ellipse">
            <a:avLst/>
          </a:prstGeom>
          <a:solidFill>
            <a:srgbClr val="1E2761"/>
          </a:solidFill>
          <a:ln/>
        </p:spPr>
      </p:sp>
      <p:sp>
        <p:nvSpPr>
          <p:cNvPr id="28" name="Text 26"/>
          <p:cNvSpPr/>
          <p:nvPr/>
        </p:nvSpPr>
        <p:spPr>
          <a:xfrm>
            <a:off x="10172700" y="178308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29" name="Text 27"/>
          <p:cNvSpPr/>
          <p:nvPr/>
        </p:nvSpPr>
        <p:spPr>
          <a:xfrm>
            <a:off x="9601200" y="3063240"/>
            <a:ext cx="2240280" cy="365760"/>
          </a:xfrm>
          <a:prstGeom prst="rect">
            <a:avLst/>
          </a:prstGeom>
          <a:noFill/>
          <a:ln/>
        </p:spPr>
        <p:txBody>
          <a:bodyPr wrap="square" lIns="0" tIns="0" rIns="0" bIns="0" rtlCol="0" anchor="ctr"/>
          <a:lstStyle/>
          <a:p>
            <a:pPr algn="ctr" indent="0" marL="0">
              <a:buNone/>
            </a:pPr>
            <a:r>
              <a:rPr lang="en-US" sz="1400" b="1" dirty="0">
                <a:solidFill>
                  <a:srgbClr val="0F1538"/>
                </a:solidFill>
                <a:latin typeface="Calibri" pitchFamily="34" charset="0"/>
                <a:ea typeface="Calibri" pitchFamily="34" charset="-122"/>
                <a:cs typeface="Calibri" pitchFamily="34" charset="-120"/>
              </a:rPr>
              <a:t>Submission</a:t>
            </a:r>
            <a:endParaRPr lang="en-US" sz="1400" dirty="0"/>
          </a:p>
        </p:txBody>
      </p:sp>
      <p:sp>
        <p:nvSpPr>
          <p:cNvPr id="30" name="Text 28"/>
          <p:cNvSpPr/>
          <p:nvPr/>
        </p:nvSpPr>
        <p:spPr>
          <a:xfrm>
            <a:off x="9646920" y="3474720"/>
            <a:ext cx="2148840" cy="2377440"/>
          </a:xfrm>
          <a:prstGeom prst="rect">
            <a:avLst/>
          </a:prstGeom>
          <a:noFill/>
          <a:ln/>
        </p:spPr>
        <p:txBody>
          <a:bodyPr wrap="square" lIns="0" tIns="0" rIns="0" bIns="0" rtlCol="0" anchor="ctr"/>
          <a:lstStyle/>
          <a:p>
            <a:pPr algn="ctr" indent="0" marL="0">
              <a:buNone/>
            </a:pPr>
            <a:r>
              <a:rPr lang="en-US" sz="1100" dirty="0">
                <a:solidFill>
                  <a:srgbClr val="5C6488"/>
                </a:solidFill>
                <a:latin typeface="Calibri" pitchFamily="34" charset="0"/>
                <a:ea typeface="Calibri" pitchFamily="34" charset="-122"/>
                <a:cs typeface="Calibri" pitchFamily="34" charset="-120"/>
              </a:rPr>
              <a:t>Small user study comparing reviewer thoroughness with versus without the AI draft helper</a:t>
            </a:r>
            <a:endParaRPr lang="en-US" sz="1100" dirty="0"/>
          </a:p>
        </p:txBody>
      </p:sp>
      <p:sp>
        <p:nvSpPr>
          <p:cNvPr id="31" name="Shape 29"/>
          <p:cNvSpPr/>
          <p:nvPr/>
        </p:nvSpPr>
        <p:spPr>
          <a:xfrm>
            <a:off x="548640" y="5486400"/>
            <a:ext cx="11064240" cy="502920"/>
          </a:xfrm>
          <a:prstGeom prst="rect">
            <a:avLst/>
          </a:prstGeom>
          <a:solidFill>
            <a:srgbClr val="CADCFC"/>
          </a:solidFill>
          <a:ln/>
        </p:spPr>
      </p:sp>
      <p:sp>
        <p:nvSpPr>
          <p:cNvPr id="32" name="Text 30"/>
          <p:cNvSpPr/>
          <p:nvPr/>
        </p:nvSpPr>
        <p:spPr>
          <a:xfrm>
            <a:off x="777240" y="548640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33" name="Text 31"/>
          <p:cNvSpPr/>
          <p:nvPr/>
        </p:nvSpPr>
        <p:spPr>
          <a:xfrm>
            <a:off x="2331720" y="548640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Every next-phase experiment has the wiring already in place. The codebase is the platform, not the prototype.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548640" y="365760"/>
            <a:ext cx="9601200" cy="640080"/>
          </a:xfrm>
          <a:prstGeom prst="rect">
            <a:avLst/>
          </a:prstGeom>
          <a:noFill/>
          <a:ln/>
        </p:spPr>
        <p:txBody>
          <a:bodyPr wrap="square" lIns="0" tIns="0" rIns="0" bIns="0" rtlCol="0" anchor="ctr"/>
          <a:lstStyle/>
          <a:p>
            <a:pPr indent="0" marL="0">
              <a:buNone/>
            </a:pPr>
            <a:r>
              <a:rPr lang="en-US" sz="3000" b="1" dirty="0">
                <a:solidFill>
                  <a:srgbClr val="0F1538"/>
                </a:solidFill>
                <a:latin typeface="Georgia" pitchFamily="34" charset="0"/>
                <a:ea typeface="Georgia" pitchFamily="34" charset="-122"/>
                <a:cs typeface="Georgia" pitchFamily="34" charset="-120"/>
              </a:rPr>
              <a:t>Sources I cited</a:t>
            </a:r>
            <a:endParaRPr lang="en-US" sz="3000" dirty="0"/>
          </a:p>
        </p:txBody>
      </p:sp>
      <p:sp>
        <p:nvSpPr>
          <p:cNvPr id="4" name="Text 2"/>
          <p:cNvSpPr/>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C6488"/>
                </a:solidFill>
                <a:latin typeface="Calibri" pitchFamily="34" charset="0"/>
                <a:ea typeface="Calibri" pitchFamily="34" charset="-122"/>
                <a:cs typeface="Calibri" pitchFamily="34" charset="-120"/>
              </a:rPr>
              <a:t>Selected APA 7 references — full list in the appendix</a:t>
            </a:r>
            <a:endParaRPr lang="en-US" sz="1300" dirty="0"/>
          </a:p>
        </p:txBody>
      </p:sp>
      <p:sp>
        <p:nvSpPr>
          <p:cNvPr id="5" name="Shape 3"/>
          <p:cNvSpPr/>
          <p:nvPr/>
        </p:nvSpPr>
        <p:spPr>
          <a:xfrm>
            <a:off x="10500055" y="365760"/>
            <a:ext cx="1280160" cy="384048"/>
          </a:xfrm>
          <a:prstGeom prst="rect">
            <a:avLst/>
          </a:prstGeom>
          <a:solidFill>
            <a:srgbClr val="F4B942"/>
          </a:solidFill>
          <a:ln/>
        </p:spPr>
      </p:sp>
      <p:sp>
        <p:nvSpPr>
          <p:cNvPr id="6" name="Text 4"/>
          <p:cNvSpPr/>
          <p:nvPr/>
        </p:nvSpPr>
        <p:spPr>
          <a:xfrm>
            <a:off x="10500055" y="365760"/>
            <a:ext cx="1280160" cy="384048"/>
          </a:xfrm>
          <a:prstGeom prst="rect">
            <a:avLst/>
          </a:prstGeom>
          <a:noFill/>
          <a:ln/>
        </p:spPr>
        <p:txBody>
          <a:bodyPr wrap="square" lIns="0" tIns="0" rIns="0" bIns="0" rtlCol="0" anchor="ctr"/>
          <a:lstStyle/>
          <a:p>
            <a:pPr algn="ctr" indent="0" marL="0">
              <a:buNone/>
            </a:pPr>
            <a:r>
              <a:rPr lang="en-US" sz="1100" b="1" spc="200" kern="0" dirty="0">
                <a:solidFill>
                  <a:srgbClr val="141C49"/>
                </a:solidFill>
                <a:latin typeface="Calibri" pitchFamily="34" charset="0"/>
                <a:ea typeface="Calibri" pitchFamily="34" charset="-122"/>
                <a:cs typeface="Calibri" pitchFamily="34" charset="-120"/>
              </a:rPr>
              <a:t>TASK 7</a:t>
            </a:r>
            <a:endParaRPr lang="en-US" sz="1100" dirty="0"/>
          </a:p>
        </p:txBody>
      </p:sp>
      <p:sp>
        <p:nvSpPr>
          <p:cNvPr id="7" name="Shape 5"/>
          <p:cNvSpPr/>
          <p:nvPr/>
        </p:nvSpPr>
        <p:spPr>
          <a:xfrm>
            <a:off x="548640" y="1554480"/>
            <a:ext cx="365760" cy="365760"/>
          </a:xfrm>
          <a:prstGeom prst="ellipse">
            <a:avLst/>
          </a:prstGeom>
          <a:solidFill>
            <a:srgbClr val="1E2761"/>
          </a:solidFill>
          <a:ln/>
        </p:spPr>
      </p:sp>
      <p:sp>
        <p:nvSpPr>
          <p:cNvPr id="8" name="Text 6"/>
          <p:cNvSpPr/>
          <p:nvPr/>
        </p:nvSpPr>
        <p:spPr>
          <a:xfrm>
            <a:off x="548640" y="1554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51560" y="150876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Anthropic. (2025). Claude documentation. https://docs.claude.com</a:t>
            </a:r>
            <a:endParaRPr lang="en-US" sz="1100" dirty="0"/>
          </a:p>
        </p:txBody>
      </p:sp>
      <p:sp>
        <p:nvSpPr>
          <p:cNvPr id="10" name="Shape 8"/>
          <p:cNvSpPr/>
          <p:nvPr/>
        </p:nvSpPr>
        <p:spPr>
          <a:xfrm>
            <a:off x="548640" y="2103120"/>
            <a:ext cx="365760" cy="365760"/>
          </a:xfrm>
          <a:prstGeom prst="ellipse">
            <a:avLst/>
          </a:prstGeom>
          <a:solidFill>
            <a:srgbClr val="1E2761"/>
          </a:solidFill>
          <a:ln/>
        </p:spPr>
      </p:sp>
      <p:sp>
        <p:nvSpPr>
          <p:cNvPr id="11" name="Text 9"/>
          <p:cNvSpPr/>
          <p:nvPr/>
        </p:nvSpPr>
        <p:spPr>
          <a:xfrm>
            <a:off x="548640"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51560" y="205740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Bender, E. M., Gebru, T., McMillan-Major, A., &amp; Shmitchell, S. (2021). On the dangers of stochastic parrots. FAccT '21, 610-623.</a:t>
            </a:r>
            <a:endParaRPr lang="en-US" sz="1100" dirty="0"/>
          </a:p>
        </p:txBody>
      </p:sp>
      <p:sp>
        <p:nvSpPr>
          <p:cNvPr id="13" name="Shape 11"/>
          <p:cNvSpPr/>
          <p:nvPr/>
        </p:nvSpPr>
        <p:spPr>
          <a:xfrm>
            <a:off x="548640" y="2651760"/>
            <a:ext cx="365760" cy="365760"/>
          </a:xfrm>
          <a:prstGeom prst="ellipse">
            <a:avLst/>
          </a:prstGeom>
          <a:solidFill>
            <a:srgbClr val="1E2761"/>
          </a:solidFill>
          <a:ln/>
        </p:spPr>
      </p:sp>
      <p:sp>
        <p:nvSpPr>
          <p:cNvPr id="14" name="Text 12"/>
          <p:cNvSpPr/>
          <p:nvPr/>
        </p:nvSpPr>
        <p:spPr>
          <a:xfrm>
            <a:off x="548640" y="26517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51560" y="260604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Brown, T. B., et al. (2020). Language models are few-shot learners. NeurIPS, 33, 1877-1901.</a:t>
            </a:r>
            <a:endParaRPr lang="en-US" sz="1100" dirty="0"/>
          </a:p>
        </p:txBody>
      </p:sp>
      <p:sp>
        <p:nvSpPr>
          <p:cNvPr id="16" name="Shape 14"/>
          <p:cNvSpPr/>
          <p:nvPr/>
        </p:nvSpPr>
        <p:spPr>
          <a:xfrm>
            <a:off x="548640" y="3200400"/>
            <a:ext cx="365760" cy="365760"/>
          </a:xfrm>
          <a:prstGeom prst="ellipse">
            <a:avLst/>
          </a:prstGeom>
          <a:solidFill>
            <a:srgbClr val="1E2761"/>
          </a:solidFill>
          <a:ln/>
        </p:spPr>
      </p:sp>
      <p:sp>
        <p:nvSpPr>
          <p:cNvPr id="17" name="Text 15"/>
          <p:cNvSpPr/>
          <p:nvPr/>
        </p:nvSpPr>
        <p:spPr>
          <a:xfrm>
            <a:off x="548640" y="3200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51560" y="315468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Liang, W., Yuksekgonul, M., Mao, Y., Wu, E., &amp; Zou, J. (2023). GPT detectors are biased against non-native English writers. Patterns, 4(7), 100779.</a:t>
            </a:r>
            <a:endParaRPr lang="en-US" sz="1100" dirty="0"/>
          </a:p>
        </p:txBody>
      </p:sp>
      <p:sp>
        <p:nvSpPr>
          <p:cNvPr id="19" name="Shape 17"/>
          <p:cNvSpPr/>
          <p:nvPr/>
        </p:nvSpPr>
        <p:spPr>
          <a:xfrm>
            <a:off x="548640" y="3749040"/>
            <a:ext cx="365760" cy="365760"/>
          </a:xfrm>
          <a:prstGeom prst="ellipse">
            <a:avLst/>
          </a:prstGeom>
          <a:solidFill>
            <a:srgbClr val="1E2761"/>
          </a:solidFill>
          <a:ln/>
        </p:spPr>
      </p:sp>
      <p:sp>
        <p:nvSpPr>
          <p:cNvPr id="20" name="Text 18"/>
          <p:cNvSpPr/>
          <p:nvPr/>
        </p:nvSpPr>
        <p:spPr>
          <a:xfrm>
            <a:off x="548640" y="3749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051560" y="370332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Reimers, N., &amp; Gurevych, I. (2019). Sentence-BERT: Sentence embeddings using Siamese BERT-networks. EMNLP-IJCNLP, 3982-3992.</a:t>
            </a:r>
            <a:endParaRPr lang="en-US" sz="1100" dirty="0"/>
          </a:p>
        </p:txBody>
      </p:sp>
      <p:sp>
        <p:nvSpPr>
          <p:cNvPr id="22" name="Shape 20"/>
          <p:cNvSpPr/>
          <p:nvPr/>
        </p:nvSpPr>
        <p:spPr>
          <a:xfrm>
            <a:off x="548640" y="4297680"/>
            <a:ext cx="365760" cy="365760"/>
          </a:xfrm>
          <a:prstGeom prst="ellipse">
            <a:avLst/>
          </a:prstGeom>
          <a:solidFill>
            <a:srgbClr val="1E2761"/>
          </a:solidFill>
          <a:ln/>
        </p:spPr>
      </p:sp>
      <p:sp>
        <p:nvSpPr>
          <p:cNvPr id="23" name="Text 21"/>
          <p:cNvSpPr/>
          <p:nvPr/>
        </p:nvSpPr>
        <p:spPr>
          <a:xfrm>
            <a:off x="54864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p:nvPr/>
        </p:nvSpPr>
        <p:spPr>
          <a:xfrm>
            <a:off x="1051560" y="425196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Salton, G., &amp; Buckley, C. (1988). Term-weighting approaches in automatic text retrieval. Information Processing &amp; Management, 24(5), 513-523.</a:t>
            </a:r>
            <a:endParaRPr lang="en-US" sz="1100" dirty="0"/>
          </a:p>
        </p:txBody>
      </p:sp>
      <p:sp>
        <p:nvSpPr>
          <p:cNvPr id="25" name="Shape 23"/>
          <p:cNvSpPr/>
          <p:nvPr/>
        </p:nvSpPr>
        <p:spPr>
          <a:xfrm>
            <a:off x="548640" y="4846320"/>
            <a:ext cx="365760" cy="365760"/>
          </a:xfrm>
          <a:prstGeom prst="ellipse">
            <a:avLst/>
          </a:prstGeom>
          <a:solidFill>
            <a:srgbClr val="1E2761"/>
          </a:solidFill>
          <a:ln/>
        </p:spPr>
      </p:sp>
      <p:sp>
        <p:nvSpPr>
          <p:cNvPr id="26" name="Text 24"/>
          <p:cNvSpPr/>
          <p:nvPr/>
        </p:nvSpPr>
        <p:spPr>
          <a:xfrm>
            <a:off x="548640" y="4846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7" name="Text 25"/>
          <p:cNvSpPr/>
          <p:nvPr/>
        </p:nvSpPr>
        <p:spPr>
          <a:xfrm>
            <a:off x="1051560" y="480060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Vaswani, A., et al. (2017). Attention is all you need. NeurIPS, 30.</a:t>
            </a:r>
            <a:endParaRPr lang="en-US" sz="1100" dirty="0"/>
          </a:p>
        </p:txBody>
      </p:sp>
      <p:sp>
        <p:nvSpPr>
          <p:cNvPr id="28" name="Shape 26"/>
          <p:cNvSpPr/>
          <p:nvPr/>
        </p:nvSpPr>
        <p:spPr>
          <a:xfrm>
            <a:off x="548640" y="5394960"/>
            <a:ext cx="365760" cy="365760"/>
          </a:xfrm>
          <a:prstGeom prst="ellipse">
            <a:avLst/>
          </a:prstGeom>
          <a:solidFill>
            <a:srgbClr val="1E2761"/>
          </a:solidFill>
          <a:ln/>
        </p:spPr>
      </p:sp>
      <p:sp>
        <p:nvSpPr>
          <p:cNvPr id="29" name="Text 27"/>
          <p:cNvSpPr/>
          <p:nvPr/>
        </p:nvSpPr>
        <p:spPr>
          <a:xfrm>
            <a:off x="548640" y="5394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0" name="Text 28"/>
          <p:cNvSpPr/>
          <p:nvPr/>
        </p:nvSpPr>
        <p:spPr>
          <a:xfrm>
            <a:off x="1051560" y="5349240"/>
            <a:ext cx="10515600" cy="502920"/>
          </a:xfrm>
          <a:prstGeom prst="rect">
            <a:avLst/>
          </a:prstGeom>
          <a:noFill/>
          <a:ln/>
        </p:spPr>
        <p:txBody>
          <a:bodyPr wrap="square" lIns="0" tIns="0" rIns="0" bIns="0" rtlCol="0" anchor="ctr"/>
          <a:lstStyle/>
          <a:p>
            <a:pPr indent="0" marL="0">
              <a:buNone/>
            </a:pPr>
            <a:r>
              <a:rPr lang="en-US" sz="1100" dirty="0">
                <a:solidFill>
                  <a:srgbClr val="0F1538"/>
                </a:solidFill>
                <a:latin typeface="Calibri" pitchFamily="34" charset="0"/>
                <a:ea typeface="Calibri" pitchFamily="34" charset="-122"/>
                <a:cs typeface="Calibri" pitchFamily="34" charset="-120"/>
              </a:rPr>
              <a:t>Weidinger, L., et al. (2022). Taxonomy of risks posed by language models. FAccT '22, 214-229.</a:t>
            </a:r>
            <a:endParaRPr lang="en-US" sz="1100" dirty="0"/>
          </a:p>
        </p:txBody>
      </p:sp>
      <p:sp>
        <p:nvSpPr>
          <p:cNvPr id="31" name="Shape 29"/>
          <p:cNvSpPr/>
          <p:nvPr/>
        </p:nvSpPr>
        <p:spPr>
          <a:xfrm>
            <a:off x="548640" y="5989320"/>
            <a:ext cx="11064240" cy="502920"/>
          </a:xfrm>
          <a:prstGeom prst="rect">
            <a:avLst/>
          </a:prstGeom>
          <a:solidFill>
            <a:srgbClr val="CADCFC"/>
          </a:solidFill>
          <a:ln/>
        </p:spPr>
      </p:sp>
      <p:sp>
        <p:nvSpPr>
          <p:cNvPr id="32" name="Text 30"/>
          <p:cNvSpPr/>
          <p:nvPr/>
        </p:nvSpPr>
        <p:spPr>
          <a:xfrm>
            <a:off x="777240" y="5989320"/>
            <a:ext cx="1463040" cy="502920"/>
          </a:xfrm>
          <a:prstGeom prst="rect">
            <a:avLst/>
          </a:prstGeom>
          <a:noFill/>
          <a:ln/>
        </p:spPr>
        <p:txBody>
          <a:bodyPr wrap="square" lIns="0" tIns="0" rIns="0" bIns="0" rtlCol="0" anchor="ctr"/>
          <a:lstStyle/>
          <a:p>
            <a:pPr indent="0" marL="0">
              <a:buNone/>
            </a:pPr>
            <a:r>
              <a:rPr lang="en-US" sz="900" b="1" spc="200" kern="0" dirty="0">
                <a:solidFill>
                  <a:srgbClr val="1E2761"/>
                </a:solidFill>
                <a:latin typeface="Calibri" pitchFamily="34" charset="0"/>
                <a:ea typeface="Calibri" pitchFamily="34" charset="-122"/>
                <a:cs typeface="Calibri" pitchFamily="34" charset="-120"/>
              </a:rPr>
              <a:t>In plain English</a:t>
            </a:r>
            <a:endParaRPr lang="en-US" sz="900" dirty="0"/>
          </a:p>
        </p:txBody>
      </p:sp>
      <p:sp>
        <p:nvSpPr>
          <p:cNvPr id="33" name="Text 31"/>
          <p:cNvSpPr/>
          <p:nvPr/>
        </p:nvSpPr>
        <p:spPr>
          <a:xfrm>
            <a:off x="2331720" y="5989320"/>
            <a:ext cx="9144000" cy="502920"/>
          </a:xfrm>
          <a:prstGeom prst="rect">
            <a:avLst/>
          </a:prstGeom>
          <a:noFill/>
          <a:ln/>
        </p:spPr>
        <p:txBody>
          <a:bodyPr wrap="square" lIns="0" tIns="0" rIns="0" bIns="0" rtlCol="0" anchor="ctr"/>
          <a:lstStyle/>
          <a:p>
            <a:pPr indent="0" marL="0">
              <a:buNone/>
            </a:pPr>
            <a:r>
              <a:rPr lang="en-US" sz="1100" i="1" dirty="0">
                <a:solidFill>
                  <a:srgbClr val="141C49"/>
                </a:solidFill>
                <a:latin typeface="Calibri" pitchFamily="34" charset="0"/>
                <a:ea typeface="Calibri" pitchFamily="34" charset="-122"/>
                <a:cs typeface="Calibri" pitchFamily="34" charset="-120"/>
              </a:rPr>
              <a:t>Eight foundational papers covering transformers, embeddings, AI bias, and the limits of AI-text detection.</a:t>
            </a:r>
            <a:endParaRPr lang="en-US" sz="1100" dirty="0"/>
          </a:p>
        </p:txBody>
      </p:sp>
      <p:sp>
        <p:nvSpPr>
          <p:cNvPr id="34" name="Text 32"/>
          <p:cNvSpPr/>
          <p:nvPr/>
        </p:nvSpPr>
        <p:spPr>
          <a:xfrm>
            <a:off x="548640" y="6492240"/>
            <a:ext cx="8229600" cy="274320"/>
          </a:xfrm>
          <a:prstGeom prst="rect">
            <a:avLst/>
          </a:prstGeom>
          <a:noFill/>
          <a:ln/>
        </p:spPr>
        <p:txBody>
          <a:bodyPr wrap="square" lIns="0" tIns="0" rIns="0" bIns="0" rtlCol="0" anchor="ctr"/>
          <a:lstStyle/>
          <a:p>
            <a:pPr indent="0" marL="0">
              <a:buNone/>
            </a:pPr>
            <a:r>
              <a:rPr lang="en-US" sz="1000" dirty="0">
                <a:solidFill>
                  <a:srgbClr val="5C6488"/>
                </a:solidFill>
                <a:latin typeface="Calibri" pitchFamily="34" charset="0"/>
                <a:ea typeface="Calibri" pitchFamily="34" charset="-122"/>
                <a:cs typeface="Calibri" pitchFamily="34" charset="-120"/>
              </a:rPr>
              <a:t>Bhanu Gupta · GenAI Assessment</a:t>
            </a:r>
            <a:endParaRPr lang="en-US" sz="1000" dirty="0"/>
          </a:p>
        </p:txBody>
      </p:sp>
      <p:sp>
        <p:nvSpPr>
          <p:cNvPr id="35" name="Text 33"/>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1000" dirty="0">
                <a:solidFill>
                  <a:srgbClr val="5C648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2377440"/>
            <a:ext cx="457200" cy="73152"/>
          </a:xfrm>
          <a:prstGeom prst="rect">
            <a:avLst/>
          </a:prstGeom>
          <a:solidFill>
            <a:srgbClr val="F4B942"/>
          </a:solidFill>
          <a:ln/>
        </p:spPr>
      </p:sp>
      <p:sp>
        <p:nvSpPr>
          <p:cNvPr id="3" name="Text 1"/>
          <p:cNvSpPr/>
          <p:nvPr/>
        </p:nvSpPr>
        <p:spPr>
          <a:xfrm>
            <a:off x="548640" y="2560320"/>
            <a:ext cx="10972800" cy="548640"/>
          </a:xfrm>
          <a:prstGeom prst="rect">
            <a:avLst/>
          </a:prstGeom>
          <a:noFill/>
          <a:ln/>
        </p:spPr>
        <p:txBody>
          <a:bodyPr wrap="square" lIns="0" tIns="0" rIns="0" bIns="0" rtlCol="0" anchor="ctr"/>
          <a:lstStyle/>
          <a:p>
            <a:pPr indent="0" marL="0">
              <a:buNone/>
            </a:pPr>
            <a:r>
              <a:rPr lang="en-US" sz="1600" b="1" spc="800" kern="0" dirty="0">
                <a:solidFill>
                  <a:srgbClr val="CADCFC"/>
                </a:solidFill>
                <a:latin typeface="Calibri" pitchFamily="34" charset="0"/>
                <a:ea typeface="Calibri" pitchFamily="34" charset="-122"/>
                <a:cs typeface="Calibri" pitchFamily="34" charset="-120"/>
              </a:rPr>
              <a:t>THANK YOU</a:t>
            </a:r>
            <a:endParaRPr lang="en-US" sz="1600" dirty="0"/>
          </a:p>
        </p:txBody>
      </p:sp>
      <p:sp>
        <p:nvSpPr>
          <p:cNvPr id="4" name="Text 2"/>
          <p:cNvSpPr/>
          <p:nvPr/>
        </p:nvSpPr>
        <p:spPr>
          <a:xfrm>
            <a:off x="548640" y="3108960"/>
            <a:ext cx="10972800" cy="164592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Questions, suggestions, or</a:t>
            </a:r>
            <a:endParaRPr lang="en-US" sz="4800" dirty="0"/>
          </a:p>
          <a:p>
            <a:pPr indent="0" marL="0">
              <a:buNone/>
            </a:pPr>
            <a:r>
              <a:rPr lang="en-US" sz="4800" b="1" dirty="0">
                <a:solidFill>
                  <a:srgbClr val="FFFFFF"/>
                </a:solidFill>
                <a:latin typeface="Georgia" pitchFamily="34" charset="0"/>
                <a:ea typeface="Georgia" pitchFamily="34" charset="-122"/>
                <a:cs typeface="Georgia" pitchFamily="34" charset="-120"/>
              </a:rPr>
              <a:t>budget approvals welcome.</a:t>
            </a:r>
            <a:endParaRPr lang="en-US" sz="4800" dirty="0"/>
          </a:p>
        </p:txBody>
      </p:sp>
      <p:sp>
        <p:nvSpPr>
          <p:cNvPr id="5" name="Text 3"/>
          <p:cNvSpPr/>
          <p:nvPr/>
        </p:nvSpPr>
        <p:spPr>
          <a:xfrm>
            <a:off x="548640" y="5212080"/>
            <a:ext cx="10972800" cy="457200"/>
          </a:xfrm>
          <a:prstGeom prst="rect">
            <a:avLst/>
          </a:prstGeom>
          <a:noFill/>
          <a:ln/>
        </p:spPr>
        <p:txBody>
          <a:bodyPr wrap="square" lIns="0" tIns="0" rIns="0" bIns="0" rtlCol="0" anchor="ctr"/>
          <a:lstStyle/>
          <a:p>
            <a:pPr indent="0" marL="0">
              <a:buNone/>
            </a:pPr>
            <a:r>
              <a:rPr lang="en-US" sz="1800" b="1" dirty="0">
                <a:solidFill>
                  <a:srgbClr val="CADCFC"/>
                </a:solidFill>
                <a:latin typeface="Calibri" pitchFamily="34" charset="0"/>
                <a:ea typeface="Calibri" pitchFamily="34" charset="-122"/>
                <a:cs typeface="Calibri" pitchFamily="34" charset="-120"/>
              </a:rPr>
              <a:t>Bhanu Gupta</a:t>
            </a:r>
            <a:endParaRPr lang="en-US" sz="1800" dirty="0"/>
          </a:p>
        </p:txBody>
      </p:sp>
      <p:sp>
        <p:nvSpPr>
          <p:cNvPr id="6" name="Text 4"/>
          <p:cNvSpPr/>
          <p:nvPr/>
        </p:nvSpPr>
        <p:spPr>
          <a:xfrm>
            <a:off x="548640" y="5623560"/>
            <a:ext cx="1097280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IA730151 Year Three Special Topic (GenAI)</a:t>
            </a:r>
            <a:endParaRPr lang="en-US" sz="1200" dirty="0"/>
          </a:p>
        </p:txBody>
      </p:sp>
      <p:sp>
        <p:nvSpPr>
          <p:cNvPr id="7" name="Shape 5"/>
          <p:cNvSpPr/>
          <p:nvPr/>
        </p:nvSpPr>
        <p:spPr>
          <a:xfrm>
            <a:off x="10728655" y="548640"/>
            <a:ext cx="822960" cy="822960"/>
          </a:xfrm>
          <a:prstGeom prst="ellipse">
            <a:avLst/>
          </a:prstGeom>
          <a:solidFill>
            <a:srgbClr val="141C49"/>
          </a:solidFill>
          <a:ln w="12700">
            <a:solidFill>
              <a:srgbClr val="F4B942"/>
            </a:solidFill>
            <a:prstDash val="solid"/>
          </a:ln>
        </p:spPr>
      </p:sp>
      <p:pic>
        <p:nvPicPr>
          <p:cNvPr id="8" name="Image 0" descr="preencoded.png">    </p:cNvPr>
          <p:cNvPicPr>
            <a:picLocks noChangeAspect="1"/>
          </p:cNvPicPr>
          <p:nvPr/>
        </p:nvPicPr>
        <p:blipFill>
          <a:blip r:embed="rId1"/>
          <a:stretch>
            <a:fillRect/>
          </a:stretch>
        </p:blipFill>
        <p:spPr>
          <a:xfrm>
            <a:off x="10911535" y="731520"/>
            <a:ext cx="45720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AI-augmented Paper Submission System</dc:title>
  <dc:subject>PptxGenJS Presentation</dc:subject>
  <dc:creator>Bhanu Gupta</dc:creator>
  <cp:lastModifiedBy>Bhanu Gupta</cp:lastModifiedBy>
  <cp:revision>1</cp:revision>
  <dcterms:created xsi:type="dcterms:W3CDTF">2026-05-06T21:11:47Z</dcterms:created>
  <dcterms:modified xsi:type="dcterms:W3CDTF">2026-05-06T21:11:47Z</dcterms:modified>
</cp:coreProperties>
</file>