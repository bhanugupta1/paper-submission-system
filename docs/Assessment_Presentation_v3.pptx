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015" autoAdjust="0"/>
  </p:normalViewPr>
  <p:slideViewPr>
    <p:cSldViewPr snapToGrid="0" snapToObjects="1">
      <p:cViewPr varScale="1">
        <p:scale>
          <a:sx n="77" d="100"/>
          <a:sy n="77" d="100"/>
        </p:scale>
        <p:origin x="88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9444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Quick context, I had this paper submission system from a previous course. Worked, but it was basic. Now I am rebuilding it with GenAI features and treating it like something a real conference might actually use. The deck maps directly to the eight assessment tasks. Each slide has a TASK label in the top right corner.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part one. Original project was a peer-review system from my previous course. Three roles plus a public reader. Goal was to demonstrate full-stack CRUD with role-based access. Built with Node and SQLite. End result was a working five-role system with seven sample manuscripts and five reviews. It worked, but only barely.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part two. Six things that bothered me. Auth held together with tape. Math.random reviewer assignment, which is absurd. No plagiarism check. Reviews were one giant text box. No author tooling. No tests, no Docker. Each gap maps directly to something AI can fix, which sets up Task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new scope is straightforward, turn the CRUD tracker into a decision-support platform that helps authors, editors, and reviewers do their jobs better. Five business questions drive the work. Q1 is author feedback before submission. Q2 is semantic reviewer matching. Q3 is integrity screening. Q4 is structured reviews. Q5 is keeping it free today but upgradeable tomorrow. Every feature in this deck answers one of these five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GenAI breaks into three columns. Concepts on the left, the ideas. Models in the middle, the actual products. Techniques on the right, how you combine them in practice. The key insight, two of my four features need real generation so they use language models. Two need retrieval and matching, which TF-IDF handles fine at this scale. The provider abstraction at the bottom right is what lets me swap heuristic for Claude with one config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continued. Four features, each tagged with the business question it answers. Q1 author writing assistant. Q2 smart reviewer matching. Q3 plagiarism and AI-text flag. Q4 AI reviewer assistant. Two use language models, two use embeddings. The clean question-to-feature mapping is what makes this defensible to an examiner.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continued, the architecture. Browser talks to Express, Express talks to controllers and services. Five services, three of them use TF-IDF or stylometry, two use the LLM provider switch. The switch is the most important architectural decision. By default everything runs locally, no API key, costs zero. Flip one env variable and it talks to Claude. Same code. Every AI call gets logged for the ethics conversation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Green is fully working today, you can run it now. Yellow is scaffolded, the wiring is there, just needs the API key turned on. Navy is planned for Assessment 2. So matching, plagiarism, AI-text flag are running. Claude integration is one line of config away. Sentence transformers and the user study are next term.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part one. Three tools chosen for the actual runtime. Claude for the writing tasks because it produces the most reliable structured output. TF-IDF for matching because it is free, deterministic, and explainable, which matters for the ethics story. Sentence-transformers as the next-term upgrade when TF-IDF stops being enough. The selection is cost-aware on purpose, the system has to work with no budget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part two, declared per the AI Use Guideline. This is how I built it, not what runs inside it. Claude is the main coding partner. Whisper Flow lets me prompt by voice, way faster than typing. Cursor handles inline edits. ChatGPT for sanity checks, Copilot for boring code, Excalidraw for diagrams. The point is, this is not a thing I built in a week. It is a thing I built in days because I knew which AI tools to chain together. Disclosure required by the assessment.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5. Four ethics axes the rubric calls out specifically. Bias, models inherit bias from training data, mitigated by editor override and an audit trail. Privacy, only the abstract ever leaves the machine, and only when Claude is enabled. Accountability, AI drafts and humans submit, the reviewer is still on the hook. Reliability, the AI-text score is a flag, not a verdict. Real detectors fail on non-native English speakers. We say so in the UI.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6. Three columns. Enhances, what GenAI clearly improves, topical matching, pre-submission feedback, structured reviews, richer reader feed. Complements, where AI and humans share the work, drafts and signals from AI, decisions from humans, audit trail across both. Challenges, the honest risks, AI-text detectors fail on non-native speakers, LLM bias toward mainstream traditions, homogenisation of writing style, and cost at scale. The point is being clear-eyed about what GenAI changes and what it does not.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demo plan. Author submits a paper, three AI buttons sit next to the abstract. Editor sees AI-ranked reviewers with scores and can override. Reviewer hits Generate AI draft to start. Reader gets a public newspaper-style feed. All running locally, all five roles accessible with the demo accounts on the right. Same password for everyone, Password123!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Now we have the platform. Next two weeks I activate Claude and benchmark it against the heuristic. Then upgrade matching to sentence transformers. Then add a conflict-of-interest detector. By submission, a small user study comparing reviewer thoroughness with and without AI assistance.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7. Eight key sources. Vaswani 2017 is the original transformer paper. Brown 2020 is GPT-3, the paper that made few-shot learning real. Reimers and Gurevych is sentence-BERT, the basis of modern embedding models. Salton 1988 is TF-IDF, the technique I use for matching today. Bender 2021 and Weidinger 2022 are the canonical bias and risk taxonomy papers. Liang 2023 is the one that matters most for ethics, GPT detectors are biased against non-native English writers. Anthropic is the model documentation. Full reference list with in-text citations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Questions welcome. I'd rather get picked apart now than write a v3 with the same gaps.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2286000"/>
            <a:ext cx="457200" cy="73152"/>
          </a:xfrm>
          <a:prstGeom prst="rect">
            <a:avLst/>
          </a:prstGeom>
          <a:solidFill>
            <a:srgbClr val="F4B942"/>
          </a:solidFill>
          <a:ln/>
        </p:spPr>
        <p:txBody>
          <a:bodyPr/>
          <a:lstStyle/>
          <a:p>
            <a:endParaRPr lang="en-US"/>
          </a:p>
        </p:txBody>
      </p:sp>
      <p:sp>
        <p:nvSpPr>
          <p:cNvPr id="3" name="Text 1"/>
          <p:cNvSpPr/>
          <p:nvPr/>
        </p:nvSpPr>
        <p:spPr>
          <a:xfrm>
            <a:off x="548640" y="2468880"/>
            <a:ext cx="10972800" cy="548640"/>
          </a:xfrm>
          <a:prstGeom prst="rect">
            <a:avLst/>
          </a:prstGeom>
          <a:noFill/>
          <a:ln/>
        </p:spPr>
        <p:txBody>
          <a:bodyPr wrap="square" lIns="0" tIns="0" rIns="0" bIns="0" rtlCol="0" anchor="ctr"/>
          <a:lstStyle/>
          <a:p>
            <a:pPr marL="0" indent="0">
              <a:buNone/>
            </a:pPr>
            <a:r>
              <a:rPr lang="en-US" sz="1800" b="1" kern="0" spc="800" dirty="0">
                <a:solidFill>
                  <a:srgbClr val="CADCFC"/>
                </a:solidFill>
                <a:latin typeface="Calibri" pitchFamily="34" charset="0"/>
                <a:ea typeface="Calibri" pitchFamily="34" charset="-122"/>
                <a:cs typeface="Calibri" pitchFamily="34" charset="-120"/>
              </a:rPr>
              <a:t>AI-AUGMENTED</a:t>
            </a:r>
            <a:endParaRPr lang="en-US" sz="1800" dirty="0"/>
          </a:p>
        </p:txBody>
      </p:sp>
      <p:sp>
        <p:nvSpPr>
          <p:cNvPr id="4" name="Text 2"/>
          <p:cNvSpPr/>
          <p:nvPr/>
        </p:nvSpPr>
        <p:spPr>
          <a:xfrm>
            <a:off x="548640" y="2926080"/>
            <a:ext cx="109728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Paper Submission</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&amp; Peer-Review System</a:t>
            </a:r>
            <a:endParaRPr lang="en-US" sz="5600" dirty="0"/>
          </a:p>
        </p:txBody>
      </p:sp>
      <p:sp>
        <p:nvSpPr>
          <p:cNvPr id="5" name="Text 3"/>
          <p:cNvSpPr/>
          <p:nvPr/>
        </p:nvSpPr>
        <p:spPr>
          <a:xfrm>
            <a:off x="548640" y="4754880"/>
            <a:ext cx="10972800" cy="4572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Reimagining a course project with Generative AI</a:t>
            </a:r>
            <a:endParaRPr lang="en-US" sz="1800" dirty="0"/>
          </a:p>
        </p:txBody>
      </p:sp>
      <p:sp>
        <p:nvSpPr>
          <p:cNvPr id="6" name="Text 4"/>
          <p:cNvSpPr/>
          <p:nvPr/>
        </p:nvSpPr>
        <p:spPr>
          <a:xfrm>
            <a:off x="548640" y="5852160"/>
            <a:ext cx="5486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Bhanu Gupta</a:t>
            </a:r>
            <a:endParaRPr lang="en-US" sz="1600" dirty="0"/>
          </a:p>
        </p:txBody>
      </p:sp>
      <p:sp>
        <p:nvSpPr>
          <p:cNvPr id="7" name="Text 5"/>
          <p:cNvSpPr/>
          <p:nvPr/>
        </p:nvSpPr>
        <p:spPr>
          <a:xfrm>
            <a:off x="548640" y="6172200"/>
            <a:ext cx="91440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IA730151 Year Three Special Topic (GenAI)  ·  Assessment 1  ·  May 2026</a:t>
            </a:r>
            <a:endParaRPr lang="en-US" sz="1200" dirty="0"/>
          </a:p>
        </p:txBody>
      </p:sp>
      <p:sp>
        <p:nvSpPr>
          <p:cNvPr id="8" name="Shape 6"/>
          <p:cNvSpPr/>
          <p:nvPr/>
        </p:nvSpPr>
        <p:spPr>
          <a:xfrm>
            <a:off x="10728655" y="548640"/>
            <a:ext cx="822960" cy="822960"/>
          </a:xfrm>
          <a:prstGeom prst="ellipse">
            <a:avLst/>
          </a:prstGeom>
          <a:solidFill>
            <a:srgbClr val="141C49"/>
          </a:solidFill>
          <a:ln w="12700">
            <a:solidFill>
              <a:srgbClr val="F4B942"/>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911535" y="73152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The original project</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Context, objectives, methodology, results</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1</a:t>
            </a:r>
            <a:endParaRPr lang="en-US" sz="1100" dirty="0"/>
          </a:p>
        </p:txBody>
      </p:sp>
      <p:sp>
        <p:nvSpPr>
          <p:cNvPr id="7" name="Shape 5"/>
          <p:cNvSpPr/>
          <p:nvPr/>
        </p:nvSpPr>
        <p:spPr>
          <a:xfrm>
            <a:off x="548640" y="1554480"/>
            <a:ext cx="5440680" cy="228600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54480"/>
            <a:ext cx="73152" cy="2286000"/>
          </a:xfrm>
          <a:prstGeom prst="rect">
            <a:avLst/>
          </a:prstGeom>
          <a:solidFill>
            <a:srgbClr val="1E2761"/>
          </a:solidFill>
          <a:ln/>
        </p:spPr>
        <p:txBody>
          <a:bodyPr/>
          <a:lstStyle/>
          <a:p>
            <a:endParaRPr lang="en-US"/>
          </a:p>
        </p:txBody>
      </p:sp>
      <p:sp>
        <p:nvSpPr>
          <p:cNvPr id="9" name="Shape 7"/>
          <p:cNvSpPr/>
          <p:nvPr/>
        </p:nvSpPr>
        <p:spPr>
          <a:xfrm>
            <a:off x="822960" y="1874520"/>
            <a:ext cx="640080" cy="64008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50976" y="2002536"/>
            <a:ext cx="384048" cy="384048"/>
          </a:xfrm>
          <a:prstGeom prst="rect">
            <a:avLst/>
          </a:prstGeom>
        </p:spPr>
      </p:pic>
      <p:sp>
        <p:nvSpPr>
          <p:cNvPr id="11" name="Text 8"/>
          <p:cNvSpPr/>
          <p:nvPr/>
        </p:nvSpPr>
        <p:spPr>
          <a:xfrm>
            <a:off x="1645920" y="187452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Context</a:t>
            </a:r>
            <a:endParaRPr lang="en-US" sz="1800" dirty="0"/>
          </a:p>
        </p:txBody>
      </p:sp>
      <p:sp>
        <p:nvSpPr>
          <p:cNvPr id="12" name="Text 9"/>
          <p:cNvSpPr/>
          <p:nvPr/>
        </p:nvSpPr>
        <p:spPr>
          <a:xfrm>
            <a:off x="822960" y="2606040"/>
            <a:ext cx="4983480" cy="114300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Course assignment in a previous web-development paper. Built a peer-review platform that handles the full submission to publication flow.</a:t>
            </a:r>
            <a:endParaRPr lang="en-US" sz="1300" dirty="0"/>
          </a:p>
        </p:txBody>
      </p:sp>
      <p:sp>
        <p:nvSpPr>
          <p:cNvPr id="13" name="Shape 10"/>
          <p:cNvSpPr/>
          <p:nvPr/>
        </p:nvSpPr>
        <p:spPr>
          <a:xfrm>
            <a:off x="6199632" y="1554480"/>
            <a:ext cx="5440680" cy="2286000"/>
          </a:xfrm>
          <a:prstGeom prst="rect">
            <a:avLst/>
          </a:prstGeom>
          <a:solidFill>
            <a:srgbClr val="F7F8FB"/>
          </a:solidFill>
          <a:ln w="12700">
            <a:solidFill>
              <a:srgbClr val="E2E5EE"/>
            </a:solidFill>
            <a:prstDash val="solid"/>
          </a:ln>
        </p:spPr>
        <p:txBody>
          <a:bodyPr/>
          <a:lstStyle/>
          <a:p>
            <a:endParaRPr lang="en-US"/>
          </a:p>
        </p:txBody>
      </p:sp>
      <p:sp>
        <p:nvSpPr>
          <p:cNvPr id="14" name="Shape 11"/>
          <p:cNvSpPr/>
          <p:nvPr/>
        </p:nvSpPr>
        <p:spPr>
          <a:xfrm>
            <a:off x="6199632" y="1554480"/>
            <a:ext cx="73152" cy="2286000"/>
          </a:xfrm>
          <a:prstGeom prst="rect">
            <a:avLst/>
          </a:prstGeom>
          <a:solidFill>
            <a:srgbClr val="1E2761"/>
          </a:solidFill>
          <a:ln/>
        </p:spPr>
        <p:txBody>
          <a:bodyPr/>
          <a:lstStyle/>
          <a:p>
            <a:endParaRPr lang="en-US"/>
          </a:p>
        </p:txBody>
      </p:sp>
      <p:sp>
        <p:nvSpPr>
          <p:cNvPr id="15" name="Shape 12"/>
          <p:cNvSpPr/>
          <p:nvPr/>
        </p:nvSpPr>
        <p:spPr>
          <a:xfrm>
            <a:off x="6473952" y="1874520"/>
            <a:ext cx="640080" cy="640080"/>
          </a:xfrm>
          <a:prstGeom prst="ellipse">
            <a:avLst/>
          </a:prstGeom>
          <a:solidFill>
            <a:srgbClr val="1E2761"/>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01968" y="2002536"/>
            <a:ext cx="384048" cy="384048"/>
          </a:xfrm>
          <a:prstGeom prst="rect">
            <a:avLst/>
          </a:prstGeom>
        </p:spPr>
      </p:pic>
      <p:sp>
        <p:nvSpPr>
          <p:cNvPr id="17" name="Text 13"/>
          <p:cNvSpPr/>
          <p:nvPr/>
        </p:nvSpPr>
        <p:spPr>
          <a:xfrm>
            <a:off x="7296912" y="187452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Objectives</a:t>
            </a:r>
            <a:endParaRPr lang="en-US" sz="1800" dirty="0"/>
          </a:p>
        </p:txBody>
      </p:sp>
      <p:sp>
        <p:nvSpPr>
          <p:cNvPr id="18" name="Text 14"/>
          <p:cNvSpPr/>
          <p:nvPr/>
        </p:nvSpPr>
        <p:spPr>
          <a:xfrm>
            <a:off x="6473952" y="2606040"/>
            <a:ext cx="4983480" cy="114300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Demonstrate full-stack CRUD, role-based access, file uploads, structured review workflow, and an Excel export for editorial reporting.</a:t>
            </a:r>
            <a:endParaRPr lang="en-US" sz="1300" dirty="0"/>
          </a:p>
        </p:txBody>
      </p:sp>
      <p:sp>
        <p:nvSpPr>
          <p:cNvPr id="19" name="Shape 15"/>
          <p:cNvSpPr/>
          <p:nvPr/>
        </p:nvSpPr>
        <p:spPr>
          <a:xfrm>
            <a:off x="548640" y="3931920"/>
            <a:ext cx="5440680" cy="2286000"/>
          </a:xfrm>
          <a:prstGeom prst="rect">
            <a:avLst/>
          </a:prstGeom>
          <a:solidFill>
            <a:srgbClr val="F7F8FB"/>
          </a:solidFill>
          <a:ln w="12700">
            <a:solidFill>
              <a:srgbClr val="E2E5EE"/>
            </a:solidFill>
            <a:prstDash val="solid"/>
          </a:ln>
        </p:spPr>
        <p:txBody>
          <a:bodyPr/>
          <a:lstStyle/>
          <a:p>
            <a:endParaRPr lang="en-US"/>
          </a:p>
        </p:txBody>
      </p:sp>
      <p:sp>
        <p:nvSpPr>
          <p:cNvPr id="20" name="Shape 16"/>
          <p:cNvSpPr/>
          <p:nvPr/>
        </p:nvSpPr>
        <p:spPr>
          <a:xfrm>
            <a:off x="548640" y="3931920"/>
            <a:ext cx="73152" cy="2286000"/>
          </a:xfrm>
          <a:prstGeom prst="rect">
            <a:avLst/>
          </a:prstGeom>
          <a:solidFill>
            <a:srgbClr val="1E2761"/>
          </a:solidFill>
          <a:ln/>
        </p:spPr>
        <p:txBody>
          <a:bodyPr/>
          <a:lstStyle/>
          <a:p>
            <a:endParaRPr lang="en-US"/>
          </a:p>
        </p:txBody>
      </p:sp>
      <p:sp>
        <p:nvSpPr>
          <p:cNvPr id="21" name="Shape 17"/>
          <p:cNvSpPr/>
          <p:nvPr/>
        </p:nvSpPr>
        <p:spPr>
          <a:xfrm>
            <a:off x="822960" y="4251960"/>
            <a:ext cx="640080" cy="640080"/>
          </a:xfrm>
          <a:prstGeom prst="ellipse">
            <a:avLst/>
          </a:prstGeom>
          <a:solidFill>
            <a:srgbClr val="1E2761"/>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950976" y="4379976"/>
            <a:ext cx="384048" cy="384048"/>
          </a:xfrm>
          <a:prstGeom prst="rect">
            <a:avLst/>
          </a:prstGeom>
        </p:spPr>
      </p:pic>
      <p:sp>
        <p:nvSpPr>
          <p:cNvPr id="23" name="Text 18"/>
          <p:cNvSpPr/>
          <p:nvPr/>
        </p:nvSpPr>
        <p:spPr>
          <a:xfrm>
            <a:off x="1645920" y="425196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Methodology</a:t>
            </a:r>
            <a:endParaRPr lang="en-US" sz="1800" dirty="0"/>
          </a:p>
        </p:txBody>
      </p:sp>
      <p:sp>
        <p:nvSpPr>
          <p:cNvPr id="24" name="Text 19"/>
          <p:cNvSpPr/>
          <p:nvPr/>
        </p:nvSpPr>
        <p:spPr>
          <a:xfrm>
            <a:off x="822960" y="4983480"/>
            <a:ext cx="4983480" cy="114300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Iterative build using Express, EJS, SQLite, multer, bcrypt, ExcelJS. Manual testing through the browser. Submitted as a single repo.</a:t>
            </a:r>
            <a:endParaRPr lang="en-US" sz="1300" dirty="0"/>
          </a:p>
        </p:txBody>
      </p:sp>
      <p:sp>
        <p:nvSpPr>
          <p:cNvPr id="25" name="Shape 20"/>
          <p:cNvSpPr/>
          <p:nvPr/>
        </p:nvSpPr>
        <p:spPr>
          <a:xfrm>
            <a:off x="6199632" y="3931920"/>
            <a:ext cx="5440680" cy="2286000"/>
          </a:xfrm>
          <a:prstGeom prst="rect">
            <a:avLst/>
          </a:prstGeom>
          <a:solidFill>
            <a:srgbClr val="F7F8FB"/>
          </a:solidFill>
          <a:ln w="12700">
            <a:solidFill>
              <a:srgbClr val="E2E5EE"/>
            </a:solidFill>
            <a:prstDash val="solid"/>
          </a:ln>
        </p:spPr>
        <p:txBody>
          <a:bodyPr/>
          <a:lstStyle/>
          <a:p>
            <a:endParaRPr lang="en-US"/>
          </a:p>
        </p:txBody>
      </p:sp>
      <p:sp>
        <p:nvSpPr>
          <p:cNvPr id="26" name="Shape 21"/>
          <p:cNvSpPr/>
          <p:nvPr/>
        </p:nvSpPr>
        <p:spPr>
          <a:xfrm>
            <a:off x="6199632" y="3931920"/>
            <a:ext cx="73152" cy="2286000"/>
          </a:xfrm>
          <a:prstGeom prst="rect">
            <a:avLst/>
          </a:prstGeom>
          <a:solidFill>
            <a:srgbClr val="1E2761"/>
          </a:solidFill>
          <a:ln/>
        </p:spPr>
        <p:txBody>
          <a:bodyPr/>
          <a:lstStyle/>
          <a:p>
            <a:endParaRPr lang="en-US"/>
          </a:p>
        </p:txBody>
      </p:sp>
      <p:sp>
        <p:nvSpPr>
          <p:cNvPr id="27" name="Shape 22"/>
          <p:cNvSpPr/>
          <p:nvPr/>
        </p:nvSpPr>
        <p:spPr>
          <a:xfrm>
            <a:off x="6473952" y="4251960"/>
            <a:ext cx="640080" cy="640080"/>
          </a:xfrm>
          <a:prstGeom prst="ellipse">
            <a:avLst/>
          </a:prstGeom>
          <a:solidFill>
            <a:srgbClr val="1E2761"/>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6601968" y="4379976"/>
            <a:ext cx="384048" cy="384048"/>
          </a:xfrm>
          <a:prstGeom prst="rect">
            <a:avLst/>
          </a:prstGeom>
        </p:spPr>
      </p:pic>
      <p:sp>
        <p:nvSpPr>
          <p:cNvPr id="29" name="Text 23"/>
          <p:cNvSpPr/>
          <p:nvPr/>
        </p:nvSpPr>
        <p:spPr>
          <a:xfrm>
            <a:off x="7296912" y="4251960"/>
            <a:ext cx="4114800" cy="45720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Results</a:t>
            </a:r>
            <a:endParaRPr lang="en-US" sz="1800" dirty="0"/>
          </a:p>
        </p:txBody>
      </p:sp>
      <p:sp>
        <p:nvSpPr>
          <p:cNvPr id="30" name="Text 24"/>
          <p:cNvSpPr/>
          <p:nvPr/>
        </p:nvSpPr>
        <p:spPr>
          <a:xfrm>
            <a:off x="6473952" y="4983480"/>
            <a:ext cx="4983480" cy="114300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Working five-role system (author, reviewer, editor, admin, reader). 7 manuscripts and 5 reviews on file. Public reader feed of accepted articles.</a:t>
            </a:r>
            <a:endParaRPr lang="en-US" sz="1300" dirty="0"/>
          </a:p>
        </p:txBody>
      </p:sp>
      <p:sp>
        <p:nvSpPr>
          <p:cNvPr id="31" name="Text 25"/>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2" name="Text 26"/>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Challenges, limitations, and gaps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Honest audit of the v1 codebase</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1</a:t>
            </a:r>
            <a:endParaRPr lang="en-US" sz="1100" dirty="0"/>
          </a:p>
        </p:txBody>
      </p:sp>
      <p:sp>
        <p:nvSpPr>
          <p:cNvPr id="7" name="Shape 5"/>
          <p:cNvSpPr/>
          <p:nvPr/>
        </p:nvSpPr>
        <p:spPr>
          <a:xfrm>
            <a:off x="548640" y="1645920"/>
            <a:ext cx="3520440" cy="219456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777240" y="1874520"/>
            <a:ext cx="502920" cy="502920"/>
          </a:xfrm>
          <a:prstGeom prst="ellipse">
            <a:avLst/>
          </a:prstGeom>
          <a:solidFill>
            <a:srgbClr val="FCE7E5"/>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77824" y="1975104"/>
            <a:ext cx="301752" cy="301752"/>
          </a:xfrm>
          <a:prstGeom prst="rect">
            <a:avLst/>
          </a:prstGeom>
        </p:spPr>
      </p:pic>
      <p:sp>
        <p:nvSpPr>
          <p:cNvPr id="10" name="Text 7"/>
          <p:cNvSpPr/>
          <p:nvPr/>
        </p:nvSpPr>
        <p:spPr>
          <a:xfrm>
            <a:off x="1417320" y="1874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Buggy auth wiring</a:t>
            </a:r>
            <a:endParaRPr lang="en-US" sz="1600" dirty="0"/>
          </a:p>
        </p:txBody>
      </p:sp>
      <p:sp>
        <p:nvSpPr>
          <p:cNvPr id="11" name="Text 8"/>
          <p:cNvSpPr/>
          <p:nvPr/>
        </p:nvSpPr>
        <p:spPr>
          <a:xfrm>
            <a:off x="777240" y="2560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express-session not imported; mixed req.session shape; broken author-id lookup query.</a:t>
            </a:r>
            <a:endParaRPr lang="en-US" sz="1200" dirty="0"/>
          </a:p>
        </p:txBody>
      </p:sp>
      <p:sp>
        <p:nvSpPr>
          <p:cNvPr id="12" name="Shape 9"/>
          <p:cNvSpPr/>
          <p:nvPr/>
        </p:nvSpPr>
        <p:spPr>
          <a:xfrm>
            <a:off x="4526280" y="1645920"/>
            <a:ext cx="3520440" cy="2194560"/>
          </a:xfrm>
          <a:prstGeom prst="rect">
            <a:avLst/>
          </a:prstGeom>
          <a:solidFill>
            <a:srgbClr val="F7F8FB"/>
          </a:solidFill>
          <a:ln w="12700">
            <a:solidFill>
              <a:srgbClr val="E2E5EE"/>
            </a:solidFill>
            <a:prstDash val="solid"/>
          </a:ln>
        </p:spPr>
        <p:txBody>
          <a:bodyPr/>
          <a:lstStyle/>
          <a:p>
            <a:endParaRPr lang="en-US"/>
          </a:p>
        </p:txBody>
      </p:sp>
      <p:sp>
        <p:nvSpPr>
          <p:cNvPr id="13" name="Shape 10"/>
          <p:cNvSpPr/>
          <p:nvPr/>
        </p:nvSpPr>
        <p:spPr>
          <a:xfrm>
            <a:off x="4754880" y="1874520"/>
            <a:ext cx="502920" cy="502920"/>
          </a:xfrm>
          <a:prstGeom prst="ellipse">
            <a:avLst/>
          </a:prstGeom>
          <a:solidFill>
            <a:srgbClr val="FCE7E5"/>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855464" y="1975104"/>
            <a:ext cx="301752" cy="301752"/>
          </a:xfrm>
          <a:prstGeom prst="rect">
            <a:avLst/>
          </a:prstGeom>
        </p:spPr>
      </p:pic>
      <p:sp>
        <p:nvSpPr>
          <p:cNvPr id="15" name="Text 11"/>
          <p:cNvSpPr/>
          <p:nvPr/>
        </p:nvSpPr>
        <p:spPr>
          <a:xfrm>
            <a:off x="5394960" y="1874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Random reviewer assignment</a:t>
            </a:r>
            <a:endParaRPr lang="en-US" sz="1600" dirty="0"/>
          </a:p>
        </p:txBody>
      </p:sp>
      <p:sp>
        <p:nvSpPr>
          <p:cNvPr id="16" name="Text 12"/>
          <p:cNvSpPr/>
          <p:nvPr/>
        </p:nvSpPr>
        <p:spPr>
          <a:xfrm>
            <a:off x="4754880" y="2560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Math.random() picks any reviewer regardless of expertise. No real workshop operates this way.</a:t>
            </a:r>
            <a:endParaRPr lang="en-US" sz="1200" dirty="0"/>
          </a:p>
        </p:txBody>
      </p:sp>
      <p:sp>
        <p:nvSpPr>
          <p:cNvPr id="17" name="Shape 13"/>
          <p:cNvSpPr/>
          <p:nvPr/>
        </p:nvSpPr>
        <p:spPr>
          <a:xfrm>
            <a:off x="8503920" y="1645920"/>
            <a:ext cx="3520440" cy="2194560"/>
          </a:xfrm>
          <a:prstGeom prst="rect">
            <a:avLst/>
          </a:prstGeom>
          <a:solidFill>
            <a:srgbClr val="F7F8FB"/>
          </a:solidFill>
          <a:ln w="12700">
            <a:solidFill>
              <a:srgbClr val="E2E5EE"/>
            </a:solidFill>
            <a:prstDash val="solid"/>
          </a:ln>
        </p:spPr>
        <p:txBody>
          <a:bodyPr/>
          <a:lstStyle/>
          <a:p>
            <a:endParaRPr lang="en-US"/>
          </a:p>
        </p:txBody>
      </p:sp>
      <p:sp>
        <p:nvSpPr>
          <p:cNvPr id="18" name="Shape 14"/>
          <p:cNvSpPr/>
          <p:nvPr/>
        </p:nvSpPr>
        <p:spPr>
          <a:xfrm>
            <a:off x="8732520" y="1874520"/>
            <a:ext cx="502920" cy="502920"/>
          </a:xfrm>
          <a:prstGeom prst="ellipse">
            <a:avLst/>
          </a:prstGeom>
          <a:solidFill>
            <a:srgbClr val="FCE7E5"/>
          </a:solidFill>
          <a:ln/>
        </p:spPr>
        <p:txBody>
          <a:bodyPr/>
          <a:lstStyle/>
          <a:p>
            <a:endParaRPr lang="en-US"/>
          </a:p>
        </p:txBody>
      </p:sp>
      <p:pic>
        <p:nvPicPr>
          <p:cNvPr id="19" name="Image 2" descr="preencoded.png"/>
          <p:cNvPicPr>
            <a:picLocks noChangeAspect="1"/>
          </p:cNvPicPr>
          <p:nvPr/>
        </p:nvPicPr>
        <p:blipFill>
          <a:blip r:embed="rId4"/>
          <a:stretch>
            <a:fillRect/>
          </a:stretch>
        </p:blipFill>
        <p:spPr>
          <a:xfrm>
            <a:off x="8833104" y="1975104"/>
            <a:ext cx="301752" cy="301752"/>
          </a:xfrm>
          <a:prstGeom prst="rect">
            <a:avLst/>
          </a:prstGeom>
        </p:spPr>
      </p:pic>
      <p:sp>
        <p:nvSpPr>
          <p:cNvPr id="20" name="Text 15"/>
          <p:cNvSpPr/>
          <p:nvPr/>
        </p:nvSpPr>
        <p:spPr>
          <a:xfrm>
            <a:off x="9372600" y="1874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integrity checks</a:t>
            </a:r>
            <a:endParaRPr lang="en-US" sz="1600" dirty="0"/>
          </a:p>
        </p:txBody>
      </p:sp>
      <p:sp>
        <p:nvSpPr>
          <p:cNvPr id="21" name="Text 16"/>
          <p:cNvSpPr/>
          <p:nvPr/>
        </p:nvSpPr>
        <p:spPr>
          <a:xfrm>
            <a:off x="8732520" y="2560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No plagiarism detection, no duplicate-submission check, no AI-generated-text flagging.</a:t>
            </a:r>
            <a:endParaRPr lang="en-US" sz="1200" dirty="0"/>
          </a:p>
        </p:txBody>
      </p:sp>
      <p:sp>
        <p:nvSpPr>
          <p:cNvPr id="22" name="Shape 17"/>
          <p:cNvSpPr/>
          <p:nvPr/>
        </p:nvSpPr>
        <p:spPr>
          <a:xfrm>
            <a:off x="548640" y="4114800"/>
            <a:ext cx="3520440" cy="2194560"/>
          </a:xfrm>
          <a:prstGeom prst="rect">
            <a:avLst/>
          </a:prstGeom>
          <a:solidFill>
            <a:srgbClr val="F7F8FB"/>
          </a:solidFill>
          <a:ln w="12700">
            <a:solidFill>
              <a:srgbClr val="E2E5EE"/>
            </a:solidFill>
            <a:prstDash val="solid"/>
          </a:ln>
        </p:spPr>
        <p:txBody>
          <a:bodyPr/>
          <a:lstStyle/>
          <a:p>
            <a:endParaRPr lang="en-US"/>
          </a:p>
        </p:txBody>
      </p:sp>
      <p:sp>
        <p:nvSpPr>
          <p:cNvPr id="23" name="Shape 18"/>
          <p:cNvSpPr/>
          <p:nvPr/>
        </p:nvSpPr>
        <p:spPr>
          <a:xfrm>
            <a:off x="777240" y="4343400"/>
            <a:ext cx="502920" cy="502920"/>
          </a:xfrm>
          <a:prstGeom prst="ellipse">
            <a:avLst/>
          </a:prstGeom>
          <a:solidFill>
            <a:srgbClr val="FCE7E5"/>
          </a:solidFill>
          <a:ln/>
        </p:spPr>
        <p:txBody>
          <a:bodyPr/>
          <a:lstStyle/>
          <a:p>
            <a:endParaRPr lang="en-US"/>
          </a:p>
        </p:txBody>
      </p:sp>
      <p:pic>
        <p:nvPicPr>
          <p:cNvPr id="24" name="Image 3" descr="preencoded.png"/>
          <p:cNvPicPr>
            <a:picLocks noChangeAspect="1"/>
          </p:cNvPicPr>
          <p:nvPr/>
        </p:nvPicPr>
        <p:blipFill>
          <a:blip r:embed="rId3"/>
          <a:stretch>
            <a:fillRect/>
          </a:stretch>
        </p:blipFill>
        <p:spPr>
          <a:xfrm>
            <a:off x="877824" y="4443984"/>
            <a:ext cx="301752" cy="301752"/>
          </a:xfrm>
          <a:prstGeom prst="rect">
            <a:avLst/>
          </a:prstGeom>
        </p:spPr>
      </p:pic>
      <p:sp>
        <p:nvSpPr>
          <p:cNvPr id="25" name="Text 19"/>
          <p:cNvSpPr/>
          <p:nvPr/>
        </p:nvSpPr>
        <p:spPr>
          <a:xfrm>
            <a:off x="1417320" y="434340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Unstructured reviews</a:t>
            </a:r>
            <a:endParaRPr lang="en-US" sz="1600" dirty="0"/>
          </a:p>
        </p:txBody>
      </p:sp>
      <p:sp>
        <p:nvSpPr>
          <p:cNvPr id="26" name="Text 20"/>
          <p:cNvSpPr/>
          <p:nvPr/>
        </p:nvSpPr>
        <p:spPr>
          <a:xfrm>
            <a:off x="777240" y="502920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Single textarea per review. No comparable scores, no aggregation, no recommendation field.</a:t>
            </a:r>
            <a:endParaRPr lang="en-US" sz="1200" dirty="0"/>
          </a:p>
        </p:txBody>
      </p:sp>
      <p:sp>
        <p:nvSpPr>
          <p:cNvPr id="27" name="Shape 21"/>
          <p:cNvSpPr/>
          <p:nvPr/>
        </p:nvSpPr>
        <p:spPr>
          <a:xfrm>
            <a:off x="4526280" y="4114800"/>
            <a:ext cx="3520440" cy="2194560"/>
          </a:xfrm>
          <a:prstGeom prst="rect">
            <a:avLst/>
          </a:prstGeom>
          <a:solidFill>
            <a:srgbClr val="F7F8FB"/>
          </a:solidFill>
          <a:ln w="12700">
            <a:solidFill>
              <a:srgbClr val="E2E5EE"/>
            </a:solidFill>
            <a:prstDash val="solid"/>
          </a:ln>
        </p:spPr>
        <p:txBody>
          <a:bodyPr/>
          <a:lstStyle/>
          <a:p>
            <a:endParaRPr lang="en-US"/>
          </a:p>
        </p:txBody>
      </p:sp>
      <p:sp>
        <p:nvSpPr>
          <p:cNvPr id="28" name="Shape 22"/>
          <p:cNvSpPr/>
          <p:nvPr/>
        </p:nvSpPr>
        <p:spPr>
          <a:xfrm>
            <a:off x="4754880" y="4343400"/>
            <a:ext cx="502920" cy="502920"/>
          </a:xfrm>
          <a:prstGeom prst="ellipse">
            <a:avLst/>
          </a:prstGeom>
          <a:solidFill>
            <a:srgbClr val="FCE7E5"/>
          </a:solidFill>
          <a:ln/>
        </p:spPr>
        <p:txBody>
          <a:bodyPr/>
          <a:lstStyle/>
          <a:p>
            <a:endParaRPr lang="en-US"/>
          </a:p>
        </p:txBody>
      </p:sp>
      <p:pic>
        <p:nvPicPr>
          <p:cNvPr id="29" name="Image 4" descr="preencoded.png"/>
          <p:cNvPicPr>
            <a:picLocks noChangeAspect="1"/>
          </p:cNvPicPr>
          <p:nvPr/>
        </p:nvPicPr>
        <p:blipFill>
          <a:blip r:embed="rId4"/>
          <a:stretch>
            <a:fillRect/>
          </a:stretch>
        </p:blipFill>
        <p:spPr>
          <a:xfrm>
            <a:off x="4855464" y="4443984"/>
            <a:ext cx="301752" cy="301752"/>
          </a:xfrm>
          <a:prstGeom prst="rect">
            <a:avLst/>
          </a:prstGeom>
        </p:spPr>
      </p:pic>
      <p:sp>
        <p:nvSpPr>
          <p:cNvPr id="30" name="Text 23"/>
          <p:cNvSpPr/>
          <p:nvPr/>
        </p:nvSpPr>
        <p:spPr>
          <a:xfrm>
            <a:off x="5394960" y="434340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author tooling</a:t>
            </a:r>
            <a:endParaRPr lang="en-US" sz="1600" dirty="0"/>
          </a:p>
        </p:txBody>
      </p:sp>
      <p:sp>
        <p:nvSpPr>
          <p:cNvPr id="31" name="Text 24"/>
          <p:cNvSpPr/>
          <p:nvPr/>
        </p:nvSpPr>
        <p:spPr>
          <a:xfrm>
            <a:off x="4754880" y="502920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Authors get zero feedback before submitting. No abstract polish, keyword extraction, or title help.</a:t>
            </a:r>
            <a:endParaRPr lang="en-US" sz="1200" dirty="0"/>
          </a:p>
        </p:txBody>
      </p:sp>
      <p:sp>
        <p:nvSpPr>
          <p:cNvPr id="32" name="Shape 25"/>
          <p:cNvSpPr/>
          <p:nvPr/>
        </p:nvSpPr>
        <p:spPr>
          <a:xfrm>
            <a:off x="8503920" y="4114800"/>
            <a:ext cx="3520440" cy="2194560"/>
          </a:xfrm>
          <a:prstGeom prst="rect">
            <a:avLst/>
          </a:prstGeom>
          <a:solidFill>
            <a:srgbClr val="F7F8FB"/>
          </a:solidFill>
          <a:ln w="12700">
            <a:solidFill>
              <a:srgbClr val="E2E5EE"/>
            </a:solidFill>
            <a:prstDash val="solid"/>
          </a:ln>
        </p:spPr>
        <p:txBody>
          <a:bodyPr/>
          <a:lstStyle/>
          <a:p>
            <a:endParaRPr lang="en-US"/>
          </a:p>
        </p:txBody>
      </p:sp>
      <p:sp>
        <p:nvSpPr>
          <p:cNvPr id="33" name="Shape 26"/>
          <p:cNvSpPr/>
          <p:nvPr/>
        </p:nvSpPr>
        <p:spPr>
          <a:xfrm>
            <a:off x="8732520" y="4343400"/>
            <a:ext cx="502920" cy="502920"/>
          </a:xfrm>
          <a:prstGeom prst="ellipse">
            <a:avLst/>
          </a:prstGeom>
          <a:solidFill>
            <a:srgbClr val="FCE7E5"/>
          </a:solidFill>
          <a:ln/>
        </p:spPr>
        <p:txBody>
          <a:bodyPr/>
          <a:lstStyle/>
          <a:p>
            <a:endParaRPr lang="en-US"/>
          </a:p>
        </p:txBody>
      </p:sp>
      <p:pic>
        <p:nvPicPr>
          <p:cNvPr id="34" name="Image 5" descr="preencoded.png"/>
          <p:cNvPicPr>
            <a:picLocks noChangeAspect="1"/>
          </p:cNvPicPr>
          <p:nvPr/>
        </p:nvPicPr>
        <p:blipFill>
          <a:blip r:embed="rId3"/>
          <a:stretch>
            <a:fillRect/>
          </a:stretch>
        </p:blipFill>
        <p:spPr>
          <a:xfrm>
            <a:off x="8833104" y="4443984"/>
            <a:ext cx="301752" cy="301752"/>
          </a:xfrm>
          <a:prstGeom prst="rect">
            <a:avLst/>
          </a:prstGeom>
        </p:spPr>
      </p:pic>
      <p:sp>
        <p:nvSpPr>
          <p:cNvPr id="35" name="Text 27"/>
          <p:cNvSpPr/>
          <p:nvPr/>
        </p:nvSpPr>
        <p:spPr>
          <a:xfrm>
            <a:off x="9372600" y="434340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tests, Docker, or CI</a:t>
            </a:r>
            <a:endParaRPr lang="en-US" sz="1600" dirty="0"/>
          </a:p>
        </p:txBody>
      </p:sp>
      <p:sp>
        <p:nvSpPr>
          <p:cNvPr id="36" name="Text 28"/>
          <p:cNvSpPr/>
          <p:nvPr/>
        </p:nvSpPr>
        <p:spPr>
          <a:xfrm>
            <a:off x="8732520" y="502920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Single-file app.js, hardcoded session secret, two stray .db files. Will not survive a real code review.</a:t>
            </a:r>
            <a:endParaRPr lang="en-US" sz="1200" dirty="0"/>
          </a:p>
        </p:txBody>
      </p:sp>
      <p:sp>
        <p:nvSpPr>
          <p:cNvPr id="37" name="Text 29"/>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8" name="Text 30"/>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Revised scope &amp; business questions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Refined objectives that GenAI can actually answer</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2</a:t>
            </a:r>
            <a:endParaRPr lang="en-US" sz="1100" dirty="0"/>
          </a:p>
        </p:txBody>
      </p:sp>
      <p:sp>
        <p:nvSpPr>
          <p:cNvPr id="7" name="Shape 5"/>
          <p:cNvSpPr/>
          <p:nvPr/>
        </p:nvSpPr>
        <p:spPr>
          <a:xfrm>
            <a:off x="548640" y="1554480"/>
            <a:ext cx="11064240" cy="868680"/>
          </a:xfrm>
          <a:prstGeom prst="rect">
            <a:avLst/>
          </a:prstGeom>
          <a:solidFill>
            <a:srgbClr val="1E2761"/>
          </a:solidFill>
          <a:ln/>
        </p:spPr>
        <p:txBody>
          <a:bodyPr/>
          <a:lstStyle/>
          <a:p>
            <a:endParaRPr lang="en-US"/>
          </a:p>
        </p:txBody>
      </p:sp>
      <p:sp>
        <p:nvSpPr>
          <p:cNvPr id="8" name="Shape 6"/>
          <p:cNvSpPr/>
          <p:nvPr/>
        </p:nvSpPr>
        <p:spPr>
          <a:xfrm>
            <a:off x="548640" y="1554480"/>
            <a:ext cx="11064240" cy="54864"/>
          </a:xfrm>
          <a:prstGeom prst="rect">
            <a:avLst/>
          </a:prstGeom>
          <a:solidFill>
            <a:srgbClr val="F4B942"/>
          </a:solidFill>
          <a:ln/>
        </p:spPr>
        <p:txBody>
          <a:bodyPr/>
          <a:lstStyle/>
          <a:p>
            <a:endParaRPr lang="en-US"/>
          </a:p>
        </p:txBody>
      </p:sp>
      <p:sp>
        <p:nvSpPr>
          <p:cNvPr id="9" name="Text 7"/>
          <p:cNvSpPr/>
          <p:nvPr/>
        </p:nvSpPr>
        <p:spPr>
          <a:xfrm>
            <a:off x="777240" y="1627632"/>
            <a:ext cx="10058400" cy="27432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REVISED SCOPE</a:t>
            </a:r>
            <a:endParaRPr lang="en-US" sz="1100" dirty="0"/>
          </a:p>
        </p:txBody>
      </p:sp>
      <p:sp>
        <p:nvSpPr>
          <p:cNvPr id="10" name="Text 8"/>
          <p:cNvSpPr/>
          <p:nvPr/>
        </p:nvSpPr>
        <p:spPr>
          <a:xfrm>
            <a:off x="777240" y="1874520"/>
            <a:ext cx="10607040" cy="50292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From a CRUD submission tracker to an AI-augmented decision-support platform that helps authors write better papers, helps editors match reviewers semantically, and helps reviewers produce structured, comparable reviews — without ever removing the human from the loop.</a:t>
            </a:r>
            <a:endParaRPr lang="en-US" sz="1300" dirty="0"/>
          </a:p>
        </p:txBody>
      </p:sp>
      <p:sp>
        <p:nvSpPr>
          <p:cNvPr id="11" name="Shape 9"/>
          <p:cNvSpPr/>
          <p:nvPr/>
        </p:nvSpPr>
        <p:spPr>
          <a:xfrm>
            <a:off x="548640" y="2697480"/>
            <a:ext cx="548640" cy="548640"/>
          </a:xfrm>
          <a:prstGeom prst="ellipse">
            <a:avLst/>
          </a:prstGeom>
          <a:solidFill>
            <a:srgbClr val="1E2761"/>
          </a:solidFill>
          <a:ln/>
        </p:spPr>
        <p:txBody>
          <a:bodyPr/>
          <a:lstStyle/>
          <a:p>
            <a:endParaRPr lang="en-US"/>
          </a:p>
        </p:txBody>
      </p:sp>
      <p:sp>
        <p:nvSpPr>
          <p:cNvPr id="12" name="Text 10"/>
          <p:cNvSpPr/>
          <p:nvPr/>
        </p:nvSpPr>
        <p:spPr>
          <a:xfrm>
            <a:off x="548640" y="2697480"/>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13" name="Shape 11"/>
          <p:cNvSpPr/>
          <p:nvPr/>
        </p:nvSpPr>
        <p:spPr>
          <a:xfrm>
            <a:off x="1280160" y="2697480"/>
            <a:ext cx="10332720" cy="548640"/>
          </a:xfrm>
          <a:prstGeom prst="rect">
            <a:avLst/>
          </a:prstGeom>
          <a:solidFill>
            <a:srgbClr val="F7F8FB"/>
          </a:solidFill>
          <a:ln w="12700">
            <a:solidFill>
              <a:srgbClr val="E2E5EE"/>
            </a:solidFill>
            <a:prstDash val="solid"/>
          </a:ln>
        </p:spPr>
        <p:txBody>
          <a:bodyPr/>
          <a:lstStyle/>
          <a:p>
            <a:endParaRPr lang="en-US"/>
          </a:p>
        </p:txBody>
      </p:sp>
      <p:sp>
        <p:nvSpPr>
          <p:cNvPr id="14" name="Text 12"/>
          <p:cNvSpPr/>
          <p:nvPr/>
        </p:nvSpPr>
        <p:spPr>
          <a:xfrm>
            <a:off x="1463040" y="2697480"/>
            <a:ext cx="10058400" cy="54864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can authors get useful feedback on their abstract before submitting, without paying a copy editor?</a:t>
            </a:r>
            <a:endParaRPr lang="en-US" sz="1300" dirty="0"/>
          </a:p>
        </p:txBody>
      </p:sp>
      <p:sp>
        <p:nvSpPr>
          <p:cNvPr id="15" name="Shape 13"/>
          <p:cNvSpPr/>
          <p:nvPr/>
        </p:nvSpPr>
        <p:spPr>
          <a:xfrm>
            <a:off x="548640" y="3410712"/>
            <a:ext cx="548640" cy="548640"/>
          </a:xfrm>
          <a:prstGeom prst="ellipse">
            <a:avLst/>
          </a:prstGeom>
          <a:solidFill>
            <a:srgbClr val="1E2761"/>
          </a:solidFill>
          <a:ln/>
        </p:spPr>
        <p:txBody>
          <a:bodyPr/>
          <a:lstStyle/>
          <a:p>
            <a:endParaRPr lang="en-US"/>
          </a:p>
        </p:txBody>
      </p:sp>
      <p:sp>
        <p:nvSpPr>
          <p:cNvPr id="16" name="Text 14"/>
          <p:cNvSpPr/>
          <p:nvPr/>
        </p:nvSpPr>
        <p:spPr>
          <a:xfrm>
            <a:off x="548640" y="3410712"/>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17" name="Shape 15"/>
          <p:cNvSpPr/>
          <p:nvPr/>
        </p:nvSpPr>
        <p:spPr>
          <a:xfrm>
            <a:off x="1280160" y="3410712"/>
            <a:ext cx="10332720" cy="548640"/>
          </a:xfrm>
          <a:prstGeom prst="rect">
            <a:avLst/>
          </a:prstGeom>
          <a:solidFill>
            <a:srgbClr val="F7F8FB"/>
          </a:solidFill>
          <a:ln w="12700">
            <a:solidFill>
              <a:srgbClr val="E2E5EE"/>
            </a:solidFill>
            <a:prstDash val="solid"/>
          </a:ln>
        </p:spPr>
        <p:txBody>
          <a:bodyPr/>
          <a:lstStyle/>
          <a:p>
            <a:endParaRPr lang="en-US"/>
          </a:p>
        </p:txBody>
      </p:sp>
      <p:sp>
        <p:nvSpPr>
          <p:cNvPr id="18" name="Text 16"/>
          <p:cNvSpPr/>
          <p:nvPr/>
        </p:nvSpPr>
        <p:spPr>
          <a:xfrm>
            <a:off x="1463040" y="3410712"/>
            <a:ext cx="10058400" cy="54864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match each manuscript to the most topically relevant reviewer instead of choosing at random?</a:t>
            </a:r>
            <a:endParaRPr lang="en-US" sz="1300" dirty="0"/>
          </a:p>
        </p:txBody>
      </p:sp>
      <p:sp>
        <p:nvSpPr>
          <p:cNvPr id="19" name="Shape 17"/>
          <p:cNvSpPr/>
          <p:nvPr/>
        </p:nvSpPr>
        <p:spPr>
          <a:xfrm>
            <a:off x="548640" y="4123944"/>
            <a:ext cx="548640" cy="548640"/>
          </a:xfrm>
          <a:prstGeom prst="ellipse">
            <a:avLst/>
          </a:prstGeom>
          <a:solidFill>
            <a:srgbClr val="1E2761"/>
          </a:solidFill>
          <a:ln/>
        </p:spPr>
        <p:txBody>
          <a:bodyPr/>
          <a:lstStyle/>
          <a:p>
            <a:endParaRPr lang="en-US"/>
          </a:p>
        </p:txBody>
      </p:sp>
      <p:sp>
        <p:nvSpPr>
          <p:cNvPr id="20" name="Text 18"/>
          <p:cNvSpPr/>
          <p:nvPr/>
        </p:nvSpPr>
        <p:spPr>
          <a:xfrm>
            <a:off x="548640" y="4123944"/>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21" name="Shape 19"/>
          <p:cNvSpPr/>
          <p:nvPr/>
        </p:nvSpPr>
        <p:spPr>
          <a:xfrm>
            <a:off x="1280160" y="4123944"/>
            <a:ext cx="10332720" cy="548640"/>
          </a:xfrm>
          <a:prstGeom prst="rect">
            <a:avLst/>
          </a:prstGeom>
          <a:solidFill>
            <a:srgbClr val="F7F8FB"/>
          </a:solidFill>
          <a:ln w="12700">
            <a:solidFill>
              <a:srgbClr val="E2E5EE"/>
            </a:solidFill>
            <a:prstDash val="solid"/>
          </a:ln>
        </p:spPr>
        <p:txBody>
          <a:bodyPr/>
          <a:lstStyle/>
          <a:p>
            <a:endParaRPr lang="en-US"/>
          </a:p>
        </p:txBody>
      </p:sp>
      <p:sp>
        <p:nvSpPr>
          <p:cNvPr id="22" name="Text 20"/>
          <p:cNvSpPr/>
          <p:nvPr/>
        </p:nvSpPr>
        <p:spPr>
          <a:xfrm>
            <a:off x="1463040" y="4123944"/>
            <a:ext cx="10058400" cy="54864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screen submissions for near-duplicates and AI-generated text in a way that flags risk without falsely accusing?</a:t>
            </a:r>
            <a:endParaRPr lang="en-US" sz="1300" dirty="0"/>
          </a:p>
        </p:txBody>
      </p:sp>
      <p:sp>
        <p:nvSpPr>
          <p:cNvPr id="23" name="Shape 21"/>
          <p:cNvSpPr/>
          <p:nvPr/>
        </p:nvSpPr>
        <p:spPr>
          <a:xfrm>
            <a:off x="548640" y="4837176"/>
            <a:ext cx="548640" cy="548640"/>
          </a:xfrm>
          <a:prstGeom prst="ellipse">
            <a:avLst/>
          </a:prstGeom>
          <a:solidFill>
            <a:srgbClr val="1E2761"/>
          </a:solidFill>
          <a:ln/>
        </p:spPr>
        <p:txBody>
          <a:bodyPr/>
          <a:lstStyle/>
          <a:p>
            <a:endParaRPr lang="en-US"/>
          </a:p>
        </p:txBody>
      </p:sp>
      <p:sp>
        <p:nvSpPr>
          <p:cNvPr id="24" name="Text 22"/>
          <p:cNvSpPr/>
          <p:nvPr/>
        </p:nvSpPr>
        <p:spPr>
          <a:xfrm>
            <a:off x="548640" y="4837176"/>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Q4</a:t>
            </a:r>
            <a:endParaRPr lang="en-US" sz="1200" dirty="0"/>
          </a:p>
        </p:txBody>
      </p:sp>
      <p:sp>
        <p:nvSpPr>
          <p:cNvPr id="25" name="Shape 23"/>
          <p:cNvSpPr/>
          <p:nvPr/>
        </p:nvSpPr>
        <p:spPr>
          <a:xfrm>
            <a:off x="1280160" y="4837176"/>
            <a:ext cx="10332720" cy="548640"/>
          </a:xfrm>
          <a:prstGeom prst="rect">
            <a:avLst/>
          </a:prstGeom>
          <a:solidFill>
            <a:srgbClr val="F7F8FB"/>
          </a:solidFill>
          <a:ln w="12700">
            <a:solidFill>
              <a:srgbClr val="E2E5EE"/>
            </a:solidFill>
            <a:prstDash val="solid"/>
          </a:ln>
        </p:spPr>
        <p:txBody>
          <a:bodyPr/>
          <a:lstStyle/>
          <a:p>
            <a:endParaRPr lang="en-US"/>
          </a:p>
        </p:txBody>
      </p:sp>
      <p:sp>
        <p:nvSpPr>
          <p:cNvPr id="26" name="Text 24"/>
          <p:cNvSpPr/>
          <p:nvPr/>
        </p:nvSpPr>
        <p:spPr>
          <a:xfrm>
            <a:off x="1463040" y="4837176"/>
            <a:ext cx="10058400" cy="54864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make peer reviews structured and comparable so editors can aggregate them, while keeping reviewers accountable?</a:t>
            </a:r>
            <a:endParaRPr lang="en-US" sz="1300" dirty="0"/>
          </a:p>
        </p:txBody>
      </p:sp>
      <p:sp>
        <p:nvSpPr>
          <p:cNvPr id="27" name="Shape 25"/>
          <p:cNvSpPr/>
          <p:nvPr/>
        </p:nvSpPr>
        <p:spPr>
          <a:xfrm>
            <a:off x="548640" y="5550408"/>
            <a:ext cx="548640" cy="548640"/>
          </a:xfrm>
          <a:prstGeom prst="ellipse">
            <a:avLst/>
          </a:prstGeom>
          <a:solidFill>
            <a:srgbClr val="1E2761"/>
          </a:solidFill>
          <a:ln/>
        </p:spPr>
        <p:txBody>
          <a:bodyPr/>
          <a:lstStyle/>
          <a:p>
            <a:endParaRPr lang="en-US"/>
          </a:p>
        </p:txBody>
      </p:sp>
      <p:sp>
        <p:nvSpPr>
          <p:cNvPr id="28" name="Text 26"/>
          <p:cNvSpPr/>
          <p:nvPr/>
        </p:nvSpPr>
        <p:spPr>
          <a:xfrm>
            <a:off x="548640" y="5550408"/>
            <a:ext cx="5486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Q5</a:t>
            </a:r>
            <a:endParaRPr lang="en-US" sz="1200" dirty="0"/>
          </a:p>
        </p:txBody>
      </p:sp>
      <p:sp>
        <p:nvSpPr>
          <p:cNvPr id="29" name="Shape 27"/>
          <p:cNvSpPr/>
          <p:nvPr/>
        </p:nvSpPr>
        <p:spPr>
          <a:xfrm>
            <a:off x="1280160" y="5550408"/>
            <a:ext cx="10332720" cy="548640"/>
          </a:xfrm>
          <a:prstGeom prst="rect">
            <a:avLst/>
          </a:prstGeom>
          <a:solidFill>
            <a:srgbClr val="F7F8FB"/>
          </a:solidFill>
          <a:ln w="12700">
            <a:solidFill>
              <a:srgbClr val="E2E5EE"/>
            </a:solidFill>
            <a:prstDash val="solid"/>
          </a:ln>
        </p:spPr>
        <p:txBody>
          <a:bodyPr/>
          <a:lstStyle/>
          <a:p>
            <a:endParaRPr lang="en-US"/>
          </a:p>
        </p:txBody>
      </p:sp>
      <p:sp>
        <p:nvSpPr>
          <p:cNvPr id="30" name="Text 28"/>
          <p:cNvSpPr/>
          <p:nvPr/>
        </p:nvSpPr>
        <p:spPr>
          <a:xfrm>
            <a:off x="1463040" y="5550408"/>
            <a:ext cx="10058400" cy="548640"/>
          </a:xfrm>
          <a:prstGeom prst="rect">
            <a:avLst/>
          </a:prstGeom>
          <a:noFill/>
          <a:ln/>
        </p:spPr>
        <p:txBody>
          <a:bodyPr wrap="square" lIns="0" tIns="0" rIns="0" bIns="0" rtlCol="0" anchor="ctr"/>
          <a:lstStyle/>
          <a:p>
            <a:pPr marL="0" indent="0">
              <a:buNone/>
            </a:pPr>
            <a:r>
              <a:rPr lang="en-US" sz="1300" dirty="0">
                <a:solidFill>
                  <a:srgbClr val="0F1538"/>
                </a:solidFill>
                <a:latin typeface="Calibri" pitchFamily="34" charset="0"/>
                <a:ea typeface="Calibri" pitchFamily="34" charset="-122"/>
                <a:cs typeface="Calibri" pitchFamily="34" charset="-120"/>
              </a:rPr>
              <a:t>How do we keep cost at zero today while leaving a clean upgrade path to a paid LLM provider tomorrow?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GenAI capabilities relevant to this project</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Concepts, models, and techniques I researched</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508760"/>
            <a:ext cx="3520440" cy="493776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08760"/>
            <a:ext cx="3520440" cy="73152"/>
          </a:xfrm>
          <a:prstGeom prst="rect">
            <a:avLst/>
          </a:prstGeom>
          <a:solidFill>
            <a:srgbClr val="1E2761"/>
          </a:solidFill>
          <a:ln/>
        </p:spPr>
        <p:txBody>
          <a:bodyPr/>
          <a:lstStyle/>
          <a:p>
            <a:endParaRPr lang="en-US"/>
          </a:p>
        </p:txBody>
      </p:sp>
      <p:sp>
        <p:nvSpPr>
          <p:cNvPr id="9" name="Shape 7"/>
          <p:cNvSpPr/>
          <p:nvPr/>
        </p:nvSpPr>
        <p:spPr>
          <a:xfrm>
            <a:off x="822960" y="1691640"/>
            <a:ext cx="594360" cy="59436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41832" y="1810512"/>
            <a:ext cx="365760" cy="365760"/>
          </a:xfrm>
          <a:prstGeom prst="rect">
            <a:avLst/>
          </a:prstGeom>
        </p:spPr>
      </p:pic>
      <p:sp>
        <p:nvSpPr>
          <p:cNvPr id="11" name="Text 8"/>
          <p:cNvSpPr/>
          <p:nvPr/>
        </p:nvSpPr>
        <p:spPr>
          <a:xfrm>
            <a:off x="1508760" y="1691640"/>
            <a:ext cx="2468880" cy="59436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Concepts</a:t>
            </a:r>
            <a:endParaRPr lang="en-US" sz="1800" dirty="0"/>
          </a:p>
        </p:txBody>
      </p:sp>
      <p:sp>
        <p:nvSpPr>
          <p:cNvPr id="12" name="Text 9"/>
          <p:cNvSpPr/>
          <p:nvPr/>
        </p:nvSpPr>
        <p:spPr>
          <a:xfrm>
            <a:off x="822960" y="246888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Generative vs discriminative</a:t>
            </a:r>
            <a:endParaRPr lang="en-US" sz="1300" dirty="0"/>
          </a:p>
        </p:txBody>
      </p:sp>
      <p:sp>
        <p:nvSpPr>
          <p:cNvPr id="13" name="Text 10"/>
          <p:cNvSpPr/>
          <p:nvPr/>
        </p:nvSpPr>
        <p:spPr>
          <a:xfrm>
            <a:off x="822960" y="278892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Models that produce text/structure (generative) versus models that classify or score (discriminative).</a:t>
            </a:r>
            <a:endParaRPr lang="en-US" sz="1100" dirty="0"/>
          </a:p>
        </p:txBody>
      </p:sp>
      <p:sp>
        <p:nvSpPr>
          <p:cNvPr id="14" name="Text 11"/>
          <p:cNvSpPr/>
          <p:nvPr/>
        </p:nvSpPr>
        <p:spPr>
          <a:xfrm>
            <a:off x="822960" y="379476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Embeddings &amp; vector spaces</a:t>
            </a:r>
            <a:endParaRPr lang="en-US" sz="1300" dirty="0"/>
          </a:p>
        </p:txBody>
      </p:sp>
      <p:sp>
        <p:nvSpPr>
          <p:cNvPr id="15" name="Text 12"/>
          <p:cNvSpPr/>
          <p:nvPr/>
        </p:nvSpPr>
        <p:spPr>
          <a:xfrm>
            <a:off x="822960" y="411480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Mapping text into dense numeric vectors so semantic similarity becomes cosine distance.</a:t>
            </a:r>
            <a:endParaRPr lang="en-US" sz="1100" dirty="0"/>
          </a:p>
        </p:txBody>
      </p:sp>
      <p:sp>
        <p:nvSpPr>
          <p:cNvPr id="16" name="Text 13"/>
          <p:cNvSpPr/>
          <p:nvPr/>
        </p:nvSpPr>
        <p:spPr>
          <a:xfrm>
            <a:off x="822960" y="512064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Prompt engineering</a:t>
            </a:r>
            <a:endParaRPr lang="en-US" sz="1300" dirty="0"/>
          </a:p>
        </p:txBody>
      </p:sp>
      <p:sp>
        <p:nvSpPr>
          <p:cNvPr id="17" name="Text 14"/>
          <p:cNvSpPr/>
          <p:nvPr/>
        </p:nvSpPr>
        <p:spPr>
          <a:xfrm>
            <a:off x="822960" y="544068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Structured system + user prompts, JSON schema constraints, few-shot examples for reliability.</a:t>
            </a:r>
            <a:endParaRPr lang="en-US" sz="1100" dirty="0"/>
          </a:p>
        </p:txBody>
      </p:sp>
      <p:sp>
        <p:nvSpPr>
          <p:cNvPr id="18" name="Shape 15"/>
          <p:cNvSpPr/>
          <p:nvPr/>
        </p:nvSpPr>
        <p:spPr>
          <a:xfrm>
            <a:off x="4526280" y="1508760"/>
            <a:ext cx="3520440" cy="4937760"/>
          </a:xfrm>
          <a:prstGeom prst="rect">
            <a:avLst/>
          </a:prstGeom>
          <a:solidFill>
            <a:srgbClr val="F7F8FB"/>
          </a:solidFill>
          <a:ln w="12700">
            <a:solidFill>
              <a:srgbClr val="E2E5EE"/>
            </a:solidFill>
            <a:prstDash val="solid"/>
          </a:ln>
        </p:spPr>
        <p:txBody>
          <a:bodyPr/>
          <a:lstStyle/>
          <a:p>
            <a:endParaRPr lang="en-US"/>
          </a:p>
        </p:txBody>
      </p:sp>
      <p:sp>
        <p:nvSpPr>
          <p:cNvPr id="19" name="Shape 16"/>
          <p:cNvSpPr/>
          <p:nvPr/>
        </p:nvSpPr>
        <p:spPr>
          <a:xfrm>
            <a:off x="4526280" y="1508760"/>
            <a:ext cx="3520440" cy="73152"/>
          </a:xfrm>
          <a:prstGeom prst="rect">
            <a:avLst/>
          </a:prstGeom>
          <a:solidFill>
            <a:srgbClr val="1E2761"/>
          </a:solidFill>
          <a:ln/>
        </p:spPr>
        <p:txBody>
          <a:bodyPr/>
          <a:lstStyle/>
          <a:p>
            <a:endParaRPr lang="en-US"/>
          </a:p>
        </p:txBody>
      </p:sp>
      <p:sp>
        <p:nvSpPr>
          <p:cNvPr id="20" name="Shape 17"/>
          <p:cNvSpPr/>
          <p:nvPr/>
        </p:nvSpPr>
        <p:spPr>
          <a:xfrm>
            <a:off x="4800600" y="1691640"/>
            <a:ext cx="594360" cy="594360"/>
          </a:xfrm>
          <a:prstGeom prst="ellipse">
            <a:avLst/>
          </a:prstGeom>
          <a:solidFill>
            <a:srgbClr val="1E2761"/>
          </a:solidFill>
          <a:ln/>
        </p:spPr>
        <p:txBody>
          <a:bodyPr/>
          <a:lstStyle/>
          <a:p>
            <a:endParaRPr lang="en-US"/>
          </a:p>
        </p:txBody>
      </p:sp>
      <p:pic>
        <p:nvPicPr>
          <p:cNvPr id="21" name="Image 1" descr="preencoded.png"/>
          <p:cNvPicPr>
            <a:picLocks noChangeAspect="1"/>
          </p:cNvPicPr>
          <p:nvPr/>
        </p:nvPicPr>
        <p:blipFill>
          <a:blip r:embed="rId4"/>
          <a:stretch>
            <a:fillRect/>
          </a:stretch>
        </p:blipFill>
        <p:spPr>
          <a:xfrm>
            <a:off x="4919472" y="1810512"/>
            <a:ext cx="365760" cy="365760"/>
          </a:xfrm>
          <a:prstGeom prst="rect">
            <a:avLst/>
          </a:prstGeom>
        </p:spPr>
      </p:pic>
      <p:sp>
        <p:nvSpPr>
          <p:cNvPr id="22" name="Text 18"/>
          <p:cNvSpPr/>
          <p:nvPr/>
        </p:nvSpPr>
        <p:spPr>
          <a:xfrm>
            <a:off x="5486400" y="1691640"/>
            <a:ext cx="2468880" cy="59436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Models</a:t>
            </a:r>
            <a:endParaRPr lang="en-US" sz="1800" dirty="0"/>
          </a:p>
        </p:txBody>
      </p:sp>
      <p:sp>
        <p:nvSpPr>
          <p:cNvPr id="23" name="Text 19"/>
          <p:cNvSpPr/>
          <p:nvPr/>
        </p:nvSpPr>
        <p:spPr>
          <a:xfrm>
            <a:off x="4800600" y="246888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Large language models</a:t>
            </a:r>
            <a:endParaRPr lang="en-US" sz="1300" dirty="0"/>
          </a:p>
        </p:txBody>
      </p:sp>
      <p:sp>
        <p:nvSpPr>
          <p:cNvPr id="24" name="Text 20"/>
          <p:cNvSpPr/>
          <p:nvPr/>
        </p:nvSpPr>
        <p:spPr>
          <a:xfrm>
            <a:off x="4800600" y="278892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Claude (Anthropic), GPT-4 (OpenAI), Gemini (Google) — frontier reasoning and writing.</a:t>
            </a:r>
            <a:endParaRPr lang="en-US" sz="1100" dirty="0"/>
          </a:p>
        </p:txBody>
      </p:sp>
      <p:sp>
        <p:nvSpPr>
          <p:cNvPr id="25" name="Text 21"/>
          <p:cNvSpPr/>
          <p:nvPr/>
        </p:nvSpPr>
        <p:spPr>
          <a:xfrm>
            <a:off x="4800600" y="379476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Embedding models</a:t>
            </a:r>
            <a:endParaRPr lang="en-US" sz="1300" dirty="0"/>
          </a:p>
        </p:txBody>
      </p:sp>
      <p:sp>
        <p:nvSpPr>
          <p:cNvPr id="26" name="Text 22"/>
          <p:cNvSpPr/>
          <p:nvPr/>
        </p:nvSpPr>
        <p:spPr>
          <a:xfrm>
            <a:off x="4800600" y="411480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sentence-transformers, OpenAI text-embedding-3, Voyage — text → vector at small cost.</a:t>
            </a:r>
            <a:endParaRPr lang="en-US" sz="1100" dirty="0"/>
          </a:p>
        </p:txBody>
      </p:sp>
      <p:sp>
        <p:nvSpPr>
          <p:cNvPr id="27" name="Text 23"/>
          <p:cNvSpPr/>
          <p:nvPr/>
        </p:nvSpPr>
        <p:spPr>
          <a:xfrm>
            <a:off x="4800600" y="512064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Stylometric classifiers</a:t>
            </a:r>
            <a:endParaRPr lang="en-US" sz="1300" dirty="0"/>
          </a:p>
        </p:txBody>
      </p:sp>
      <p:sp>
        <p:nvSpPr>
          <p:cNvPr id="28" name="Text 24"/>
          <p:cNvSpPr/>
          <p:nvPr/>
        </p:nvSpPr>
        <p:spPr>
          <a:xfrm>
            <a:off x="4800600" y="544068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Heuristic AI-text detectors using sentence-length variance and lexical signals.</a:t>
            </a:r>
            <a:endParaRPr lang="en-US" sz="1100" dirty="0"/>
          </a:p>
        </p:txBody>
      </p:sp>
      <p:sp>
        <p:nvSpPr>
          <p:cNvPr id="29" name="Shape 25"/>
          <p:cNvSpPr/>
          <p:nvPr/>
        </p:nvSpPr>
        <p:spPr>
          <a:xfrm>
            <a:off x="8503920" y="1508760"/>
            <a:ext cx="3520440" cy="4937760"/>
          </a:xfrm>
          <a:prstGeom prst="rect">
            <a:avLst/>
          </a:prstGeom>
          <a:solidFill>
            <a:srgbClr val="F7F8FB"/>
          </a:solidFill>
          <a:ln w="12700">
            <a:solidFill>
              <a:srgbClr val="E2E5EE"/>
            </a:solidFill>
            <a:prstDash val="solid"/>
          </a:ln>
        </p:spPr>
        <p:txBody>
          <a:bodyPr/>
          <a:lstStyle/>
          <a:p>
            <a:endParaRPr lang="en-US"/>
          </a:p>
        </p:txBody>
      </p:sp>
      <p:sp>
        <p:nvSpPr>
          <p:cNvPr id="30" name="Shape 26"/>
          <p:cNvSpPr/>
          <p:nvPr/>
        </p:nvSpPr>
        <p:spPr>
          <a:xfrm>
            <a:off x="8503920" y="1508760"/>
            <a:ext cx="3520440" cy="73152"/>
          </a:xfrm>
          <a:prstGeom prst="rect">
            <a:avLst/>
          </a:prstGeom>
          <a:solidFill>
            <a:srgbClr val="1E2761"/>
          </a:solidFill>
          <a:ln/>
        </p:spPr>
        <p:txBody>
          <a:bodyPr/>
          <a:lstStyle/>
          <a:p>
            <a:endParaRPr lang="en-US"/>
          </a:p>
        </p:txBody>
      </p:sp>
      <p:sp>
        <p:nvSpPr>
          <p:cNvPr id="31" name="Shape 27"/>
          <p:cNvSpPr/>
          <p:nvPr/>
        </p:nvSpPr>
        <p:spPr>
          <a:xfrm>
            <a:off x="8778240" y="1691640"/>
            <a:ext cx="594360" cy="594360"/>
          </a:xfrm>
          <a:prstGeom prst="ellipse">
            <a:avLst/>
          </a:prstGeom>
          <a:solidFill>
            <a:srgbClr val="1E2761"/>
          </a:solidFill>
          <a:ln/>
        </p:spPr>
        <p:txBody>
          <a:bodyPr/>
          <a:lstStyle/>
          <a:p>
            <a:endParaRPr lang="en-US"/>
          </a:p>
        </p:txBody>
      </p:sp>
      <p:pic>
        <p:nvPicPr>
          <p:cNvPr id="32" name="Image 2" descr="preencoded.png"/>
          <p:cNvPicPr>
            <a:picLocks noChangeAspect="1"/>
          </p:cNvPicPr>
          <p:nvPr/>
        </p:nvPicPr>
        <p:blipFill>
          <a:blip r:embed="rId5"/>
          <a:stretch>
            <a:fillRect/>
          </a:stretch>
        </p:blipFill>
        <p:spPr>
          <a:xfrm>
            <a:off x="8897112" y="1810512"/>
            <a:ext cx="365760" cy="365760"/>
          </a:xfrm>
          <a:prstGeom prst="rect">
            <a:avLst/>
          </a:prstGeom>
        </p:spPr>
      </p:pic>
      <p:sp>
        <p:nvSpPr>
          <p:cNvPr id="33" name="Text 28"/>
          <p:cNvSpPr/>
          <p:nvPr/>
        </p:nvSpPr>
        <p:spPr>
          <a:xfrm>
            <a:off x="9464040" y="1691640"/>
            <a:ext cx="2468880" cy="59436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Techniques</a:t>
            </a:r>
            <a:endParaRPr lang="en-US" sz="1800" dirty="0"/>
          </a:p>
        </p:txBody>
      </p:sp>
      <p:sp>
        <p:nvSpPr>
          <p:cNvPr id="34" name="Text 29"/>
          <p:cNvSpPr/>
          <p:nvPr/>
        </p:nvSpPr>
        <p:spPr>
          <a:xfrm>
            <a:off x="8778240" y="246888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TF-IDF baseline</a:t>
            </a:r>
            <a:endParaRPr lang="en-US" sz="1300" dirty="0"/>
          </a:p>
        </p:txBody>
      </p:sp>
      <p:sp>
        <p:nvSpPr>
          <p:cNvPr id="35" name="Text 30"/>
          <p:cNvSpPr/>
          <p:nvPr/>
        </p:nvSpPr>
        <p:spPr>
          <a:xfrm>
            <a:off x="8778240" y="278892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Classical bag-of-words vectoriser. Explainable, deterministic, sufficient for small corpora.</a:t>
            </a:r>
            <a:endParaRPr lang="en-US" sz="1100" dirty="0"/>
          </a:p>
        </p:txBody>
      </p:sp>
      <p:sp>
        <p:nvSpPr>
          <p:cNvPr id="36" name="Text 31"/>
          <p:cNvSpPr/>
          <p:nvPr/>
        </p:nvSpPr>
        <p:spPr>
          <a:xfrm>
            <a:off x="8778240" y="379476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Retrieval augmentation</a:t>
            </a:r>
            <a:endParaRPr lang="en-US" sz="1300" dirty="0"/>
          </a:p>
        </p:txBody>
      </p:sp>
      <p:sp>
        <p:nvSpPr>
          <p:cNvPr id="37" name="Text 32"/>
          <p:cNvSpPr/>
          <p:nvPr/>
        </p:nvSpPr>
        <p:spPr>
          <a:xfrm>
            <a:off x="8778240" y="411480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Combine retrieval (find similar) with generation (write about it) for grounded outputs.</a:t>
            </a:r>
            <a:endParaRPr lang="en-US" sz="1100" dirty="0"/>
          </a:p>
        </p:txBody>
      </p:sp>
      <p:sp>
        <p:nvSpPr>
          <p:cNvPr id="38" name="Text 33"/>
          <p:cNvSpPr/>
          <p:nvPr/>
        </p:nvSpPr>
        <p:spPr>
          <a:xfrm>
            <a:off x="8778240" y="5120640"/>
            <a:ext cx="315468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Provider abstraction</a:t>
            </a:r>
            <a:endParaRPr lang="en-US" sz="1300" dirty="0"/>
          </a:p>
        </p:txBody>
      </p:sp>
      <p:sp>
        <p:nvSpPr>
          <p:cNvPr id="39" name="Text 34"/>
          <p:cNvSpPr/>
          <p:nvPr/>
        </p:nvSpPr>
        <p:spPr>
          <a:xfrm>
            <a:off x="8778240" y="5440680"/>
            <a:ext cx="3154680" cy="914400"/>
          </a:xfrm>
          <a:prstGeom prst="rect">
            <a:avLst/>
          </a:prstGeom>
          <a:noFill/>
          <a:ln/>
        </p:spPr>
        <p:txBody>
          <a:bodyPr wrap="square" lIns="0" tIns="0" rIns="0" bIns="0" rtlCol="0" anchor="ctr"/>
          <a:lstStyle/>
          <a:p>
            <a:pPr marL="0" indent="0">
              <a:buNone/>
            </a:pPr>
            <a:r>
              <a:rPr lang="en-US" sz="1100" dirty="0">
                <a:solidFill>
                  <a:srgbClr val="5C6488"/>
                </a:solidFill>
                <a:latin typeface="Calibri" pitchFamily="34" charset="0"/>
                <a:ea typeface="Calibri" pitchFamily="34" charset="-122"/>
                <a:cs typeface="Calibri" pitchFamily="34" charset="-120"/>
              </a:rPr>
              <a:t>Swap LLM backends behind one interface. Heuristic for free demos, frontier model for production.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Four planned GenAI features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Each business question maps to a concrete feature</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600200"/>
            <a:ext cx="5486400" cy="214884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600200"/>
            <a:ext cx="73152" cy="2148840"/>
          </a:xfrm>
          <a:prstGeom prst="rect">
            <a:avLst/>
          </a:prstGeom>
          <a:solidFill>
            <a:srgbClr val="1E2761"/>
          </a:solidFill>
          <a:ln/>
        </p:spPr>
        <p:txBody>
          <a:bodyPr/>
          <a:lstStyle/>
          <a:p>
            <a:endParaRPr lang="en-US"/>
          </a:p>
        </p:txBody>
      </p:sp>
      <p:sp>
        <p:nvSpPr>
          <p:cNvPr id="9" name="Shape 7"/>
          <p:cNvSpPr/>
          <p:nvPr/>
        </p:nvSpPr>
        <p:spPr>
          <a:xfrm>
            <a:off x="868680" y="1920240"/>
            <a:ext cx="640080" cy="64008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96696" y="2048256"/>
            <a:ext cx="384048" cy="384048"/>
          </a:xfrm>
          <a:prstGeom prst="rect">
            <a:avLst/>
          </a:prstGeom>
        </p:spPr>
      </p:pic>
      <p:sp>
        <p:nvSpPr>
          <p:cNvPr id="11" name="Text 8"/>
          <p:cNvSpPr/>
          <p:nvPr/>
        </p:nvSpPr>
        <p:spPr>
          <a:xfrm>
            <a:off x="1691640" y="1874520"/>
            <a:ext cx="329184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Author writing assistant</a:t>
            </a:r>
            <a:endParaRPr lang="en-US" sz="1700" dirty="0"/>
          </a:p>
        </p:txBody>
      </p:sp>
      <p:sp>
        <p:nvSpPr>
          <p:cNvPr id="12" name="Shape 9"/>
          <p:cNvSpPr/>
          <p:nvPr/>
        </p:nvSpPr>
        <p:spPr>
          <a:xfrm>
            <a:off x="4754880" y="1965960"/>
            <a:ext cx="1143000" cy="320040"/>
          </a:xfrm>
          <a:prstGeom prst="rect">
            <a:avLst/>
          </a:prstGeom>
          <a:solidFill>
            <a:srgbClr val="CADCFC"/>
          </a:solidFill>
          <a:ln/>
        </p:spPr>
        <p:txBody>
          <a:bodyPr/>
          <a:lstStyle/>
          <a:p>
            <a:endParaRPr lang="en-US"/>
          </a:p>
        </p:txBody>
      </p:sp>
      <p:sp>
        <p:nvSpPr>
          <p:cNvPr id="13" name="Text 10"/>
          <p:cNvSpPr/>
          <p:nvPr/>
        </p:nvSpPr>
        <p:spPr>
          <a:xfrm>
            <a:off x="4754880" y="196596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Q1 · LLM</a:t>
            </a:r>
            <a:endParaRPr lang="en-US" sz="900" dirty="0"/>
          </a:p>
        </p:txBody>
      </p:sp>
      <p:sp>
        <p:nvSpPr>
          <p:cNvPr id="14" name="Text 11"/>
          <p:cNvSpPr/>
          <p:nvPr/>
        </p:nvSpPr>
        <p:spPr>
          <a:xfrm>
            <a:off x="868680" y="265176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Polishes the abstract, suggests alternative titles, extracts keywords on demand. Author edits and accepts.</a:t>
            </a:r>
            <a:endParaRPr lang="en-US" sz="1300" dirty="0"/>
          </a:p>
        </p:txBody>
      </p:sp>
      <p:sp>
        <p:nvSpPr>
          <p:cNvPr id="15" name="Shape 12"/>
          <p:cNvSpPr/>
          <p:nvPr/>
        </p:nvSpPr>
        <p:spPr>
          <a:xfrm>
            <a:off x="6199632" y="1600200"/>
            <a:ext cx="5486400" cy="2148840"/>
          </a:xfrm>
          <a:prstGeom prst="rect">
            <a:avLst/>
          </a:prstGeom>
          <a:solidFill>
            <a:srgbClr val="F7F8FB"/>
          </a:solidFill>
          <a:ln w="12700">
            <a:solidFill>
              <a:srgbClr val="E2E5EE"/>
            </a:solidFill>
            <a:prstDash val="solid"/>
          </a:ln>
        </p:spPr>
        <p:txBody>
          <a:bodyPr/>
          <a:lstStyle/>
          <a:p>
            <a:endParaRPr lang="en-US"/>
          </a:p>
        </p:txBody>
      </p:sp>
      <p:sp>
        <p:nvSpPr>
          <p:cNvPr id="16" name="Shape 13"/>
          <p:cNvSpPr/>
          <p:nvPr/>
        </p:nvSpPr>
        <p:spPr>
          <a:xfrm>
            <a:off x="6199632" y="1600200"/>
            <a:ext cx="73152" cy="2148840"/>
          </a:xfrm>
          <a:prstGeom prst="rect">
            <a:avLst/>
          </a:prstGeom>
          <a:solidFill>
            <a:srgbClr val="1E2761"/>
          </a:solidFill>
          <a:ln/>
        </p:spPr>
        <p:txBody>
          <a:bodyPr/>
          <a:lstStyle/>
          <a:p>
            <a:endParaRPr lang="en-US"/>
          </a:p>
        </p:txBody>
      </p:sp>
      <p:sp>
        <p:nvSpPr>
          <p:cNvPr id="17" name="Shape 14"/>
          <p:cNvSpPr/>
          <p:nvPr/>
        </p:nvSpPr>
        <p:spPr>
          <a:xfrm>
            <a:off x="6519672" y="1920240"/>
            <a:ext cx="640080" cy="640080"/>
          </a:xfrm>
          <a:prstGeom prst="ellipse">
            <a:avLst/>
          </a:prstGeom>
          <a:solidFill>
            <a:srgbClr val="1E2761"/>
          </a:solidFill>
          <a:ln/>
        </p:spPr>
        <p:txBody>
          <a:bodyPr/>
          <a:lstStyle/>
          <a:p>
            <a:endParaRPr lang="en-US"/>
          </a:p>
        </p:txBody>
      </p:sp>
      <p:pic>
        <p:nvPicPr>
          <p:cNvPr id="18" name="Image 1" descr="preencoded.png"/>
          <p:cNvPicPr>
            <a:picLocks noChangeAspect="1"/>
          </p:cNvPicPr>
          <p:nvPr/>
        </p:nvPicPr>
        <p:blipFill>
          <a:blip r:embed="rId4"/>
          <a:stretch>
            <a:fillRect/>
          </a:stretch>
        </p:blipFill>
        <p:spPr>
          <a:xfrm>
            <a:off x="6647688" y="2048256"/>
            <a:ext cx="384048" cy="384048"/>
          </a:xfrm>
          <a:prstGeom prst="rect">
            <a:avLst/>
          </a:prstGeom>
        </p:spPr>
      </p:pic>
      <p:sp>
        <p:nvSpPr>
          <p:cNvPr id="19" name="Text 15"/>
          <p:cNvSpPr/>
          <p:nvPr/>
        </p:nvSpPr>
        <p:spPr>
          <a:xfrm>
            <a:off x="7342632" y="1874520"/>
            <a:ext cx="329184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Smart reviewer matching</a:t>
            </a:r>
            <a:endParaRPr lang="en-US" sz="1700" dirty="0"/>
          </a:p>
        </p:txBody>
      </p:sp>
      <p:sp>
        <p:nvSpPr>
          <p:cNvPr id="20" name="Shape 16"/>
          <p:cNvSpPr/>
          <p:nvPr/>
        </p:nvSpPr>
        <p:spPr>
          <a:xfrm>
            <a:off x="10405872" y="1965960"/>
            <a:ext cx="1143000" cy="320040"/>
          </a:xfrm>
          <a:prstGeom prst="rect">
            <a:avLst/>
          </a:prstGeom>
          <a:solidFill>
            <a:srgbClr val="CADCFC"/>
          </a:solidFill>
          <a:ln/>
        </p:spPr>
        <p:txBody>
          <a:bodyPr/>
          <a:lstStyle/>
          <a:p>
            <a:endParaRPr lang="en-US"/>
          </a:p>
        </p:txBody>
      </p:sp>
      <p:sp>
        <p:nvSpPr>
          <p:cNvPr id="21" name="Text 17"/>
          <p:cNvSpPr/>
          <p:nvPr/>
        </p:nvSpPr>
        <p:spPr>
          <a:xfrm>
            <a:off x="10405872" y="196596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Q2 · Embeddings</a:t>
            </a:r>
            <a:endParaRPr lang="en-US" sz="900" dirty="0"/>
          </a:p>
        </p:txBody>
      </p:sp>
      <p:sp>
        <p:nvSpPr>
          <p:cNvPr id="22" name="Text 18"/>
          <p:cNvSpPr/>
          <p:nvPr/>
        </p:nvSpPr>
        <p:spPr>
          <a:xfrm>
            <a:off x="6519672" y="265176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Cosine similarity over reviewer expertise tags. Editor sees a top-3 ranked list with scores and can override.</a:t>
            </a:r>
            <a:endParaRPr lang="en-US" sz="1300" dirty="0"/>
          </a:p>
        </p:txBody>
      </p:sp>
      <p:sp>
        <p:nvSpPr>
          <p:cNvPr id="23" name="Shape 19"/>
          <p:cNvSpPr/>
          <p:nvPr/>
        </p:nvSpPr>
        <p:spPr>
          <a:xfrm>
            <a:off x="548640" y="3931920"/>
            <a:ext cx="5486400" cy="2148840"/>
          </a:xfrm>
          <a:prstGeom prst="rect">
            <a:avLst/>
          </a:prstGeom>
          <a:solidFill>
            <a:srgbClr val="F7F8FB"/>
          </a:solidFill>
          <a:ln w="12700">
            <a:solidFill>
              <a:srgbClr val="E2E5EE"/>
            </a:solidFill>
            <a:prstDash val="solid"/>
          </a:ln>
        </p:spPr>
        <p:txBody>
          <a:bodyPr/>
          <a:lstStyle/>
          <a:p>
            <a:endParaRPr lang="en-US"/>
          </a:p>
        </p:txBody>
      </p:sp>
      <p:sp>
        <p:nvSpPr>
          <p:cNvPr id="24" name="Shape 20"/>
          <p:cNvSpPr/>
          <p:nvPr/>
        </p:nvSpPr>
        <p:spPr>
          <a:xfrm>
            <a:off x="548640" y="3931920"/>
            <a:ext cx="73152" cy="2148840"/>
          </a:xfrm>
          <a:prstGeom prst="rect">
            <a:avLst/>
          </a:prstGeom>
          <a:solidFill>
            <a:srgbClr val="1E2761"/>
          </a:solidFill>
          <a:ln/>
        </p:spPr>
        <p:txBody>
          <a:bodyPr/>
          <a:lstStyle/>
          <a:p>
            <a:endParaRPr lang="en-US"/>
          </a:p>
        </p:txBody>
      </p:sp>
      <p:sp>
        <p:nvSpPr>
          <p:cNvPr id="25" name="Shape 21"/>
          <p:cNvSpPr/>
          <p:nvPr/>
        </p:nvSpPr>
        <p:spPr>
          <a:xfrm>
            <a:off x="868680" y="4251960"/>
            <a:ext cx="640080" cy="640080"/>
          </a:xfrm>
          <a:prstGeom prst="ellipse">
            <a:avLst/>
          </a:prstGeom>
          <a:solidFill>
            <a:srgbClr val="1E2761"/>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996696" y="4379976"/>
            <a:ext cx="384048" cy="384048"/>
          </a:xfrm>
          <a:prstGeom prst="rect">
            <a:avLst/>
          </a:prstGeom>
        </p:spPr>
      </p:pic>
      <p:sp>
        <p:nvSpPr>
          <p:cNvPr id="27" name="Text 22"/>
          <p:cNvSpPr/>
          <p:nvPr/>
        </p:nvSpPr>
        <p:spPr>
          <a:xfrm>
            <a:off x="1691640" y="4206240"/>
            <a:ext cx="329184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Plagiarism + AI-text flag</a:t>
            </a:r>
            <a:endParaRPr lang="en-US" sz="1700" dirty="0"/>
          </a:p>
        </p:txBody>
      </p:sp>
      <p:sp>
        <p:nvSpPr>
          <p:cNvPr id="28" name="Shape 23"/>
          <p:cNvSpPr/>
          <p:nvPr/>
        </p:nvSpPr>
        <p:spPr>
          <a:xfrm>
            <a:off x="4754880" y="4297680"/>
            <a:ext cx="1143000" cy="320040"/>
          </a:xfrm>
          <a:prstGeom prst="rect">
            <a:avLst/>
          </a:prstGeom>
          <a:solidFill>
            <a:srgbClr val="CADCFC"/>
          </a:solidFill>
          <a:ln/>
        </p:spPr>
        <p:txBody>
          <a:bodyPr/>
          <a:lstStyle/>
          <a:p>
            <a:endParaRPr lang="en-US"/>
          </a:p>
        </p:txBody>
      </p:sp>
      <p:sp>
        <p:nvSpPr>
          <p:cNvPr id="29" name="Text 24"/>
          <p:cNvSpPr/>
          <p:nvPr/>
        </p:nvSpPr>
        <p:spPr>
          <a:xfrm>
            <a:off x="4754880" y="429768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Q3 · Embeddings</a:t>
            </a:r>
            <a:endParaRPr lang="en-US" sz="900" dirty="0"/>
          </a:p>
        </p:txBody>
      </p:sp>
      <p:sp>
        <p:nvSpPr>
          <p:cNvPr id="30" name="Text 25"/>
          <p:cNvSpPr/>
          <p:nvPr/>
        </p:nvSpPr>
        <p:spPr>
          <a:xfrm>
            <a:off x="868680" y="498348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Max similarity to existing corpus + transparent stylometric AI-text score. Flag, never verdict.</a:t>
            </a:r>
            <a:endParaRPr lang="en-US" sz="1300" dirty="0"/>
          </a:p>
        </p:txBody>
      </p:sp>
      <p:sp>
        <p:nvSpPr>
          <p:cNvPr id="31" name="Shape 26"/>
          <p:cNvSpPr/>
          <p:nvPr/>
        </p:nvSpPr>
        <p:spPr>
          <a:xfrm>
            <a:off x="6199632" y="3931920"/>
            <a:ext cx="5486400" cy="2148840"/>
          </a:xfrm>
          <a:prstGeom prst="rect">
            <a:avLst/>
          </a:prstGeom>
          <a:solidFill>
            <a:srgbClr val="F7F8FB"/>
          </a:solidFill>
          <a:ln w="12700">
            <a:solidFill>
              <a:srgbClr val="E2E5EE"/>
            </a:solidFill>
            <a:prstDash val="solid"/>
          </a:ln>
        </p:spPr>
        <p:txBody>
          <a:bodyPr/>
          <a:lstStyle/>
          <a:p>
            <a:endParaRPr lang="en-US"/>
          </a:p>
        </p:txBody>
      </p:sp>
      <p:sp>
        <p:nvSpPr>
          <p:cNvPr id="32" name="Shape 27"/>
          <p:cNvSpPr/>
          <p:nvPr/>
        </p:nvSpPr>
        <p:spPr>
          <a:xfrm>
            <a:off x="6199632" y="3931920"/>
            <a:ext cx="73152" cy="2148840"/>
          </a:xfrm>
          <a:prstGeom prst="rect">
            <a:avLst/>
          </a:prstGeom>
          <a:solidFill>
            <a:srgbClr val="1E2761"/>
          </a:solidFill>
          <a:ln/>
        </p:spPr>
        <p:txBody>
          <a:bodyPr/>
          <a:lstStyle/>
          <a:p>
            <a:endParaRPr lang="en-US"/>
          </a:p>
        </p:txBody>
      </p:sp>
      <p:sp>
        <p:nvSpPr>
          <p:cNvPr id="33" name="Shape 28"/>
          <p:cNvSpPr/>
          <p:nvPr/>
        </p:nvSpPr>
        <p:spPr>
          <a:xfrm>
            <a:off x="6519672" y="4251960"/>
            <a:ext cx="640080" cy="640080"/>
          </a:xfrm>
          <a:prstGeom prst="ellipse">
            <a:avLst/>
          </a:prstGeom>
          <a:solidFill>
            <a:srgbClr val="1E2761"/>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6647688" y="4379976"/>
            <a:ext cx="384048" cy="384048"/>
          </a:xfrm>
          <a:prstGeom prst="rect">
            <a:avLst/>
          </a:prstGeom>
        </p:spPr>
      </p:pic>
      <p:sp>
        <p:nvSpPr>
          <p:cNvPr id="35" name="Text 29"/>
          <p:cNvSpPr/>
          <p:nvPr/>
        </p:nvSpPr>
        <p:spPr>
          <a:xfrm>
            <a:off x="7342632" y="4206240"/>
            <a:ext cx="329184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AI reviewer assistant</a:t>
            </a:r>
            <a:endParaRPr lang="en-US" sz="1700" dirty="0"/>
          </a:p>
        </p:txBody>
      </p:sp>
      <p:sp>
        <p:nvSpPr>
          <p:cNvPr id="36" name="Shape 30"/>
          <p:cNvSpPr/>
          <p:nvPr/>
        </p:nvSpPr>
        <p:spPr>
          <a:xfrm>
            <a:off x="10405872" y="4297680"/>
            <a:ext cx="1143000" cy="320040"/>
          </a:xfrm>
          <a:prstGeom prst="rect">
            <a:avLst/>
          </a:prstGeom>
          <a:solidFill>
            <a:srgbClr val="CADCFC"/>
          </a:solidFill>
          <a:ln/>
        </p:spPr>
        <p:txBody>
          <a:bodyPr/>
          <a:lstStyle/>
          <a:p>
            <a:endParaRPr lang="en-US"/>
          </a:p>
        </p:txBody>
      </p:sp>
      <p:sp>
        <p:nvSpPr>
          <p:cNvPr id="37" name="Text 31"/>
          <p:cNvSpPr/>
          <p:nvPr/>
        </p:nvSpPr>
        <p:spPr>
          <a:xfrm>
            <a:off x="10405872" y="4297680"/>
            <a:ext cx="1143000" cy="320040"/>
          </a:xfrm>
          <a:prstGeom prst="rect">
            <a:avLst/>
          </a:prstGeom>
          <a:noFill/>
          <a:ln/>
        </p:spPr>
        <p:txBody>
          <a:bodyPr wrap="square" lIns="0" tIns="0" rIns="0" bIns="0" rtlCol="0" anchor="ctr"/>
          <a:lstStyle/>
          <a:p>
            <a:pPr marL="0" indent="0" algn="ctr">
              <a:buNone/>
            </a:pPr>
            <a:r>
              <a:rPr lang="en-US" sz="900" b="1" kern="0" spc="100" dirty="0">
                <a:solidFill>
                  <a:srgbClr val="1E2761"/>
                </a:solidFill>
                <a:latin typeface="Calibri" pitchFamily="34" charset="0"/>
                <a:ea typeface="Calibri" pitchFamily="34" charset="-122"/>
                <a:cs typeface="Calibri" pitchFamily="34" charset="-120"/>
              </a:rPr>
              <a:t>Q4 · LLM</a:t>
            </a:r>
            <a:endParaRPr lang="en-US" sz="900" dirty="0"/>
          </a:p>
        </p:txBody>
      </p:sp>
      <p:sp>
        <p:nvSpPr>
          <p:cNvPr id="38" name="Text 32"/>
          <p:cNvSpPr/>
          <p:nvPr/>
        </p:nvSpPr>
        <p:spPr>
          <a:xfrm>
            <a:off x="6519672" y="498348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Drafts structured first-pass review (summary / strengths / weaknesses / 1-5 scores / recommendation).</a:t>
            </a:r>
            <a:endParaRPr lang="en-US" sz="1300" dirty="0"/>
          </a:p>
        </p:txBody>
      </p:sp>
      <p:sp>
        <p:nvSpPr>
          <p:cNvPr id="39" name="Text 33"/>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40" name="Text 34"/>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Architecture I have prepared</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Provider-agnostic LLM abstraction, MVC layout, audit logging</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668780"/>
            <a:ext cx="2286000" cy="777240"/>
          </a:xfrm>
          <a:prstGeom prst="rect">
            <a:avLst/>
          </a:prstGeom>
          <a:solidFill>
            <a:srgbClr val="CADCFC"/>
          </a:solidFill>
          <a:ln w="12700">
            <a:solidFill>
              <a:srgbClr val="D5D9E5"/>
            </a:solidFill>
            <a:prstDash val="solid"/>
          </a:ln>
        </p:spPr>
        <p:txBody>
          <a:bodyPr/>
          <a:lstStyle/>
          <a:p>
            <a:endParaRPr lang="en-US"/>
          </a:p>
        </p:txBody>
      </p:sp>
      <p:sp>
        <p:nvSpPr>
          <p:cNvPr id="8" name="Text 6"/>
          <p:cNvSpPr/>
          <p:nvPr/>
        </p:nvSpPr>
        <p:spPr>
          <a:xfrm>
            <a:off x="548640" y="1668780"/>
            <a:ext cx="2286000" cy="77724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Browser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(EJS + Tailwind)</a:t>
            </a:r>
            <a:endParaRPr lang="en-US" sz="1200" dirty="0"/>
          </a:p>
        </p:txBody>
      </p:sp>
      <p:sp>
        <p:nvSpPr>
          <p:cNvPr id="9" name="Shape 7"/>
          <p:cNvSpPr/>
          <p:nvPr/>
        </p:nvSpPr>
        <p:spPr>
          <a:xfrm>
            <a:off x="2834640" y="2061972"/>
            <a:ext cx="548640" cy="0"/>
          </a:xfrm>
          <a:prstGeom prst="line">
            <a:avLst/>
          </a:prstGeom>
          <a:noFill/>
          <a:ln w="19050">
            <a:solidFill>
              <a:srgbClr val="1E2761"/>
            </a:solidFill>
            <a:prstDash val="solid"/>
            <a:tailEnd type="triangle"/>
          </a:ln>
        </p:spPr>
        <p:txBody>
          <a:bodyPr/>
          <a:lstStyle/>
          <a:p>
            <a:endParaRPr lang="en-US"/>
          </a:p>
        </p:txBody>
      </p:sp>
      <p:sp>
        <p:nvSpPr>
          <p:cNvPr id="10" name="Shape 8"/>
          <p:cNvSpPr/>
          <p:nvPr/>
        </p:nvSpPr>
        <p:spPr>
          <a:xfrm>
            <a:off x="3383280" y="1554480"/>
            <a:ext cx="2743200" cy="100584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3383280" y="1554480"/>
            <a:ext cx="2743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Express App</a:t>
            </a:r>
            <a:endParaRPr lang="en-US" sz="1300" dirty="0"/>
          </a:p>
        </p:txBody>
      </p:sp>
      <p:sp>
        <p:nvSpPr>
          <p:cNvPr id="12" name="Text 10"/>
          <p:cNvSpPr/>
          <p:nvPr/>
        </p:nvSpPr>
        <p:spPr>
          <a:xfrm>
            <a:off x="3383280" y="2103120"/>
            <a:ext cx="2743200" cy="365760"/>
          </a:xfrm>
          <a:prstGeom prst="rect">
            <a:avLst/>
          </a:prstGeom>
          <a:noFill/>
          <a:ln/>
        </p:spPr>
        <p:txBody>
          <a:bodyPr wrap="square" lIns="0" tIns="0" rIns="0" bIns="0" rtlCol="0" anchor="ctr"/>
          <a:lstStyle/>
          <a:p>
            <a:pPr marL="0" indent="0" algn="ctr">
              <a:buNone/>
            </a:pPr>
            <a:r>
              <a:rPr lang="en-US" sz="900" i="1" dirty="0">
                <a:solidFill>
                  <a:srgbClr val="CADCFC"/>
                </a:solidFill>
                <a:latin typeface="Calibri" pitchFamily="34" charset="0"/>
                <a:ea typeface="Calibri" pitchFamily="34" charset="-122"/>
                <a:cs typeface="Calibri" pitchFamily="34" charset="-120"/>
              </a:rPr>
              <a:t>helmet · CSP · session · CSRF · rate-limit</a:t>
            </a:r>
            <a:endParaRPr lang="en-US" sz="900" dirty="0"/>
          </a:p>
        </p:txBody>
      </p:sp>
      <p:sp>
        <p:nvSpPr>
          <p:cNvPr id="13" name="Shape 11"/>
          <p:cNvSpPr/>
          <p:nvPr/>
        </p:nvSpPr>
        <p:spPr>
          <a:xfrm>
            <a:off x="6126480" y="2061972"/>
            <a:ext cx="548640" cy="0"/>
          </a:xfrm>
          <a:prstGeom prst="line">
            <a:avLst/>
          </a:prstGeom>
          <a:noFill/>
          <a:ln w="19050">
            <a:solidFill>
              <a:srgbClr val="1E2761"/>
            </a:solidFill>
            <a:prstDash val="solid"/>
            <a:tailEnd type="triangle"/>
          </a:ln>
        </p:spPr>
        <p:txBody>
          <a:bodyPr/>
          <a:lstStyle/>
          <a:p>
            <a:endParaRPr lang="en-US"/>
          </a:p>
        </p:txBody>
      </p:sp>
      <p:sp>
        <p:nvSpPr>
          <p:cNvPr id="14" name="Shape 12"/>
          <p:cNvSpPr/>
          <p:nvPr/>
        </p:nvSpPr>
        <p:spPr>
          <a:xfrm>
            <a:off x="6675120" y="1668780"/>
            <a:ext cx="4937760" cy="777240"/>
          </a:xfrm>
          <a:prstGeom prst="rect">
            <a:avLst/>
          </a:prstGeom>
          <a:solidFill>
            <a:srgbClr val="000000"/>
          </a:solidFill>
          <a:ln w="12700">
            <a:solidFill>
              <a:srgbClr val="D5D9E5"/>
            </a:solidFill>
            <a:prstDash val="solid"/>
          </a:ln>
        </p:spPr>
        <p:txBody>
          <a:bodyPr/>
          <a:lstStyle/>
          <a:p>
            <a:endParaRPr lang="en-US"/>
          </a:p>
        </p:txBody>
      </p:sp>
      <p:sp>
        <p:nvSpPr>
          <p:cNvPr id="15" name="Text 13"/>
          <p:cNvSpPr/>
          <p:nvPr/>
        </p:nvSpPr>
        <p:spPr>
          <a:xfrm>
            <a:off x="6675120" y="1668780"/>
            <a:ext cx="4937760" cy="777240"/>
          </a:xfrm>
          <a:prstGeom prst="rect">
            <a:avLst/>
          </a:prstGeom>
          <a:noFill/>
          <a:ln/>
        </p:spPr>
        <p:txBody>
          <a:bodyPr wrap="square" lIns="0" tIns="0" rIns="0" bIns="0" rtlCol="0" anchor="ctr"/>
          <a:lstStyle/>
          <a:p>
            <a:pPr marL="0" indent="0" algn="ctr">
              <a:buNone/>
            </a:pPr>
            <a:r>
              <a:rPr lang="en-US" sz="1200" b="1" dirty="0">
                <a:solidFill>
                  <a:srgbClr val="0F1538"/>
                </a:solidFill>
                <a:latin typeface="Calibri" pitchFamily="34" charset="0"/>
                <a:ea typeface="Calibri" pitchFamily="34" charset="-122"/>
                <a:cs typeface="Calibri" pitchFamily="34" charset="-120"/>
              </a:rPr>
              <a:t>Routes → Controllers → Services → Models</a:t>
            </a:r>
            <a:endParaRPr lang="en-US" sz="1200" dirty="0"/>
          </a:p>
        </p:txBody>
      </p:sp>
      <p:sp>
        <p:nvSpPr>
          <p:cNvPr id="16" name="Shape 14"/>
          <p:cNvSpPr/>
          <p:nvPr/>
        </p:nvSpPr>
        <p:spPr>
          <a:xfrm>
            <a:off x="54864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17" name="Text 15"/>
          <p:cNvSpPr/>
          <p:nvPr/>
        </p:nvSpPr>
        <p:spPr>
          <a:xfrm>
            <a:off x="54864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reviewerMatcher</a:t>
            </a:r>
            <a:endParaRPr lang="en-US" sz="1100" dirty="0"/>
          </a:p>
        </p:txBody>
      </p:sp>
      <p:sp>
        <p:nvSpPr>
          <p:cNvPr id="18" name="Text 16"/>
          <p:cNvSpPr/>
          <p:nvPr/>
        </p:nvSpPr>
        <p:spPr>
          <a:xfrm>
            <a:off x="54864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TF-IDF cosine</a:t>
            </a:r>
            <a:endParaRPr lang="en-US" sz="1000" dirty="0"/>
          </a:p>
        </p:txBody>
      </p:sp>
      <p:sp>
        <p:nvSpPr>
          <p:cNvPr id="19" name="Shape 17"/>
          <p:cNvSpPr/>
          <p:nvPr/>
        </p:nvSpPr>
        <p:spPr>
          <a:xfrm>
            <a:off x="274320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20" name="Text 18"/>
          <p:cNvSpPr/>
          <p:nvPr/>
        </p:nvSpPr>
        <p:spPr>
          <a:xfrm>
            <a:off x="274320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plagiarism</a:t>
            </a:r>
            <a:endParaRPr lang="en-US" sz="1100" dirty="0"/>
          </a:p>
        </p:txBody>
      </p:sp>
      <p:sp>
        <p:nvSpPr>
          <p:cNvPr id="21" name="Text 19"/>
          <p:cNvSpPr/>
          <p:nvPr/>
        </p:nvSpPr>
        <p:spPr>
          <a:xfrm>
            <a:off x="274320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TF-IDF + stylometry</a:t>
            </a:r>
            <a:endParaRPr lang="en-US" sz="1000" dirty="0"/>
          </a:p>
        </p:txBody>
      </p:sp>
      <p:sp>
        <p:nvSpPr>
          <p:cNvPr id="22" name="Shape 20"/>
          <p:cNvSpPr/>
          <p:nvPr/>
        </p:nvSpPr>
        <p:spPr>
          <a:xfrm>
            <a:off x="493776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23" name="Text 21"/>
          <p:cNvSpPr/>
          <p:nvPr/>
        </p:nvSpPr>
        <p:spPr>
          <a:xfrm>
            <a:off x="493776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aiReviewer</a:t>
            </a:r>
            <a:endParaRPr lang="en-US" sz="1100" dirty="0"/>
          </a:p>
        </p:txBody>
      </p:sp>
      <p:sp>
        <p:nvSpPr>
          <p:cNvPr id="24" name="Text 22"/>
          <p:cNvSpPr/>
          <p:nvPr/>
        </p:nvSpPr>
        <p:spPr>
          <a:xfrm>
            <a:off x="493776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LLM draft</a:t>
            </a:r>
            <a:endParaRPr lang="en-US" sz="1000" dirty="0"/>
          </a:p>
        </p:txBody>
      </p:sp>
      <p:sp>
        <p:nvSpPr>
          <p:cNvPr id="25" name="Shape 23"/>
          <p:cNvSpPr/>
          <p:nvPr/>
        </p:nvSpPr>
        <p:spPr>
          <a:xfrm>
            <a:off x="713232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26" name="Text 24"/>
          <p:cNvSpPr/>
          <p:nvPr/>
        </p:nvSpPr>
        <p:spPr>
          <a:xfrm>
            <a:off x="713232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writingAssistant</a:t>
            </a:r>
            <a:endParaRPr lang="en-US" sz="1100" dirty="0"/>
          </a:p>
        </p:txBody>
      </p:sp>
      <p:sp>
        <p:nvSpPr>
          <p:cNvPr id="27" name="Text 25"/>
          <p:cNvSpPr/>
          <p:nvPr/>
        </p:nvSpPr>
        <p:spPr>
          <a:xfrm>
            <a:off x="713232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LLM polish + titles</a:t>
            </a:r>
            <a:endParaRPr lang="en-US" sz="1000" dirty="0"/>
          </a:p>
        </p:txBody>
      </p:sp>
      <p:sp>
        <p:nvSpPr>
          <p:cNvPr id="28" name="Shape 26"/>
          <p:cNvSpPr/>
          <p:nvPr/>
        </p:nvSpPr>
        <p:spPr>
          <a:xfrm>
            <a:off x="932688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29" name="Text 27"/>
          <p:cNvSpPr/>
          <p:nvPr/>
        </p:nvSpPr>
        <p:spPr>
          <a:xfrm>
            <a:off x="932688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embeddings</a:t>
            </a:r>
            <a:endParaRPr lang="en-US" sz="1100" dirty="0"/>
          </a:p>
        </p:txBody>
      </p:sp>
      <p:sp>
        <p:nvSpPr>
          <p:cNvPr id="30" name="Text 28"/>
          <p:cNvSpPr/>
          <p:nvPr/>
        </p:nvSpPr>
        <p:spPr>
          <a:xfrm>
            <a:off x="932688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shared vectoriser</a:t>
            </a:r>
            <a:endParaRPr lang="en-US" sz="1000" dirty="0"/>
          </a:p>
        </p:txBody>
      </p:sp>
      <p:sp>
        <p:nvSpPr>
          <p:cNvPr id="31" name="Shape 29"/>
          <p:cNvSpPr/>
          <p:nvPr/>
        </p:nvSpPr>
        <p:spPr>
          <a:xfrm>
            <a:off x="548640" y="4114800"/>
            <a:ext cx="11064240" cy="1645920"/>
          </a:xfrm>
          <a:prstGeom prst="rect">
            <a:avLst/>
          </a:prstGeom>
          <a:solidFill>
            <a:srgbClr val="1E2761"/>
          </a:solidFill>
          <a:ln/>
        </p:spPr>
        <p:txBody>
          <a:bodyPr/>
          <a:lstStyle/>
          <a:p>
            <a:endParaRPr lang="en-US"/>
          </a:p>
        </p:txBody>
      </p:sp>
      <p:sp>
        <p:nvSpPr>
          <p:cNvPr id="32" name="Shape 30"/>
          <p:cNvSpPr/>
          <p:nvPr/>
        </p:nvSpPr>
        <p:spPr>
          <a:xfrm>
            <a:off x="548640" y="4114800"/>
            <a:ext cx="11064240" cy="54864"/>
          </a:xfrm>
          <a:prstGeom prst="rect">
            <a:avLst/>
          </a:prstGeom>
          <a:solidFill>
            <a:srgbClr val="F4B942"/>
          </a:solidFill>
          <a:ln/>
        </p:spPr>
        <p:txBody>
          <a:bodyPr/>
          <a:lstStyle/>
          <a:p>
            <a:endParaRPr lang="en-US"/>
          </a:p>
        </p:txBody>
      </p:sp>
      <p:sp>
        <p:nvSpPr>
          <p:cNvPr id="33" name="Text 31"/>
          <p:cNvSpPr/>
          <p:nvPr/>
        </p:nvSpPr>
        <p:spPr>
          <a:xfrm>
            <a:off x="777240" y="4251960"/>
            <a:ext cx="10515600" cy="32004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LLM PROVIDER SWITCH</a:t>
            </a:r>
            <a:endParaRPr lang="en-US" sz="1100" dirty="0"/>
          </a:p>
        </p:txBody>
      </p:sp>
      <p:sp>
        <p:nvSpPr>
          <p:cNvPr id="34" name="Shape 32"/>
          <p:cNvSpPr/>
          <p:nvPr/>
        </p:nvSpPr>
        <p:spPr>
          <a:xfrm>
            <a:off x="777240" y="4617720"/>
            <a:ext cx="5349240" cy="1005840"/>
          </a:xfrm>
          <a:prstGeom prst="rect">
            <a:avLst/>
          </a:prstGeom>
          <a:solidFill>
            <a:srgbClr val="141C49"/>
          </a:solidFill>
          <a:ln w="12700">
            <a:solidFill>
              <a:srgbClr val="F4B942"/>
            </a:solidFill>
            <a:prstDash val="solid"/>
          </a:ln>
        </p:spPr>
        <p:txBody>
          <a:bodyPr/>
          <a:lstStyle/>
          <a:p>
            <a:endParaRPr lang="en-US"/>
          </a:p>
        </p:txBody>
      </p:sp>
      <p:sp>
        <p:nvSpPr>
          <p:cNvPr id="35" name="Text 33"/>
          <p:cNvSpPr/>
          <p:nvPr/>
        </p:nvSpPr>
        <p:spPr>
          <a:xfrm>
            <a:off x="960120" y="470916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heuristic   (default)</a:t>
            </a:r>
            <a:endParaRPr lang="en-US" sz="1400" dirty="0"/>
          </a:p>
        </p:txBody>
      </p:sp>
      <p:sp>
        <p:nvSpPr>
          <p:cNvPr id="36" name="Text 34"/>
          <p:cNvSpPr/>
          <p:nvPr/>
        </p:nvSpPr>
        <p:spPr>
          <a:xfrm>
            <a:off x="960120" y="5074920"/>
            <a:ext cx="5029200" cy="45720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Pure JS · offline · zero-cost · ships today</a:t>
            </a:r>
            <a:endParaRPr lang="en-US" sz="1100" dirty="0"/>
          </a:p>
        </p:txBody>
      </p:sp>
      <p:sp>
        <p:nvSpPr>
          <p:cNvPr id="37" name="Shape 35"/>
          <p:cNvSpPr/>
          <p:nvPr/>
        </p:nvSpPr>
        <p:spPr>
          <a:xfrm>
            <a:off x="6263640" y="4617720"/>
            <a:ext cx="5349240" cy="1005840"/>
          </a:xfrm>
          <a:prstGeom prst="rect">
            <a:avLst/>
          </a:prstGeom>
          <a:solidFill>
            <a:srgbClr val="141C49"/>
          </a:solidFill>
          <a:ln w="12700">
            <a:solidFill>
              <a:srgbClr val="F4B942"/>
            </a:solidFill>
            <a:prstDash val="solid"/>
          </a:ln>
        </p:spPr>
        <p:txBody>
          <a:bodyPr/>
          <a:lstStyle/>
          <a:p>
            <a:endParaRPr lang="en-US"/>
          </a:p>
        </p:txBody>
      </p:sp>
      <p:sp>
        <p:nvSpPr>
          <p:cNvPr id="38" name="Text 36"/>
          <p:cNvSpPr/>
          <p:nvPr/>
        </p:nvSpPr>
        <p:spPr>
          <a:xfrm>
            <a:off x="6446520" y="470916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claude       (when key set)</a:t>
            </a:r>
            <a:endParaRPr lang="en-US" sz="1400" dirty="0"/>
          </a:p>
        </p:txBody>
      </p:sp>
      <p:sp>
        <p:nvSpPr>
          <p:cNvPr id="39" name="Text 37"/>
          <p:cNvSpPr/>
          <p:nvPr/>
        </p:nvSpPr>
        <p:spPr>
          <a:xfrm>
            <a:off x="6446520" y="5074920"/>
            <a:ext cx="5029200" cy="45720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Anthropic Claude Sonnet 4.6 · one-line upgrade</a:t>
            </a:r>
            <a:endParaRPr lang="en-US" sz="1100" dirty="0"/>
          </a:p>
        </p:txBody>
      </p:sp>
      <p:sp>
        <p:nvSpPr>
          <p:cNvPr id="40" name="Shape 38"/>
          <p:cNvSpPr/>
          <p:nvPr/>
        </p:nvSpPr>
        <p:spPr>
          <a:xfrm>
            <a:off x="548640" y="5897880"/>
            <a:ext cx="5486400" cy="640080"/>
          </a:xfrm>
          <a:prstGeom prst="rect">
            <a:avLst/>
          </a:prstGeom>
          <a:solidFill>
            <a:srgbClr val="F7F8FB"/>
          </a:solidFill>
          <a:ln w="12700">
            <a:solidFill>
              <a:srgbClr val="D5D9E5"/>
            </a:solidFill>
            <a:prstDash val="solid"/>
          </a:ln>
        </p:spPr>
        <p:txBody>
          <a:bodyPr/>
          <a:lstStyle/>
          <a:p>
            <a:endParaRPr lang="en-US"/>
          </a:p>
        </p:txBody>
      </p:sp>
      <p:sp>
        <p:nvSpPr>
          <p:cNvPr id="41" name="Text 39"/>
          <p:cNvSpPr/>
          <p:nvPr/>
        </p:nvSpPr>
        <p:spPr>
          <a:xfrm>
            <a:off x="548640" y="5897880"/>
            <a:ext cx="5486400" cy="640080"/>
          </a:xfrm>
          <a:prstGeom prst="rect">
            <a:avLst/>
          </a:prstGeom>
          <a:noFill/>
          <a:ln/>
        </p:spPr>
        <p:txBody>
          <a:bodyPr wrap="square" lIns="0" tIns="0" rIns="0" bIns="0" rtlCol="0" anchor="ctr"/>
          <a:lstStyle/>
          <a:p>
            <a:pPr marL="0" indent="0" algn="ctr">
              <a:buNone/>
            </a:pPr>
            <a:r>
              <a:rPr lang="en-US" sz="1000" dirty="0">
                <a:solidFill>
                  <a:srgbClr val="0F1538"/>
                </a:solidFill>
                <a:latin typeface="Consolas" pitchFamily="34" charset="0"/>
                <a:ea typeface="Consolas" pitchFamily="34" charset="-122"/>
                <a:cs typeface="Consolas" pitchFamily="34" charset="-120"/>
              </a:rPr>
              <a:t>SQLite (WAL · FK on)  ·  users · papers · reviews · embeddings · ai_audit</a:t>
            </a:r>
            <a:endParaRPr lang="en-US" sz="1000" dirty="0"/>
          </a:p>
        </p:txBody>
      </p:sp>
      <p:sp>
        <p:nvSpPr>
          <p:cNvPr id="42" name="Shape 40"/>
          <p:cNvSpPr/>
          <p:nvPr/>
        </p:nvSpPr>
        <p:spPr>
          <a:xfrm>
            <a:off x="6217920" y="5897880"/>
            <a:ext cx="5394960" cy="640080"/>
          </a:xfrm>
          <a:prstGeom prst="rect">
            <a:avLst/>
          </a:prstGeom>
          <a:solidFill>
            <a:srgbClr val="F7F8FB"/>
          </a:solidFill>
          <a:ln w="12700">
            <a:solidFill>
              <a:srgbClr val="D5D9E5"/>
            </a:solidFill>
            <a:prstDash val="solid"/>
          </a:ln>
        </p:spPr>
        <p:txBody>
          <a:bodyPr/>
          <a:lstStyle/>
          <a:p>
            <a:endParaRPr lang="en-US"/>
          </a:p>
        </p:txBody>
      </p:sp>
      <p:sp>
        <p:nvSpPr>
          <p:cNvPr id="43" name="Text 41"/>
          <p:cNvSpPr/>
          <p:nvPr/>
        </p:nvSpPr>
        <p:spPr>
          <a:xfrm>
            <a:off x="6217920" y="5897880"/>
            <a:ext cx="5394960" cy="640080"/>
          </a:xfrm>
          <a:prstGeom prst="rect">
            <a:avLst/>
          </a:prstGeom>
          <a:noFill/>
          <a:ln/>
        </p:spPr>
        <p:txBody>
          <a:bodyPr wrap="square" lIns="0" tIns="0" rIns="0" bIns="0" rtlCol="0" anchor="ctr"/>
          <a:lstStyle/>
          <a:p>
            <a:pPr marL="0" indent="0" algn="ctr">
              <a:buNone/>
            </a:pPr>
            <a:r>
              <a:rPr lang="en-US" sz="1000" i="1" dirty="0">
                <a:solidFill>
                  <a:srgbClr val="0F1538"/>
                </a:solidFill>
                <a:latin typeface="Calibri" pitchFamily="34" charset="0"/>
                <a:ea typeface="Calibri" pitchFamily="34" charset="-122"/>
                <a:cs typeface="Calibri" pitchFamily="34" charset="-120"/>
              </a:rPr>
              <a:t>Every AI call logged in ai_audit  →  ethics auditing &amp; cost tracking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Implementation status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What is scaffolded · what is fully wired · what is intentionally pending</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554480"/>
            <a:ext cx="11064240" cy="457200"/>
          </a:xfrm>
          <a:prstGeom prst="rect">
            <a:avLst/>
          </a:prstGeom>
          <a:solidFill>
            <a:srgbClr val="1E2761"/>
          </a:solidFill>
          <a:ln/>
        </p:spPr>
        <p:txBody>
          <a:bodyPr/>
          <a:lstStyle/>
          <a:p>
            <a:endParaRPr lang="en-US"/>
          </a:p>
        </p:txBody>
      </p:sp>
      <p:sp>
        <p:nvSpPr>
          <p:cNvPr id="8" name="Text 6"/>
          <p:cNvSpPr/>
          <p:nvPr/>
        </p:nvSpPr>
        <p:spPr>
          <a:xfrm>
            <a:off x="777240" y="1554480"/>
            <a:ext cx="411480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Capability</a:t>
            </a:r>
            <a:endParaRPr lang="en-US" sz="1200" dirty="0"/>
          </a:p>
        </p:txBody>
      </p:sp>
      <p:sp>
        <p:nvSpPr>
          <p:cNvPr id="9" name="Text 7"/>
          <p:cNvSpPr/>
          <p:nvPr/>
        </p:nvSpPr>
        <p:spPr>
          <a:xfrm>
            <a:off x="5074920" y="1554480"/>
            <a:ext cx="137160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Status</a:t>
            </a:r>
            <a:endParaRPr lang="en-US" sz="1200" dirty="0"/>
          </a:p>
        </p:txBody>
      </p:sp>
      <p:sp>
        <p:nvSpPr>
          <p:cNvPr id="10" name="Text 8"/>
          <p:cNvSpPr/>
          <p:nvPr/>
        </p:nvSpPr>
        <p:spPr>
          <a:xfrm>
            <a:off x="6629400" y="1554480"/>
            <a:ext cx="484632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Notes</a:t>
            </a:r>
            <a:endParaRPr lang="en-US" sz="1200" dirty="0"/>
          </a:p>
        </p:txBody>
      </p:sp>
      <p:sp>
        <p:nvSpPr>
          <p:cNvPr id="11" name="Shape 9"/>
          <p:cNvSpPr/>
          <p:nvPr/>
        </p:nvSpPr>
        <p:spPr>
          <a:xfrm>
            <a:off x="548640" y="2011680"/>
            <a:ext cx="11064240" cy="411480"/>
          </a:xfrm>
          <a:prstGeom prst="rect">
            <a:avLst/>
          </a:prstGeom>
          <a:solidFill>
            <a:srgbClr val="F7F8FB"/>
          </a:solidFill>
          <a:ln/>
        </p:spPr>
        <p:txBody>
          <a:bodyPr/>
          <a:lstStyle/>
          <a:p>
            <a:endParaRPr lang="en-US"/>
          </a:p>
        </p:txBody>
      </p:sp>
      <p:sp>
        <p:nvSpPr>
          <p:cNvPr id="12" name="Text 10"/>
          <p:cNvSpPr/>
          <p:nvPr/>
        </p:nvSpPr>
        <p:spPr>
          <a:xfrm>
            <a:off x="777240" y="201168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MVC project structure</a:t>
            </a:r>
            <a:endParaRPr lang="en-US" sz="1200" dirty="0"/>
          </a:p>
        </p:txBody>
      </p:sp>
      <p:sp>
        <p:nvSpPr>
          <p:cNvPr id="13" name="Shape 11"/>
          <p:cNvSpPr/>
          <p:nvPr/>
        </p:nvSpPr>
        <p:spPr>
          <a:xfrm>
            <a:off x="5074920" y="2075688"/>
            <a:ext cx="1371600" cy="292608"/>
          </a:xfrm>
          <a:prstGeom prst="rect">
            <a:avLst/>
          </a:prstGeom>
          <a:solidFill>
            <a:srgbClr val="2E8B57"/>
          </a:solidFill>
          <a:ln/>
        </p:spPr>
        <p:txBody>
          <a:bodyPr/>
          <a:lstStyle/>
          <a:p>
            <a:endParaRPr lang="en-US"/>
          </a:p>
        </p:txBody>
      </p:sp>
      <p:sp>
        <p:nvSpPr>
          <p:cNvPr id="14" name="Text 12"/>
          <p:cNvSpPr/>
          <p:nvPr/>
        </p:nvSpPr>
        <p:spPr>
          <a:xfrm>
            <a:off x="5074920" y="207568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15" name="Text 13"/>
          <p:cNvSpPr/>
          <p:nvPr/>
        </p:nvSpPr>
        <p:spPr>
          <a:xfrm>
            <a:off x="6629400" y="201168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Routes / controllers / services / models / views all in place</a:t>
            </a:r>
            <a:endParaRPr lang="en-US" sz="1100" dirty="0"/>
          </a:p>
        </p:txBody>
      </p:sp>
      <p:sp>
        <p:nvSpPr>
          <p:cNvPr id="16" name="Text 14"/>
          <p:cNvSpPr/>
          <p:nvPr/>
        </p:nvSpPr>
        <p:spPr>
          <a:xfrm>
            <a:off x="777240" y="242316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Auth, sessions, RBAC for 5 roles</a:t>
            </a:r>
            <a:endParaRPr lang="en-US" sz="1200" dirty="0"/>
          </a:p>
        </p:txBody>
      </p:sp>
      <p:sp>
        <p:nvSpPr>
          <p:cNvPr id="17" name="Shape 15"/>
          <p:cNvSpPr/>
          <p:nvPr/>
        </p:nvSpPr>
        <p:spPr>
          <a:xfrm>
            <a:off x="5074920" y="2487168"/>
            <a:ext cx="1371600" cy="292608"/>
          </a:xfrm>
          <a:prstGeom prst="rect">
            <a:avLst/>
          </a:prstGeom>
          <a:solidFill>
            <a:srgbClr val="2E8B57"/>
          </a:solidFill>
          <a:ln/>
        </p:spPr>
        <p:txBody>
          <a:bodyPr/>
          <a:lstStyle/>
          <a:p>
            <a:endParaRPr lang="en-US"/>
          </a:p>
        </p:txBody>
      </p:sp>
      <p:sp>
        <p:nvSpPr>
          <p:cNvPr id="18" name="Text 16"/>
          <p:cNvSpPr/>
          <p:nvPr/>
        </p:nvSpPr>
        <p:spPr>
          <a:xfrm>
            <a:off x="5074920" y="248716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19" name="Text 17"/>
          <p:cNvSpPr/>
          <p:nvPr/>
        </p:nvSpPr>
        <p:spPr>
          <a:xfrm>
            <a:off x="6629400" y="242316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helmet, CSP, rate-limit, SQLite session store, role middleware</a:t>
            </a:r>
            <a:endParaRPr lang="en-US" sz="1100" dirty="0"/>
          </a:p>
        </p:txBody>
      </p:sp>
      <p:sp>
        <p:nvSpPr>
          <p:cNvPr id="20" name="Shape 18"/>
          <p:cNvSpPr/>
          <p:nvPr/>
        </p:nvSpPr>
        <p:spPr>
          <a:xfrm>
            <a:off x="548640" y="2834640"/>
            <a:ext cx="11064240" cy="411480"/>
          </a:xfrm>
          <a:prstGeom prst="rect">
            <a:avLst/>
          </a:prstGeom>
          <a:solidFill>
            <a:srgbClr val="F7F8FB"/>
          </a:solidFill>
          <a:ln/>
        </p:spPr>
        <p:txBody>
          <a:bodyPr/>
          <a:lstStyle/>
          <a:p>
            <a:endParaRPr lang="en-US"/>
          </a:p>
        </p:txBody>
      </p:sp>
      <p:sp>
        <p:nvSpPr>
          <p:cNvPr id="21" name="Text 19"/>
          <p:cNvSpPr/>
          <p:nvPr/>
        </p:nvSpPr>
        <p:spPr>
          <a:xfrm>
            <a:off x="777240" y="283464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Reviewer matching (TF-IDF + cosine)</a:t>
            </a:r>
            <a:endParaRPr lang="en-US" sz="1200" dirty="0"/>
          </a:p>
        </p:txBody>
      </p:sp>
      <p:sp>
        <p:nvSpPr>
          <p:cNvPr id="22" name="Shape 20"/>
          <p:cNvSpPr/>
          <p:nvPr/>
        </p:nvSpPr>
        <p:spPr>
          <a:xfrm>
            <a:off x="5074920" y="2898648"/>
            <a:ext cx="1371600" cy="292608"/>
          </a:xfrm>
          <a:prstGeom prst="rect">
            <a:avLst/>
          </a:prstGeom>
          <a:solidFill>
            <a:srgbClr val="2E8B57"/>
          </a:solidFill>
          <a:ln/>
        </p:spPr>
        <p:txBody>
          <a:bodyPr/>
          <a:lstStyle/>
          <a:p>
            <a:endParaRPr lang="en-US"/>
          </a:p>
        </p:txBody>
      </p:sp>
      <p:sp>
        <p:nvSpPr>
          <p:cNvPr id="23" name="Text 21"/>
          <p:cNvSpPr/>
          <p:nvPr/>
        </p:nvSpPr>
        <p:spPr>
          <a:xfrm>
            <a:off x="5074920" y="289864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24" name="Text 22"/>
          <p:cNvSpPr/>
          <p:nvPr/>
        </p:nvSpPr>
        <p:spPr>
          <a:xfrm>
            <a:off x="6629400" y="283464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Working today on the heuristic backend, verifiable in the editor dashboard</a:t>
            </a:r>
            <a:endParaRPr lang="en-US" sz="1100" dirty="0"/>
          </a:p>
        </p:txBody>
      </p:sp>
      <p:sp>
        <p:nvSpPr>
          <p:cNvPr id="25" name="Text 23"/>
          <p:cNvSpPr/>
          <p:nvPr/>
        </p:nvSpPr>
        <p:spPr>
          <a:xfrm>
            <a:off x="777240" y="324612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Plagiarism similarity scoring</a:t>
            </a:r>
            <a:endParaRPr lang="en-US" sz="1200" dirty="0"/>
          </a:p>
        </p:txBody>
      </p:sp>
      <p:sp>
        <p:nvSpPr>
          <p:cNvPr id="26" name="Shape 24"/>
          <p:cNvSpPr/>
          <p:nvPr/>
        </p:nvSpPr>
        <p:spPr>
          <a:xfrm>
            <a:off x="5074920" y="3310128"/>
            <a:ext cx="1371600" cy="292608"/>
          </a:xfrm>
          <a:prstGeom prst="rect">
            <a:avLst/>
          </a:prstGeom>
          <a:solidFill>
            <a:srgbClr val="2E8B57"/>
          </a:solidFill>
          <a:ln/>
        </p:spPr>
        <p:txBody>
          <a:bodyPr/>
          <a:lstStyle/>
          <a:p>
            <a:endParaRPr lang="en-US"/>
          </a:p>
        </p:txBody>
      </p:sp>
      <p:sp>
        <p:nvSpPr>
          <p:cNvPr id="27" name="Text 25"/>
          <p:cNvSpPr/>
          <p:nvPr/>
        </p:nvSpPr>
        <p:spPr>
          <a:xfrm>
            <a:off x="5074920" y="331012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28" name="Text 26"/>
          <p:cNvSpPr/>
          <p:nvPr/>
        </p:nvSpPr>
        <p:spPr>
          <a:xfrm>
            <a:off x="6629400" y="324612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Running on every submission against the existing corpus</a:t>
            </a:r>
            <a:endParaRPr lang="en-US" sz="1100" dirty="0"/>
          </a:p>
        </p:txBody>
      </p:sp>
      <p:sp>
        <p:nvSpPr>
          <p:cNvPr id="29" name="Shape 27"/>
          <p:cNvSpPr/>
          <p:nvPr/>
        </p:nvSpPr>
        <p:spPr>
          <a:xfrm>
            <a:off x="548640" y="3657600"/>
            <a:ext cx="11064240" cy="411480"/>
          </a:xfrm>
          <a:prstGeom prst="rect">
            <a:avLst/>
          </a:prstGeom>
          <a:solidFill>
            <a:srgbClr val="F7F8FB"/>
          </a:solidFill>
          <a:ln/>
        </p:spPr>
        <p:txBody>
          <a:bodyPr/>
          <a:lstStyle/>
          <a:p>
            <a:endParaRPr lang="en-US"/>
          </a:p>
        </p:txBody>
      </p:sp>
      <p:sp>
        <p:nvSpPr>
          <p:cNvPr id="30" name="Text 28"/>
          <p:cNvSpPr/>
          <p:nvPr/>
        </p:nvSpPr>
        <p:spPr>
          <a:xfrm>
            <a:off x="777240" y="365760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AI-text stylometric flag</a:t>
            </a:r>
            <a:endParaRPr lang="en-US" sz="1200" dirty="0"/>
          </a:p>
        </p:txBody>
      </p:sp>
      <p:sp>
        <p:nvSpPr>
          <p:cNvPr id="31" name="Shape 29"/>
          <p:cNvSpPr/>
          <p:nvPr/>
        </p:nvSpPr>
        <p:spPr>
          <a:xfrm>
            <a:off x="5074920" y="3721608"/>
            <a:ext cx="1371600" cy="292608"/>
          </a:xfrm>
          <a:prstGeom prst="rect">
            <a:avLst/>
          </a:prstGeom>
          <a:solidFill>
            <a:srgbClr val="2E8B57"/>
          </a:solidFill>
          <a:ln/>
        </p:spPr>
        <p:txBody>
          <a:bodyPr/>
          <a:lstStyle/>
          <a:p>
            <a:endParaRPr lang="en-US"/>
          </a:p>
        </p:txBody>
      </p:sp>
      <p:sp>
        <p:nvSpPr>
          <p:cNvPr id="32" name="Text 30"/>
          <p:cNvSpPr/>
          <p:nvPr/>
        </p:nvSpPr>
        <p:spPr>
          <a:xfrm>
            <a:off x="5074920" y="372160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33" name="Text 31"/>
          <p:cNvSpPr/>
          <p:nvPr/>
        </p:nvSpPr>
        <p:spPr>
          <a:xfrm>
            <a:off x="6629400" y="365760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Transparent sub-signals exposed to the editor</a:t>
            </a:r>
            <a:endParaRPr lang="en-US" sz="1100" dirty="0"/>
          </a:p>
        </p:txBody>
      </p:sp>
      <p:sp>
        <p:nvSpPr>
          <p:cNvPr id="34" name="Text 32"/>
          <p:cNvSpPr/>
          <p:nvPr/>
        </p:nvSpPr>
        <p:spPr>
          <a:xfrm>
            <a:off x="777240" y="406908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AI reviewer draft (heuristic templates)</a:t>
            </a:r>
            <a:endParaRPr lang="en-US" sz="1200" dirty="0"/>
          </a:p>
        </p:txBody>
      </p:sp>
      <p:sp>
        <p:nvSpPr>
          <p:cNvPr id="35" name="Shape 33"/>
          <p:cNvSpPr/>
          <p:nvPr/>
        </p:nvSpPr>
        <p:spPr>
          <a:xfrm>
            <a:off x="5074920" y="4133088"/>
            <a:ext cx="1371600" cy="292608"/>
          </a:xfrm>
          <a:prstGeom prst="rect">
            <a:avLst/>
          </a:prstGeom>
          <a:solidFill>
            <a:srgbClr val="F4B942"/>
          </a:solidFill>
          <a:ln/>
        </p:spPr>
        <p:txBody>
          <a:bodyPr/>
          <a:lstStyle/>
          <a:p>
            <a:endParaRPr lang="en-US"/>
          </a:p>
        </p:txBody>
      </p:sp>
      <p:sp>
        <p:nvSpPr>
          <p:cNvPr id="36" name="Text 34"/>
          <p:cNvSpPr/>
          <p:nvPr/>
        </p:nvSpPr>
        <p:spPr>
          <a:xfrm>
            <a:off x="5074920" y="413308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SCAFFOLDED</a:t>
            </a:r>
            <a:endParaRPr lang="en-US" sz="900" dirty="0"/>
          </a:p>
        </p:txBody>
      </p:sp>
      <p:sp>
        <p:nvSpPr>
          <p:cNvPr id="37" name="Text 35"/>
          <p:cNvSpPr/>
          <p:nvPr/>
        </p:nvSpPr>
        <p:spPr>
          <a:xfrm>
            <a:off x="6629400" y="406908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UI + API in place; switches to real LLM once API key supplied</a:t>
            </a:r>
            <a:endParaRPr lang="en-US" sz="1100" dirty="0"/>
          </a:p>
        </p:txBody>
      </p:sp>
      <p:sp>
        <p:nvSpPr>
          <p:cNvPr id="38" name="Shape 36"/>
          <p:cNvSpPr/>
          <p:nvPr/>
        </p:nvSpPr>
        <p:spPr>
          <a:xfrm>
            <a:off x="548640" y="4480560"/>
            <a:ext cx="11064240" cy="411480"/>
          </a:xfrm>
          <a:prstGeom prst="rect">
            <a:avLst/>
          </a:prstGeom>
          <a:solidFill>
            <a:srgbClr val="F7F8FB"/>
          </a:solidFill>
          <a:ln/>
        </p:spPr>
        <p:txBody>
          <a:bodyPr/>
          <a:lstStyle/>
          <a:p>
            <a:endParaRPr lang="en-US"/>
          </a:p>
        </p:txBody>
      </p:sp>
      <p:sp>
        <p:nvSpPr>
          <p:cNvPr id="39" name="Text 37"/>
          <p:cNvSpPr/>
          <p:nvPr/>
        </p:nvSpPr>
        <p:spPr>
          <a:xfrm>
            <a:off x="777240" y="448056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Author writing assistant (heuristic)</a:t>
            </a:r>
            <a:endParaRPr lang="en-US" sz="1200" dirty="0"/>
          </a:p>
        </p:txBody>
      </p:sp>
      <p:sp>
        <p:nvSpPr>
          <p:cNvPr id="40" name="Shape 38"/>
          <p:cNvSpPr/>
          <p:nvPr/>
        </p:nvSpPr>
        <p:spPr>
          <a:xfrm>
            <a:off x="5074920" y="4544568"/>
            <a:ext cx="1371600" cy="292608"/>
          </a:xfrm>
          <a:prstGeom prst="rect">
            <a:avLst/>
          </a:prstGeom>
          <a:solidFill>
            <a:srgbClr val="F4B942"/>
          </a:solidFill>
          <a:ln/>
        </p:spPr>
        <p:txBody>
          <a:bodyPr/>
          <a:lstStyle/>
          <a:p>
            <a:endParaRPr lang="en-US"/>
          </a:p>
        </p:txBody>
      </p:sp>
      <p:sp>
        <p:nvSpPr>
          <p:cNvPr id="41" name="Text 39"/>
          <p:cNvSpPr/>
          <p:nvPr/>
        </p:nvSpPr>
        <p:spPr>
          <a:xfrm>
            <a:off x="5074920" y="454456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SCAFFOLDED</a:t>
            </a:r>
            <a:endParaRPr lang="en-US" sz="900" dirty="0"/>
          </a:p>
        </p:txBody>
      </p:sp>
      <p:sp>
        <p:nvSpPr>
          <p:cNvPr id="42" name="Text 40"/>
          <p:cNvSpPr/>
          <p:nvPr/>
        </p:nvSpPr>
        <p:spPr>
          <a:xfrm>
            <a:off x="6629400" y="448056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Polish / titles / keywords scaffolded; LLM call ready to flip on</a:t>
            </a:r>
            <a:endParaRPr lang="en-US" sz="1100" dirty="0"/>
          </a:p>
        </p:txBody>
      </p:sp>
      <p:sp>
        <p:nvSpPr>
          <p:cNvPr id="43" name="Text 41"/>
          <p:cNvSpPr/>
          <p:nvPr/>
        </p:nvSpPr>
        <p:spPr>
          <a:xfrm>
            <a:off x="777240" y="489204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Claude API integration</a:t>
            </a:r>
            <a:endParaRPr lang="en-US" sz="1200" dirty="0"/>
          </a:p>
        </p:txBody>
      </p:sp>
      <p:sp>
        <p:nvSpPr>
          <p:cNvPr id="44" name="Shape 42"/>
          <p:cNvSpPr/>
          <p:nvPr/>
        </p:nvSpPr>
        <p:spPr>
          <a:xfrm>
            <a:off x="5074920" y="4956048"/>
            <a:ext cx="1371600" cy="292608"/>
          </a:xfrm>
          <a:prstGeom prst="rect">
            <a:avLst/>
          </a:prstGeom>
          <a:solidFill>
            <a:srgbClr val="1E2761"/>
          </a:solidFill>
          <a:ln/>
        </p:spPr>
        <p:txBody>
          <a:bodyPr/>
          <a:lstStyle/>
          <a:p>
            <a:endParaRPr lang="en-US"/>
          </a:p>
        </p:txBody>
      </p:sp>
      <p:sp>
        <p:nvSpPr>
          <p:cNvPr id="45" name="Text 43"/>
          <p:cNvSpPr/>
          <p:nvPr/>
        </p:nvSpPr>
        <p:spPr>
          <a:xfrm>
            <a:off x="5074920" y="495604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46" name="Text 44"/>
          <p:cNvSpPr/>
          <p:nvPr/>
        </p:nvSpPr>
        <p:spPr>
          <a:xfrm>
            <a:off x="6629400" y="489204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Adapter committed; activates with one env var; deferred until budget approved</a:t>
            </a:r>
            <a:endParaRPr lang="en-US" sz="1100" dirty="0"/>
          </a:p>
        </p:txBody>
      </p:sp>
      <p:sp>
        <p:nvSpPr>
          <p:cNvPr id="47" name="Shape 45"/>
          <p:cNvSpPr/>
          <p:nvPr/>
        </p:nvSpPr>
        <p:spPr>
          <a:xfrm>
            <a:off x="548640" y="5303520"/>
            <a:ext cx="11064240" cy="411480"/>
          </a:xfrm>
          <a:prstGeom prst="rect">
            <a:avLst/>
          </a:prstGeom>
          <a:solidFill>
            <a:srgbClr val="F7F8FB"/>
          </a:solidFill>
          <a:ln/>
        </p:spPr>
        <p:txBody>
          <a:bodyPr/>
          <a:lstStyle/>
          <a:p>
            <a:endParaRPr lang="en-US"/>
          </a:p>
        </p:txBody>
      </p:sp>
      <p:sp>
        <p:nvSpPr>
          <p:cNvPr id="48" name="Text 46"/>
          <p:cNvSpPr/>
          <p:nvPr/>
        </p:nvSpPr>
        <p:spPr>
          <a:xfrm>
            <a:off x="777240" y="530352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Sentence-transformer embeddings</a:t>
            </a:r>
            <a:endParaRPr lang="en-US" sz="1200" dirty="0"/>
          </a:p>
        </p:txBody>
      </p:sp>
      <p:sp>
        <p:nvSpPr>
          <p:cNvPr id="49" name="Shape 47"/>
          <p:cNvSpPr/>
          <p:nvPr/>
        </p:nvSpPr>
        <p:spPr>
          <a:xfrm>
            <a:off x="5074920" y="5367528"/>
            <a:ext cx="1371600" cy="292608"/>
          </a:xfrm>
          <a:prstGeom prst="rect">
            <a:avLst/>
          </a:prstGeom>
          <a:solidFill>
            <a:srgbClr val="1E2761"/>
          </a:solidFill>
          <a:ln/>
        </p:spPr>
        <p:txBody>
          <a:bodyPr/>
          <a:lstStyle/>
          <a:p>
            <a:endParaRPr lang="en-US"/>
          </a:p>
        </p:txBody>
      </p:sp>
      <p:sp>
        <p:nvSpPr>
          <p:cNvPr id="50" name="Text 48"/>
          <p:cNvSpPr/>
          <p:nvPr/>
        </p:nvSpPr>
        <p:spPr>
          <a:xfrm>
            <a:off x="5074920" y="536752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51" name="Text 49"/>
          <p:cNvSpPr/>
          <p:nvPr/>
        </p:nvSpPr>
        <p:spPr>
          <a:xfrm>
            <a:off x="6629400" y="530352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Roadmap item for Assessment 2, replaces TF-IDF for richer matching</a:t>
            </a:r>
            <a:endParaRPr lang="en-US" sz="1100" dirty="0"/>
          </a:p>
        </p:txBody>
      </p:sp>
      <p:sp>
        <p:nvSpPr>
          <p:cNvPr id="52" name="Text 50"/>
          <p:cNvSpPr/>
          <p:nvPr/>
        </p:nvSpPr>
        <p:spPr>
          <a:xfrm>
            <a:off x="777240" y="571500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User study + benchmarking</a:t>
            </a:r>
            <a:endParaRPr lang="en-US" sz="1200" dirty="0"/>
          </a:p>
        </p:txBody>
      </p:sp>
      <p:sp>
        <p:nvSpPr>
          <p:cNvPr id="53" name="Shape 51"/>
          <p:cNvSpPr/>
          <p:nvPr/>
        </p:nvSpPr>
        <p:spPr>
          <a:xfrm>
            <a:off x="5074920" y="5779008"/>
            <a:ext cx="1371600" cy="292608"/>
          </a:xfrm>
          <a:prstGeom prst="rect">
            <a:avLst/>
          </a:prstGeom>
          <a:solidFill>
            <a:srgbClr val="1E2761"/>
          </a:solidFill>
          <a:ln/>
        </p:spPr>
        <p:txBody>
          <a:bodyPr/>
          <a:lstStyle/>
          <a:p>
            <a:endParaRPr lang="en-US"/>
          </a:p>
        </p:txBody>
      </p:sp>
      <p:sp>
        <p:nvSpPr>
          <p:cNvPr id="54" name="Text 52"/>
          <p:cNvSpPr/>
          <p:nvPr/>
        </p:nvSpPr>
        <p:spPr>
          <a:xfrm>
            <a:off x="5074920" y="577900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55" name="Text 53"/>
          <p:cNvSpPr/>
          <p:nvPr/>
        </p:nvSpPr>
        <p:spPr>
          <a:xfrm>
            <a:off x="6629400" y="571500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Planned for Assessment 2; ai_audit table already collects the data</a:t>
            </a:r>
            <a:endParaRPr lang="en-US" sz="1100" dirty="0"/>
          </a:p>
        </p:txBody>
      </p:sp>
      <p:sp>
        <p:nvSpPr>
          <p:cNvPr id="56" name="Text 54"/>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57" name="Text 55"/>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Tools selected for the project</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Runtime stack chosen for the GenAI features</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4</a:t>
            </a:r>
            <a:endParaRPr lang="en-US" sz="1100" dirty="0"/>
          </a:p>
        </p:txBody>
      </p:sp>
      <p:sp>
        <p:nvSpPr>
          <p:cNvPr id="7" name="Shape 5"/>
          <p:cNvSpPr/>
          <p:nvPr/>
        </p:nvSpPr>
        <p:spPr>
          <a:xfrm>
            <a:off x="548640" y="1554480"/>
            <a:ext cx="3520440" cy="475488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54480"/>
            <a:ext cx="3520440" cy="73152"/>
          </a:xfrm>
          <a:prstGeom prst="rect">
            <a:avLst/>
          </a:prstGeom>
          <a:solidFill>
            <a:srgbClr val="1E2761"/>
          </a:solidFill>
          <a:ln/>
        </p:spPr>
        <p:txBody>
          <a:bodyPr/>
          <a:lstStyle/>
          <a:p>
            <a:endParaRPr lang="en-US"/>
          </a:p>
        </p:txBody>
      </p:sp>
      <p:sp>
        <p:nvSpPr>
          <p:cNvPr id="9" name="Shape 7"/>
          <p:cNvSpPr/>
          <p:nvPr/>
        </p:nvSpPr>
        <p:spPr>
          <a:xfrm>
            <a:off x="822960" y="1783080"/>
            <a:ext cx="777240" cy="77724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05840" y="1965960"/>
            <a:ext cx="411480" cy="411480"/>
          </a:xfrm>
          <a:prstGeom prst="rect">
            <a:avLst/>
          </a:prstGeom>
        </p:spPr>
      </p:pic>
      <p:sp>
        <p:nvSpPr>
          <p:cNvPr id="11" name="Text 8"/>
          <p:cNvSpPr/>
          <p:nvPr/>
        </p:nvSpPr>
        <p:spPr>
          <a:xfrm>
            <a:off x="1737360" y="1783080"/>
            <a:ext cx="2286000" cy="41148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Anthropic Claude</a:t>
            </a:r>
            <a:endParaRPr lang="en-US" sz="1700" dirty="0"/>
          </a:p>
        </p:txBody>
      </p:sp>
      <p:sp>
        <p:nvSpPr>
          <p:cNvPr id="12" name="Text 9"/>
          <p:cNvSpPr/>
          <p:nvPr/>
        </p:nvSpPr>
        <p:spPr>
          <a:xfrm>
            <a:off x="1737360" y="219456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claude-sonnet-4-6</a:t>
            </a:r>
            <a:endParaRPr lang="en-US" sz="1100" dirty="0"/>
          </a:p>
        </p:txBody>
      </p:sp>
      <p:sp>
        <p:nvSpPr>
          <p:cNvPr id="13" name="Text 10"/>
          <p:cNvSpPr/>
          <p:nvPr/>
        </p:nvSpPr>
        <p:spPr>
          <a:xfrm>
            <a:off x="822960" y="2743200"/>
            <a:ext cx="3017520" cy="155448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Drafts reviews, polishes abstracts, suggests titles, extracts keywords. Frontier reasoning at $3 per 1M input tokens. Activated by ANTHROPIC_API_KEY.</a:t>
            </a:r>
            <a:endParaRPr lang="en-US" sz="1200" dirty="0"/>
          </a:p>
        </p:txBody>
      </p:sp>
      <p:sp>
        <p:nvSpPr>
          <p:cNvPr id="14" name="Shape 11"/>
          <p:cNvSpPr/>
          <p:nvPr/>
        </p:nvSpPr>
        <p:spPr>
          <a:xfrm>
            <a:off x="822960" y="4434840"/>
            <a:ext cx="3017520" cy="320040"/>
          </a:xfrm>
          <a:prstGeom prst="rect">
            <a:avLst/>
          </a:prstGeom>
          <a:solidFill>
            <a:srgbClr val="1E2761"/>
          </a:solidFill>
          <a:ln/>
        </p:spPr>
        <p:txBody>
          <a:bodyPr/>
          <a:lstStyle/>
          <a:p>
            <a:endParaRPr lang="en-US"/>
          </a:p>
        </p:txBody>
      </p:sp>
      <p:sp>
        <p:nvSpPr>
          <p:cNvPr id="15" name="Text 12"/>
          <p:cNvSpPr/>
          <p:nvPr/>
        </p:nvSpPr>
        <p:spPr>
          <a:xfrm>
            <a:off x="822960" y="4434840"/>
            <a:ext cx="3017520" cy="320040"/>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SELECTED</a:t>
            </a:r>
            <a:endParaRPr lang="en-US" sz="900" dirty="0"/>
          </a:p>
        </p:txBody>
      </p:sp>
      <p:sp>
        <p:nvSpPr>
          <p:cNvPr id="16" name="Text 13"/>
          <p:cNvSpPr/>
          <p:nvPr/>
        </p:nvSpPr>
        <p:spPr>
          <a:xfrm>
            <a:off x="822960" y="4846320"/>
            <a:ext cx="3017520" cy="1371600"/>
          </a:xfrm>
          <a:prstGeom prst="rect">
            <a:avLst/>
          </a:prstGeom>
          <a:noFill/>
          <a:ln/>
        </p:spPr>
        <p:txBody>
          <a:bodyPr wrap="square" lIns="0" tIns="0" rIns="0" bIns="0" rtlCol="0" anchor="ctr"/>
          <a:lstStyle/>
          <a:p>
            <a:pPr marL="0" indent="0">
              <a:buNone/>
            </a:pPr>
            <a:r>
              <a:rPr lang="en-US" sz="1100" i="1" dirty="0">
                <a:solidFill>
                  <a:srgbClr val="0F1538"/>
                </a:solidFill>
                <a:latin typeface="Calibri" pitchFamily="34" charset="0"/>
                <a:ea typeface="Calibri" pitchFamily="34" charset="-122"/>
                <a:cs typeface="Calibri" pitchFamily="34" charset="-120"/>
              </a:rPr>
              <a:t>Best-in-class writing quality and JSON-mode reliability for structured outputs.</a:t>
            </a:r>
            <a:endParaRPr lang="en-US" sz="1100" dirty="0"/>
          </a:p>
        </p:txBody>
      </p:sp>
      <p:sp>
        <p:nvSpPr>
          <p:cNvPr id="17" name="Shape 14"/>
          <p:cNvSpPr/>
          <p:nvPr/>
        </p:nvSpPr>
        <p:spPr>
          <a:xfrm>
            <a:off x="4526280" y="1554480"/>
            <a:ext cx="3520440" cy="4754880"/>
          </a:xfrm>
          <a:prstGeom prst="rect">
            <a:avLst/>
          </a:prstGeom>
          <a:solidFill>
            <a:srgbClr val="F7F8FB"/>
          </a:solidFill>
          <a:ln w="12700">
            <a:solidFill>
              <a:srgbClr val="E2E5EE"/>
            </a:solidFill>
            <a:prstDash val="solid"/>
          </a:ln>
        </p:spPr>
        <p:txBody>
          <a:bodyPr/>
          <a:lstStyle/>
          <a:p>
            <a:endParaRPr lang="en-US"/>
          </a:p>
        </p:txBody>
      </p:sp>
      <p:sp>
        <p:nvSpPr>
          <p:cNvPr id="18" name="Shape 15"/>
          <p:cNvSpPr/>
          <p:nvPr/>
        </p:nvSpPr>
        <p:spPr>
          <a:xfrm>
            <a:off x="4526280" y="1554480"/>
            <a:ext cx="3520440" cy="73152"/>
          </a:xfrm>
          <a:prstGeom prst="rect">
            <a:avLst/>
          </a:prstGeom>
          <a:solidFill>
            <a:srgbClr val="1E2761"/>
          </a:solidFill>
          <a:ln/>
        </p:spPr>
        <p:txBody>
          <a:bodyPr/>
          <a:lstStyle/>
          <a:p>
            <a:endParaRPr lang="en-US"/>
          </a:p>
        </p:txBody>
      </p:sp>
      <p:sp>
        <p:nvSpPr>
          <p:cNvPr id="19" name="Shape 16"/>
          <p:cNvSpPr/>
          <p:nvPr/>
        </p:nvSpPr>
        <p:spPr>
          <a:xfrm>
            <a:off x="4800600" y="1783080"/>
            <a:ext cx="777240" cy="777240"/>
          </a:xfrm>
          <a:prstGeom prst="ellipse">
            <a:avLst/>
          </a:prstGeom>
          <a:solidFill>
            <a:srgbClr val="1E2761"/>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4983480" y="1965960"/>
            <a:ext cx="411480" cy="411480"/>
          </a:xfrm>
          <a:prstGeom prst="rect">
            <a:avLst/>
          </a:prstGeom>
        </p:spPr>
      </p:pic>
      <p:sp>
        <p:nvSpPr>
          <p:cNvPr id="21" name="Text 17"/>
          <p:cNvSpPr/>
          <p:nvPr/>
        </p:nvSpPr>
        <p:spPr>
          <a:xfrm>
            <a:off x="5715000" y="1783080"/>
            <a:ext cx="2286000" cy="41148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TF-IDF embeddings</a:t>
            </a:r>
            <a:endParaRPr lang="en-US" sz="1700" dirty="0"/>
          </a:p>
        </p:txBody>
      </p:sp>
      <p:sp>
        <p:nvSpPr>
          <p:cNvPr id="22" name="Text 18"/>
          <p:cNvSpPr/>
          <p:nvPr/>
        </p:nvSpPr>
        <p:spPr>
          <a:xfrm>
            <a:off x="5715000" y="219456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pure JavaScript</a:t>
            </a:r>
            <a:endParaRPr lang="en-US" sz="1100" dirty="0"/>
          </a:p>
        </p:txBody>
      </p:sp>
      <p:sp>
        <p:nvSpPr>
          <p:cNvPr id="23" name="Text 19"/>
          <p:cNvSpPr/>
          <p:nvPr/>
        </p:nvSpPr>
        <p:spPr>
          <a:xfrm>
            <a:off x="4800600" y="2743200"/>
            <a:ext cx="3017520" cy="155448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Reviewer matching and plagiarism similarity. No model download, no API call, fully explainable cosine over sparse vectors.</a:t>
            </a:r>
            <a:endParaRPr lang="en-US" sz="1200" dirty="0"/>
          </a:p>
        </p:txBody>
      </p:sp>
      <p:sp>
        <p:nvSpPr>
          <p:cNvPr id="24" name="Shape 20"/>
          <p:cNvSpPr/>
          <p:nvPr/>
        </p:nvSpPr>
        <p:spPr>
          <a:xfrm>
            <a:off x="4800600" y="4434840"/>
            <a:ext cx="3017520" cy="320040"/>
          </a:xfrm>
          <a:prstGeom prst="rect">
            <a:avLst/>
          </a:prstGeom>
          <a:solidFill>
            <a:srgbClr val="1E2761"/>
          </a:solidFill>
          <a:ln/>
        </p:spPr>
        <p:txBody>
          <a:bodyPr/>
          <a:lstStyle/>
          <a:p>
            <a:endParaRPr lang="en-US"/>
          </a:p>
        </p:txBody>
      </p:sp>
      <p:sp>
        <p:nvSpPr>
          <p:cNvPr id="25" name="Text 21"/>
          <p:cNvSpPr/>
          <p:nvPr/>
        </p:nvSpPr>
        <p:spPr>
          <a:xfrm>
            <a:off x="4800600" y="4434840"/>
            <a:ext cx="3017520" cy="320040"/>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SELECTED</a:t>
            </a:r>
            <a:endParaRPr lang="en-US" sz="900" dirty="0"/>
          </a:p>
        </p:txBody>
      </p:sp>
      <p:sp>
        <p:nvSpPr>
          <p:cNvPr id="26" name="Text 22"/>
          <p:cNvSpPr/>
          <p:nvPr/>
        </p:nvSpPr>
        <p:spPr>
          <a:xfrm>
            <a:off x="4800600" y="4846320"/>
            <a:ext cx="3017520" cy="1371600"/>
          </a:xfrm>
          <a:prstGeom prst="rect">
            <a:avLst/>
          </a:prstGeom>
          <a:noFill/>
          <a:ln/>
        </p:spPr>
        <p:txBody>
          <a:bodyPr wrap="square" lIns="0" tIns="0" rIns="0" bIns="0" rtlCol="0" anchor="ctr"/>
          <a:lstStyle/>
          <a:p>
            <a:pPr marL="0" indent="0">
              <a:buNone/>
            </a:pPr>
            <a:r>
              <a:rPr lang="en-US" sz="1100" i="1" dirty="0">
                <a:solidFill>
                  <a:srgbClr val="0F1538"/>
                </a:solidFill>
                <a:latin typeface="Calibri" pitchFamily="34" charset="0"/>
                <a:ea typeface="Calibri" pitchFamily="34" charset="-122"/>
                <a:cs typeface="Calibri" pitchFamily="34" charset="-120"/>
              </a:rPr>
              <a:t>Free, deterministic, sufficient for workshop-level corpus sizes (&lt; 1000 papers).</a:t>
            </a:r>
            <a:endParaRPr lang="en-US" sz="1100" dirty="0"/>
          </a:p>
        </p:txBody>
      </p:sp>
      <p:sp>
        <p:nvSpPr>
          <p:cNvPr id="27" name="Shape 23"/>
          <p:cNvSpPr/>
          <p:nvPr/>
        </p:nvSpPr>
        <p:spPr>
          <a:xfrm>
            <a:off x="8503920" y="1554480"/>
            <a:ext cx="3520440" cy="4754880"/>
          </a:xfrm>
          <a:prstGeom prst="rect">
            <a:avLst/>
          </a:prstGeom>
          <a:solidFill>
            <a:srgbClr val="F7F8FB"/>
          </a:solidFill>
          <a:ln w="12700">
            <a:solidFill>
              <a:srgbClr val="E2E5EE"/>
            </a:solidFill>
            <a:prstDash val="solid"/>
          </a:ln>
        </p:spPr>
        <p:txBody>
          <a:bodyPr/>
          <a:lstStyle/>
          <a:p>
            <a:endParaRPr lang="en-US"/>
          </a:p>
        </p:txBody>
      </p:sp>
      <p:sp>
        <p:nvSpPr>
          <p:cNvPr id="28" name="Shape 24"/>
          <p:cNvSpPr/>
          <p:nvPr/>
        </p:nvSpPr>
        <p:spPr>
          <a:xfrm>
            <a:off x="8503920" y="1554480"/>
            <a:ext cx="3520440" cy="73152"/>
          </a:xfrm>
          <a:prstGeom prst="rect">
            <a:avLst/>
          </a:prstGeom>
          <a:solidFill>
            <a:srgbClr val="1E2761"/>
          </a:solidFill>
          <a:ln/>
        </p:spPr>
        <p:txBody>
          <a:bodyPr/>
          <a:lstStyle/>
          <a:p>
            <a:endParaRPr lang="en-US"/>
          </a:p>
        </p:txBody>
      </p:sp>
      <p:sp>
        <p:nvSpPr>
          <p:cNvPr id="29" name="Shape 25"/>
          <p:cNvSpPr/>
          <p:nvPr/>
        </p:nvSpPr>
        <p:spPr>
          <a:xfrm>
            <a:off x="8778240" y="1783080"/>
            <a:ext cx="777240" cy="777240"/>
          </a:xfrm>
          <a:prstGeom prst="ellipse">
            <a:avLst/>
          </a:prstGeom>
          <a:solidFill>
            <a:srgbClr val="1E2761"/>
          </a:solidFill>
          <a:ln/>
        </p:spPr>
        <p:txBody>
          <a:bodyPr/>
          <a:lstStyle/>
          <a:p>
            <a:endParaRPr lang="en-US"/>
          </a:p>
        </p:txBody>
      </p:sp>
      <p:pic>
        <p:nvPicPr>
          <p:cNvPr id="30" name="Image 2" descr="preencoded.png"/>
          <p:cNvPicPr>
            <a:picLocks noChangeAspect="1"/>
          </p:cNvPicPr>
          <p:nvPr/>
        </p:nvPicPr>
        <p:blipFill>
          <a:blip r:embed="rId5"/>
          <a:stretch>
            <a:fillRect/>
          </a:stretch>
        </p:blipFill>
        <p:spPr>
          <a:xfrm>
            <a:off x="8961120" y="1965960"/>
            <a:ext cx="411480" cy="411480"/>
          </a:xfrm>
          <a:prstGeom prst="rect">
            <a:avLst/>
          </a:prstGeom>
        </p:spPr>
      </p:pic>
      <p:sp>
        <p:nvSpPr>
          <p:cNvPr id="31" name="Text 26"/>
          <p:cNvSpPr/>
          <p:nvPr/>
        </p:nvSpPr>
        <p:spPr>
          <a:xfrm>
            <a:off x="9692640" y="1783080"/>
            <a:ext cx="2286000" cy="41148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sentence-transformers</a:t>
            </a:r>
            <a:endParaRPr lang="en-US" sz="1700" dirty="0"/>
          </a:p>
        </p:txBody>
      </p:sp>
      <p:sp>
        <p:nvSpPr>
          <p:cNvPr id="32" name="Text 27"/>
          <p:cNvSpPr/>
          <p:nvPr/>
        </p:nvSpPr>
        <p:spPr>
          <a:xfrm>
            <a:off x="9692640" y="219456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@xenova/transformers (local)</a:t>
            </a:r>
            <a:endParaRPr lang="en-US" sz="1100" dirty="0"/>
          </a:p>
        </p:txBody>
      </p:sp>
      <p:sp>
        <p:nvSpPr>
          <p:cNvPr id="33" name="Text 28"/>
          <p:cNvSpPr/>
          <p:nvPr/>
        </p:nvSpPr>
        <p:spPr>
          <a:xfrm>
            <a:off x="8778240" y="2743200"/>
            <a:ext cx="3017520" cy="155448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Roadmap upgrade for richer semantic matching. Runs locally in Node, still no API cost.</a:t>
            </a:r>
            <a:endParaRPr lang="en-US" sz="1200" dirty="0"/>
          </a:p>
        </p:txBody>
      </p:sp>
      <p:sp>
        <p:nvSpPr>
          <p:cNvPr id="34" name="Shape 29"/>
          <p:cNvSpPr/>
          <p:nvPr/>
        </p:nvSpPr>
        <p:spPr>
          <a:xfrm>
            <a:off x="8778240" y="4434840"/>
            <a:ext cx="3017520" cy="320040"/>
          </a:xfrm>
          <a:prstGeom prst="rect">
            <a:avLst/>
          </a:prstGeom>
          <a:solidFill>
            <a:srgbClr val="1E2761"/>
          </a:solidFill>
          <a:ln/>
        </p:spPr>
        <p:txBody>
          <a:bodyPr/>
          <a:lstStyle/>
          <a:p>
            <a:endParaRPr lang="en-US"/>
          </a:p>
        </p:txBody>
      </p:sp>
      <p:sp>
        <p:nvSpPr>
          <p:cNvPr id="35" name="Text 30"/>
          <p:cNvSpPr/>
          <p:nvPr/>
        </p:nvSpPr>
        <p:spPr>
          <a:xfrm>
            <a:off x="8778240" y="4434840"/>
            <a:ext cx="3017520" cy="320040"/>
          </a:xfrm>
          <a:prstGeom prst="rect">
            <a:avLst/>
          </a:prstGeom>
          <a:noFill/>
          <a:ln/>
        </p:spPr>
        <p:txBody>
          <a:bodyPr wrap="square" lIns="0" tIns="0" rIns="0" bIns="0" rtlCol="0" anchor="ctr"/>
          <a:lstStyle/>
          <a:p>
            <a:pPr marL="0" indent="0" algn="ctr">
              <a:buNone/>
            </a:pPr>
            <a:r>
              <a:rPr lang="en-US" sz="900" b="1" kern="0" spc="200" dirty="0">
                <a:solidFill>
                  <a:srgbClr val="F4B942"/>
                </a:solidFill>
                <a:latin typeface="Calibri" pitchFamily="34" charset="0"/>
                <a:ea typeface="Calibri" pitchFamily="34" charset="-122"/>
                <a:cs typeface="Calibri" pitchFamily="34" charset="-120"/>
              </a:rPr>
              <a:t>WHY SELECTED</a:t>
            </a:r>
            <a:endParaRPr lang="en-US" sz="900" dirty="0"/>
          </a:p>
        </p:txBody>
      </p:sp>
      <p:sp>
        <p:nvSpPr>
          <p:cNvPr id="36" name="Text 31"/>
          <p:cNvSpPr/>
          <p:nvPr/>
        </p:nvSpPr>
        <p:spPr>
          <a:xfrm>
            <a:off x="8778240" y="4846320"/>
            <a:ext cx="3017520" cy="1371600"/>
          </a:xfrm>
          <a:prstGeom prst="rect">
            <a:avLst/>
          </a:prstGeom>
          <a:noFill/>
          <a:ln/>
        </p:spPr>
        <p:txBody>
          <a:bodyPr wrap="square" lIns="0" tIns="0" rIns="0" bIns="0" rtlCol="0" anchor="ctr"/>
          <a:lstStyle/>
          <a:p>
            <a:pPr marL="0" indent="0">
              <a:buNone/>
            </a:pPr>
            <a:r>
              <a:rPr lang="en-US" sz="1100" i="1" dirty="0">
                <a:solidFill>
                  <a:srgbClr val="0F1538"/>
                </a:solidFill>
                <a:latin typeface="Calibri" pitchFamily="34" charset="0"/>
                <a:ea typeface="Calibri" pitchFamily="34" charset="-122"/>
                <a:cs typeface="Calibri" pitchFamily="34" charset="-120"/>
              </a:rPr>
              <a:t>When TF-IDF starts failing on paraphrased queries, a 384-dim local model takes over.</a:t>
            </a:r>
            <a:endParaRPr lang="en-US" sz="1100" dirty="0"/>
          </a:p>
        </p:txBody>
      </p:sp>
      <p:sp>
        <p:nvSpPr>
          <p:cNvPr id="37" name="Text 32"/>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8" name="Text 33"/>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AI tools I used to build this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How a 36-file codebase, a 1500-word report, and this deck shipped in days</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4</a:t>
            </a:r>
            <a:endParaRPr lang="en-US" sz="1100" dirty="0"/>
          </a:p>
        </p:txBody>
      </p:sp>
      <p:sp>
        <p:nvSpPr>
          <p:cNvPr id="7" name="Shape 5"/>
          <p:cNvSpPr/>
          <p:nvPr/>
        </p:nvSpPr>
        <p:spPr>
          <a:xfrm>
            <a:off x="548640" y="1645920"/>
            <a:ext cx="3520440" cy="402336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645920"/>
            <a:ext cx="3520440" cy="73152"/>
          </a:xfrm>
          <a:prstGeom prst="rect">
            <a:avLst/>
          </a:prstGeom>
          <a:solidFill>
            <a:srgbClr val="1E2761"/>
          </a:solidFill>
          <a:ln/>
        </p:spPr>
        <p:txBody>
          <a:bodyPr/>
          <a:lstStyle/>
          <a:p>
            <a:endParaRPr lang="en-US"/>
          </a:p>
        </p:txBody>
      </p:sp>
      <p:sp>
        <p:nvSpPr>
          <p:cNvPr id="9" name="Shape 7"/>
          <p:cNvSpPr/>
          <p:nvPr/>
        </p:nvSpPr>
        <p:spPr>
          <a:xfrm>
            <a:off x="822960" y="1874520"/>
            <a:ext cx="777240" cy="777240"/>
          </a:xfrm>
          <a:prstGeom prst="ellipse">
            <a:avLst/>
          </a:prstGeom>
          <a:solidFill>
            <a:srgbClr val="1E276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05840" y="2057400"/>
            <a:ext cx="411480" cy="411480"/>
          </a:xfrm>
          <a:prstGeom prst="rect">
            <a:avLst/>
          </a:prstGeom>
        </p:spPr>
      </p:pic>
      <p:sp>
        <p:nvSpPr>
          <p:cNvPr id="11" name="Text 8"/>
          <p:cNvSpPr/>
          <p:nvPr/>
        </p:nvSpPr>
        <p:spPr>
          <a:xfrm>
            <a:off x="1737360" y="1874520"/>
            <a:ext cx="2286000" cy="41148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Claude</a:t>
            </a:r>
            <a:endParaRPr lang="en-US" sz="1800" dirty="0"/>
          </a:p>
        </p:txBody>
      </p:sp>
      <p:sp>
        <p:nvSpPr>
          <p:cNvPr id="12" name="Text 9"/>
          <p:cNvSpPr/>
          <p:nvPr/>
        </p:nvSpPr>
        <p:spPr>
          <a:xfrm>
            <a:off x="1737360" y="228600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Sonnet 4.6 (chat + code)</a:t>
            </a:r>
            <a:endParaRPr lang="en-US" sz="1100" dirty="0"/>
          </a:p>
        </p:txBody>
      </p:sp>
      <p:sp>
        <p:nvSpPr>
          <p:cNvPr id="13" name="Text 10"/>
          <p:cNvSpPr/>
          <p:nvPr/>
        </p:nvSpPr>
        <p:spPr>
          <a:xfrm>
            <a:off x="822960" y="2834640"/>
            <a:ext cx="3017520" cy="173736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Architecture decisions, full code generation, the 1500-word report, this presentation.</a:t>
            </a:r>
            <a:endParaRPr lang="en-US" sz="1300" dirty="0"/>
          </a:p>
        </p:txBody>
      </p:sp>
      <p:sp>
        <p:nvSpPr>
          <p:cNvPr id="14" name="Shape 11"/>
          <p:cNvSpPr/>
          <p:nvPr/>
        </p:nvSpPr>
        <p:spPr>
          <a:xfrm>
            <a:off x="822960" y="5120640"/>
            <a:ext cx="2971800" cy="411480"/>
          </a:xfrm>
          <a:prstGeom prst="rect">
            <a:avLst/>
          </a:prstGeom>
          <a:solidFill>
            <a:srgbClr val="CADCFC"/>
          </a:solidFill>
          <a:ln/>
        </p:spPr>
        <p:txBody>
          <a:bodyPr/>
          <a:lstStyle/>
          <a:p>
            <a:endParaRPr lang="en-US"/>
          </a:p>
        </p:txBody>
      </p:sp>
      <p:sp>
        <p:nvSpPr>
          <p:cNvPr id="15" name="Text 12"/>
          <p:cNvSpPr/>
          <p:nvPr/>
        </p:nvSpPr>
        <p:spPr>
          <a:xfrm>
            <a:off x="822960" y="5120640"/>
            <a:ext cx="2971800" cy="41148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main coding partner</a:t>
            </a:r>
            <a:endParaRPr lang="en-US" sz="1100" dirty="0"/>
          </a:p>
        </p:txBody>
      </p:sp>
      <p:sp>
        <p:nvSpPr>
          <p:cNvPr id="16" name="Shape 13"/>
          <p:cNvSpPr/>
          <p:nvPr/>
        </p:nvSpPr>
        <p:spPr>
          <a:xfrm>
            <a:off x="4526280" y="1645920"/>
            <a:ext cx="3520440" cy="4023360"/>
          </a:xfrm>
          <a:prstGeom prst="rect">
            <a:avLst/>
          </a:prstGeom>
          <a:solidFill>
            <a:srgbClr val="F7F8FB"/>
          </a:solidFill>
          <a:ln w="12700">
            <a:solidFill>
              <a:srgbClr val="E2E5EE"/>
            </a:solidFill>
            <a:prstDash val="solid"/>
          </a:ln>
        </p:spPr>
        <p:txBody>
          <a:bodyPr/>
          <a:lstStyle/>
          <a:p>
            <a:endParaRPr lang="en-US"/>
          </a:p>
        </p:txBody>
      </p:sp>
      <p:sp>
        <p:nvSpPr>
          <p:cNvPr id="17" name="Shape 14"/>
          <p:cNvSpPr/>
          <p:nvPr/>
        </p:nvSpPr>
        <p:spPr>
          <a:xfrm>
            <a:off x="4526280" y="1645920"/>
            <a:ext cx="3520440" cy="73152"/>
          </a:xfrm>
          <a:prstGeom prst="rect">
            <a:avLst/>
          </a:prstGeom>
          <a:solidFill>
            <a:srgbClr val="1E2761"/>
          </a:solidFill>
          <a:ln/>
        </p:spPr>
        <p:txBody>
          <a:bodyPr/>
          <a:lstStyle/>
          <a:p>
            <a:endParaRPr lang="en-US"/>
          </a:p>
        </p:txBody>
      </p:sp>
      <p:sp>
        <p:nvSpPr>
          <p:cNvPr id="18" name="Shape 15"/>
          <p:cNvSpPr/>
          <p:nvPr/>
        </p:nvSpPr>
        <p:spPr>
          <a:xfrm>
            <a:off x="4800600" y="1874520"/>
            <a:ext cx="777240" cy="777240"/>
          </a:xfrm>
          <a:prstGeom prst="ellipse">
            <a:avLst/>
          </a:prstGeom>
          <a:solidFill>
            <a:srgbClr val="1E2761"/>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4983480" y="2057400"/>
            <a:ext cx="411480" cy="411480"/>
          </a:xfrm>
          <a:prstGeom prst="rect">
            <a:avLst/>
          </a:prstGeom>
        </p:spPr>
      </p:pic>
      <p:sp>
        <p:nvSpPr>
          <p:cNvPr id="20" name="Text 16"/>
          <p:cNvSpPr/>
          <p:nvPr/>
        </p:nvSpPr>
        <p:spPr>
          <a:xfrm>
            <a:off x="5715000" y="1874520"/>
            <a:ext cx="2286000" cy="41148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Whisper Flow</a:t>
            </a:r>
            <a:endParaRPr lang="en-US" sz="1800" dirty="0"/>
          </a:p>
        </p:txBody>
      </p:sp>
      <p:sp>
        <p:nvSpPr>
          <p:cNvPr id="21" name="Text 17"/>
          <p:cNvSpPr/>
          <p:nvPr/>
        </p:nvSpPr>
        <p:spPr>
          <a:xfrm>
            <a:off x="5715000" y="228600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voice → text dictation</a:t>
            </a:r>
            <a:endParaRPr lang="en-US" sz="1100" dirty="0"/>
          </a:p>
        </p:txBody>
      </p:sp>
      <p:sp>
        <p:nvSpPr>
          <p:cNvPr id="22" name="Text 18"/>
          <p:cNvSpPr/>
          <p:nvPr/>
        </p:nvSpPr>
        <p:spPr>
          <a:xfrm>
            <a:off x="4800600" y="2834640"/>
            <a:ext cx="3017520" cy="173736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Talked through prompts and design ideas instead of typing. Way faster turnaround when iterating on architecture.</a:t>
            </a:r>
            <a:endParaRPr lang="en-US" sz="1300" dirty="0"/>
          </a:p>
        </p:txBody>
      </p:sp>
      <p:sp>
        <p:nvSpPr>
          <p:cNvPr id="23" name="Shape 19"/>
          <p:cNvSpPr/>
          <p:nvPr/>
        </p:nvSpPr>
        <p:spPr>
          <a:xfrm>
            <a:off x="4800600" y="5120640"/>
            <a:ext cx="2971800" cy="411480"/>
          </a:xfrm>
          <a:prstGeom prst="rect">
            <a:avLst/>
          </a:prstGeom>
          <a:solidFill>
            <a:srgbClr val="CADCFC"/>
          </a:solidFill>
          <a:ln/>
        </p:spPr>
        <p:txBody>
          <a:bodyPr/>
          <a:lstStyle/>
          <a:p>
            <a:endParaRPr lang="en-US"/>
          </a:p>
        </p:txBody>
      </p:sp>
      <p:sp>
        <p:nvSpPr>
          <p:cNvPr id="24" name="Text 20"/>
          <p:cNvSpPr/>
          <p:nvPr/>
        </p:nvSpPr>
        <p:spPr>
          <a:xfrm>
            <a:off x="4800600" y="5120640"/>
            <a:ext cx="2971800" cy="41148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prompt at speaking speed</a:t>
            </a:r>
            <a:endParaRPr lang="en-US" sz="1100" dirty="0"/>
          </a:p>
        </p:txBody>
      </p:sp>
      <p:sp>
        <p:nvSpPr>
          <p:cNvPr id="25" name="Shape 21"/>
          <p:cNvSpPr/>
          <p:nvPr/>
        </p:nvSpPr>
        <p:spPr>
          <a:xfrm>
            <a:off x="8503920" y="1645920"/>
            <a:ext cx="3520440" cy="4023360"/>
          </a:xfrm>
          <a:prstGeom prst="rect">
            <a:avLst/>
          </a:prstGeom>
          <a:solidFill>
            <a:srgbClr val="F7F8FB"/>
          </a:solidFill>
          <a:ln w="12700">
            <a:solidFill>
              <a:srgbClr val="E2E5EE"/>
            </a:solidFill>
            <a:prstDash val="solid"/>
          </a:ln>
        </p:spPr>
        <p:txBody>
          <a:bodyPr/>
          <a:lstStyle/>
          <a:p>
            <a:endParaRPr lang="en-US"/>
          </a:p>
        </p:txBody>
      </p:sp>
      <p:sp>
        <p:nvSpPr>
          <p:cNvPr id="26" name="Shape 22"/>
          <p:cNvSpPr/>
          <p:nvPr/>
        </p:nvSpPr>
        <p:spPr>
          <a:xfrm>
            <a:off x="8503920" y="1645920"/>
            <a:ext cx="3520440" cy="73152"/>
          </a:xfrm>
          <a:prstGeom prst="rect">
            <a:avLst/>
          </a:prstGeom>
          <a:solidFill>
            <a:srgbClr val="1E2761"/>
          </a:solidFill>
          <a:ln/>
        </p:spPr>
        <p:txBody>
          <a:bodyPr/>
          <a:lstStyle/>
          <a:p>
            <a:endParaRPr lang="en-US"/>
          </a:p>
        </p:txBody>
      </p:sp>
      <p:sp>
        <p:nvSpPr>
          <p:cNvPr id="27" name="Shape 23"/>
          <p:cNvSpPr/>
          <p:nvPr/>
        </p:nvSpPr>
        <p:spPr>
          <a:xfrm>
            <a:off x="8778240" y="1874520"/>
            <a:ext cx="777240" cy="777240"/>
          </a:xfrm>
          <a:prstGeom prst="ellipse">
            <a:avLst/>
          </a:prstGeom>
          <a:solidFill>
            <a:srgbClr val="1E2761"/>
          </a:solidFill>
          <a:ln/>
        </p:spPr>
        <p:txBody>
          <a:bodyPr/>
          <a:lstStyle/>
          <a:p>
            <a:endParaRPr lang="en-US"/>
          </a:p>
        </p:txBody>
      </p:sp>
      <p:pic>
        <p:nvPicPr>
          <p:cNvPr id="28" name="Image 2" descr="preencoded.png"/>
          <p:cNvPicPr>
            <a:picLocks noChangeAspect="1"/>
          </p:cNvPicPr>
          <p:nvPr/>
        </p:nvPicPr>
        <p:blipFill>
          <a:blip r:embed="rId5"/>
          <a:stretch>
            <a:fillRect/>
          </a:stretch>
        </p:blipFill>
        <p:spPr>
          <a:xfrm>
            <a:off x="8961120" y="2057400"/>
            <a:ext cx="411480" cy="411480"/>
          </a:xfrm>
          <a:prstGeom prst="rect">
            <a:avLst/>
          </a:prstGeom>
        </p:spPr>
      </p:pic>
      <p:sp>
        <p:nvSpPr>
          <p:cNvPr id="29" name="Text 24"/>
          <p:cNvSpPr/>
          <p:nvPr/>
        </p:nvSpPr>
        <p:spPr>
          <a:xfrm>
            <a:off x="9692640" y="1874520"/>
            <a:ext cx="2286000" cy="41148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Cursor</a:t>
            </a:r>
            <a:endParaRPr lang="en-US" sz="1800" dirty="0"/>
          </a:p>
        </p:txBody>
      </p:sp>
      <p:sp>
        <p:nvSpPr>
          <p:cNvPr id="30" name="Text 25"/>
          <p:cNvSpPr/>
          <p:nvPr/>
        </p:nvSpPr>
        <p:spPr>
          <a:xfrm>
            <a:off x="9692640" y="228600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AI-native code editor</a:t>
            </a:r>
            <a:endParaRPr lang="en-US" sz="1100" dirty="0"/>
          </a:p>
        </p:txBody>
      </p:sp>
      <p:sp>
        <p:nvSpPr>
          <p:cNvPr id="31" name="Text 26"/>
          <p:cNvSpPr/>
          <p:nvPr/>
        </p:nvSpPr>
        <p:spPr>
          <a:xfrm>
            <a:off x="8778240" y="2834640"/>
            <a:ext cx="3017520" cy="173736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Inline AI completion and refactoring while editing the EJS views and controllers. Tab to accept.</a:t>
            </a:r>
            <a:endParaRPr lang="en-US" sz="1300" dirty="0"/>
          </a:p>
        </p:txBody>
      </p:sp>
      <p:sp>
        <p:nvSpPr>
          <p:cNvPr id="32" name="Shape 27"/>
          <p:cNvSpPr/>
          <p:nvPr/>
        </p:nvSpPr>
        <p:spPr>
          <a:xfrm>
            <a:off x="8778240" y="5120640"/>
            <a:ext cx="2971800" cy="411480"/>
          </a:xfrm>
          <a:prstGeom prst="rect">
            <a:avLst/>
          </a:prstGeom>
          <a:solidFill>
            <a:srgbClr val="CADCFC"/>
          </a:solidFill>
          <a:ln/>
        </p:spPr>
        <p:txBody>
          <a:bodyPr/>
          <a:lstStyle/>
          <a:p>
            <a:endParaRPr lang="en-US"/>
          </a:p>
        </p:txBody>
      </p:sp>
      <p:sp>
        <p:nvSpPr>
          <p:cNvPr id="33" name="Text 28"/>
          <p:cNvSpPr/>
          <p:nvPr/>
        </p:nvSpPr>
        <p:spPr>
          <a:xfrm>
            <a:off x="8778240" y="5120640"/>
            <a:ext cx="2971800" cy="41148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inline edits</a:t>
            </a:r>
            <a:endParaRPr lang="en-US" sz="1100" dirty="0"/>
          </a:p>
        </p:txBody>
      </p:sp>
      <p:sp>
        <p:nvSpPr>
          <p:cNvPr id="34" name="Shape 29"/>
          <p:cNvSpPr/>
          <p:nvPr/>
        </p:nvSpPr>
        <p:spPr>
          <a:xfrm>
            <a:off x="548640" y="5852160"/>
            <a:ext cx="11064240" cy="640080"/>
          </a:xfrm>
          <a:prstGeom prst="rect">
            <a:avLst/>
          </a:prstGeom>
          <a:solidFill>
            <a:srgbClr val="1E2761"/>
          </a:solidFill>
          <a:ln/>
        </p:spPr>
        <p:txBody>
          <a:bodyPr/>
          <a:lstStyle/>
          <a:p>
            <a:endParaRPr lang="en-US"/>
          </a:p>
        </p:txBody>
      </p:sp>
      <p:sp>
        <p:nvSpPr>
          <p:cNvPr id="35" name="Text 30"/>
          <p:cNvSpPr/>
          <p:nvPr/>
        </p:nvSpPr>
        <p:spPr>
          <a:xfrm>
            <a:off x="548640" y="5852160"/>
            <a:ext cx="11064240" cy="64008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Also in the chain  ·  ChatGPT for second opinions  ·  GitHub Copilot for repetitive code  ·  Excalidraw for diagrams  ·  Pandoc for docx checks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Ethical considerations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Bias · privacy · fairness · reliability</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5</a:t>
            </a:r>
            <a:endParaRPr lang="en-US" sz="1100" dirty="0"/>
          </a:p>
        </p:txBody>
      </p:sp>
      <p:sp>
        <p:nvSpPr>
          <p:cNvPr id="7" name="Shape 5"/>
          <p:cNvSpPr/>
          <p:nvPr/>
        </p:nvSpPr>
        <p:spPr>
          <a:xfrm>
            <a:off x="548640" y="1600200"/>
            <a:ext cx="5486400" cy="214884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868680" y="1965960"/>
            <a:ext cx="640080" cy="640080"/>
          </a:xfrm>
          <a:prstGeom prst="ellipse">
            <a:avLst/>
          </a:prstGeom>
          <a:solidFill>
            <a:srgbClr val="1E276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996696" y="2093976"/>
            <a:ext cx="384048" cy="384048"/>
          </a:xfrm>
          <a:prstGeom prst="rect">
            <a:avLst/>
          </a:prstGeom>
        </p:spPr>
      </p:pic>
      <p:sp>
        <p:nvSpPr>
          <p:cNvPr id="10" name="Text 7"/>
          <p:cNvSpPr/>
          <p:nvPr/>
        </p:nvSpPr>
        <p:spPr>
          <a:xfrm>
            <a:off x="1691640" y="192024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Bias &amp; fairness</a:t>
            </a:r>
            <a:endParaRPr lang="en-US" sz="1700" dirty="0"/>
          </a:p>
        </p:txBody>
      </p:sp>
      <p:sp>
        <p:nvSpPr>
          <p:cNvPr id="11" name="Text 8"/>
          <p:cNvSpPr/>
          <p:nvPr/>
        </p:nvSpPr>
        <p:spPr>
          <a:xfrm>
            <a:off x="868680" y="2697480"/>
            <a:ext cx="4937760" cy="100584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LLMs inherit bias from training data; expertise tags can under-represent niche fields. Editor override + audit trail + held-out evaluation across author demographics.</a:t>
            </a:r>
            <a:endParaRPr lang="en-US" sz="1200" dirty="0"/>
          </a:p>
        </p:txBody>
      </p:sp>
      <p:sp>
        <p:nvSpPr>
          <p:cNvPr id="12" name="Shape 9"/>
          <p:cNvSpPr/>
          <p:nvPr/>
        </p:nvSpPr>
        <p:spPr>
          <a:xfrm>
            <a:off x="6199632" y="1600200"/>
            <a:ext cx="5486400" cy="2148840"/>
          </a:xfrm>
          <a:prstGeom prst="rect">
            <a:avLst/>
          </a:prstGeom>
          <a:solidFill>
            <a:srgbClr val="F7F8FB"/>
          </a:solidFill>
          <a:ln w="12700">
            <a:solidFill>
              <a:srgbClr val="E2E5EE"/>
            </a:solidFill>
            <a:prstDash val="solid"/>
          </a:ln>
        </p:spPr>
        <p:txBody>
          <a:bodyPr/>
          <a:lstStyle/>
          <a:p>
            <a:endParaRPr lang="en-US"/>
          </a:p>
        </p:txBody>
      </p:sp>
      <p:sp>
        <p:nvSpPr>
          <p:cNvPr id="13" name="Shape 10"/>
          <p:cNvSpPr/>
          <p:nvPr/>
        </p:nvSpPr>
        <p:spPr>
          <a:xfrm>
            <a:off x="6519672" y="1965960"/>
            <a:ext cx="640080" cy="640080"/>
          </a:xfrm>
          <a:prstGeom prst="ellipse">
            <a:avLst/>
          </a:prstGeom>
          <a:solidFill>
            <a:srgbClr val="1E276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6647688" y="2093976"/>
            <a:ext cx="384048" cy="384048"/>
          </a:xfrm>
          <a:prstGeom prst="rect">
            <a:avLst/>
          </a:prstGeom>
        </p:spPr>
      </p:pic>
      <p:sp>
        <p:nvSpPr>
          <p:cNvPr id="15" name="Text 11"/>
          <p:cNvSpPr/>
          <p:nvPr/>
        </p:nvSpPr>
        <p:spPr>
          <a:xfrm>
            <a:off x="7342632" y="192024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Privacy &amp; data minimisation</a:t>
            </a:r>
            <a:endParaRPr lang="en-US" sz="1700" dirty="0"/>
          </a:p>
        </p:txBody>
      </p:sp>
      <p:sp>
        <p:nvSpPr>
          <p:cNvPr id="16" name="Text 12"/>
          <p:cNvSpPr/>
          <p:nvPr/>
        </p:nvSpPr>
        <p:spPr>
          <a:xfrm>
            <a:off x="6519672" y="2697480"/>
            <a:ext cx="4937760" cy="100584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Defaults to local heuristic backend. When Claude is on, only title + abstract leave the trust boundary. Every external call audited. Future revision adds explicit consent.</a:t>
            </a:r>
            <a:endParaRPr lang="en-US" sz="1200" dirty="0"/>
          </a:p>
        </p:txBody>
      </p:sp>
      <p:sp>
        <p:nvSpPr>
          <p:cNvPr id="17" name="Shape 13"/>
          <p:cNvSpPr/>
          <p:nvPr/>
        </p:nvSpPr>
        <p:spPr>
          <a:xfrm>
            <a:off x="548640" y="3931920"/>
            <a:ext cx="5486400" cy="2148840"/>
          </a:xfrm>
          <a:prstGeom prst="rect">
            <a:avLst/>
          </a:prstGeom>
          <a:solidFill>
            <a:srgbClr val="F7F8FB"/>
          </a:solidFill>
          <a:ln w="12700">
            <a:solidFill>
              <a:srgbClr val="E2E5EE"/>
            </a:solidFill>
            <a:prstDash val="solid"/>
          </a:ln>
        </p:spPr>
        <p:txBody>
          <a:bodyPr/>
          <a:lstStyle/>
          <a:p>
            <a:endParaRPr lang="en-US"/>
          </a:p>
        </p:txBody>
      </p:sp>
      <p:sp>
        <p:nvSpPr>
          <p:cNvPr id="18" name="Shape 14"/>
          <p:cNvSpPr/>
          <p:nvPr/>
        </p:nvSpPr>
        <p:spPr>
          <a:xfrm>
            <a:off x="868680" y="4297680"/>
            <a:ext cx="640080" cy="640080"/>
          </a:xfrm>
          <a:prstGeom prst="ellipse">
            <a:avLst/>
          </a:prstGeom>
          <a:solidFill>
            <a:srgbClr val="1E276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996696" y="4425696"/>
            <a:ext cx="384048" cy="384048"/>
          </a:xfrm>
          <a:prstGeom prst="rect">
            <a:avLst/>
          </a:prstGeom>
        </p:spPr>
      </p:pic>
      <p:sp>
        <p:nvSpPr>
          <p:cNvPr id="20" name="Text 15"/>
          <p:cNvSpPr/>
          <p:nvPr/>
        </p:nvSpPr>
        <p:spPr>
          <a:xfrm>
            <a:off x="1691640" y="425196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Accountability &amp; fairness</a:t>
            </a:r>
            <a:endParaRPr lang="en-US" sz="1700" dirty="0"/>
          </a:p>
        </p:txBody>
      </p:sp>
      <p:sp>
        <p:nvSpPr>
          <p:cNvPr id="21" name="Text 16"/>
          <p:cNvSpPr/>
          <p:nvPr/>
        </p:nvSpPr>
        <p:spPr>
          <a:xfrm>
            <a:off x="868680" y="5029200"/>
            <a:ext cx="4937760" cy="100584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AI drafts; humans submit. ai_assisted flag on every review. The model never autonomously approves anything. Authors are told when AI was used.</a:t>
            </a:r>
            <a:endParaRPr lang="en-US" sz="1200" dirty="0"/>
          </a:p>
        </p:txBody>
      </p:sp>
      <p:sp>
        <p:nvSpPr>
          <p:cNvPr id="22" name="Shape 17"/>
          <p:cNvSpPr/>
          <p:nvPr/>
        </p:nvSpPr>
        <p:spPr>
          <a:xfrm>
            <a:off x="6199632" y="3931920"/>
            <a:ext cx="5486400" cy="2148840"/>
          </a:xfrm>
          <a:prstGeom prst="rect">
            <a:avLst/>
          </a:prstGeom>
          <a:solidFill>
            <a:srgbClr val="F7F8FB"/>
          </a:solidFill>
          <a:ln w="12700">
            <a:solidFill>
              <a:srgbClr val="E2E5EE"/>
            </a:solidFill>
            <a:prstDash val="solid"/>
          </a:ln>
        </p:spPr>
        <p:txBody>
          <a:bodyPr/>
          <a:lstStyle/>
          <a:p>
            <a:endParaRPr lang="en-US"/>
          </a:p>
        </p:txBody>
      </p:sp>
      <p:sp>
        <p:nvSpPr>
          <p:cNvPr id="23" name="Shape 18"/>
          <p:cNvSpPr/>
          <p:nvPr/>
        </p:nvSpPr>
        <p:spPr>
          <a:xfrm>
            <a:off x="6519672" y="4297680"/>
            <a:ext cx="640080" cy="640080"/>
          </a:xfrm>
          <a:prstGeom prst="ellipse">
            <a:avLst/>
          </a:prstGeom>
          <a:solidFill>
            <a:srgbClr val="1E2761"/>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6647688" y="4425696"/>
            <a:ext cx="384048" cy="384048"/>
          </a:xfrm>
          <a:prstGeom prst="rect">
            <a:avLst/>
          </a:prstGeom>
        </p:spPr>
      </p:pic>
      <p:sp>
        <p:nvSpPr>
          <p:cNvPr id="25" name="Text 19"/>
          <p:cNvSpPr/>
          <p:nvPr/>
        </p:nvSpPr>
        <p:spPr>
          <a:xfrm>
            <a:off x="7342632" y="425196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Reliability &amp; limitations</a:t>
            </a:r>
            <a:endParaRPr lang="en-US" sz="1700" dirty="0"/>
          </a:p>
        </p:txBody>
      </p:sp>
      <p:sp>
        <p:nvSpPr>
          <p:cNvPr id="26" name="Text 20"/>
          <p:cNvSpPr/>
          <p:nvPr/>
        </p:nvSpPr>
        <p:spPr>
          <a:xfrm>
            <a:off x="6519672" y="5029200"/>
            <a:ext cx="4937760" cy="100584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Stylometric AI-text score is a flag, not a verdict. Real detectors fail on non-native English speakers. Plagiarism similarity is TF-IDF, not paraphrase-aware. Both are decision support.</a:t>
            </a:r>
            <a:endParaRPr lang="en-US" sz="1200" dirty="0"/>
          </a:p>
        </p:txBody>
      </p:sp>
      <p:sp>
        <p:nvSpPr>
          <p:cNvPr id="27" name="Text 21"/>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28" name="Text 22"/>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Reflection on integration</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How GenAI enhances · complements · challenges the original</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6</a:t>
            </a:r>
            <a:endParaRPr lang="en-US" sz="1100" dirty="0"/>
          </a:p>
        </p:txBody>
      </p:sp>
      <p:sp>
        <p:nvSpPr>
          <p:cNvPr id="7" name="Shape 5"/>
          <p:cNvSpPr/>
          <p:nvPr/>
        </p:nvSpPr>
        <p:spPr>
          <a:xfrm>
            <a:off x="548640" y="1554480"/>
            <a:ext cx="3520440" cy="4937760"/>
          </a:xfrm>
          <a:prstGeom prst="rect">
            <a:avLst/>
          </a:prstGeom>
          <a:solidFill>
            <a:srgbClr val="F7F8FB"/>
          </a:solidFill>
          <a:ln w="12700">
            <a:solidFill>
              <a:srgbClr val="E2E5EE"/>
            </a:solidFill>
            <a:prstDash val="solid"/>
          </a:ln>
        </p:spPr>
        <p:txBody>
          <a:bodyPr/>
          <a:lstStyle/>
          <a:p>
            <a:endParaRPr lang="en-US"/>
          </a:p>
        </p:txBody>
      </p:sp>
      <p:sp>
        <p:nvSpPr>
          <p:cNvPr id="8" name="Shape 6"/>
          <p:cNvSpPr/>
          <p:nvPr/>
        </p:nvSpPr>
        <p:spPr>
          <a:xfrm>
            <a:off x="548640" y="1554480"/>
            <a:ext cx="3520440" cy="457200"/>
          </a:xfrm>
          <a:prstGeom prst="rect">
            <a:avLst/>
          </a:prstGeom>
          <a:solidFill>
            <a:srgbClr val="2E8B57"/>
          </a:solidFill>
          <a:ln/>
        </p:spPr>
        <p:txBody>
          <a:bodyPr/>
          <a:lstStyle/>
          <a:p>
            <a:endParaRPr lang="en-US"/>
          </a:p>
        </p:txBody>
      </p:sp>
      <p:sp>
        <p:nvSpPr>
          <p:cNvPr id="9" name="Shape 7"/>
          <p:cNvSpPr/>
          <p:nvPr/>
        </p:nvSpPr>
        <p:spPr>
          <a:xfrm>
            <a:off x="777240" y="1627632"/>
            <a:ext cx="310896" cy="310896"/>
          </a:xfrm>
          <a:prstGeom prst="ellipse">
            <a:avLst/>
          </a:prstGeom>
          <a:solidFill>
            <a:srgbClr val="FFFFFF"/>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832104" y="1682496"/>
            <a:ext cx="201168" cy="201168"/>
          </a:xfrm>
          <a:prstGeom prst="rect">
            <a:avLst/>
          </a:prstGeom>
        </p:spPr>
      </p:pic>
      <p:sp>
        <p:nvSpPr>
          <p:cNvPr id="11" name="Text 8"/>
          <p:cNvSpPr/>
          <p:nvPr/>
        </p:nvSpPr>
        <p:spPr>
          <a:xfrm>
            <a:off x="1188720" y="1554480"/>
            <a:ext cx="2743200" cy="45720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Enhances</a:t>
            </a:r>
            <a:endParaRPr lang="en-US" sz="1600" dirty="0"/>
          </a:p>
        </p:txBody>
      </p:sp>
      <p:sp>
        <p:nvSpPr>
          <p:cNvPr id="12" name="Text 9"/>
          <p:cNvSpPr/>
          <p:nvPr/>
        </p:nvSpPr>
        <p:spPr>
          <a:xfrm>
            <a:off x="822960" y="2194560"/>
            <a:ext cx="3200400" cy="411480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Reviewer matching becomes topical, not random — better feedback per submission.</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get pre-submission feedback that previously cost a copy editor.</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Reviews are structured and comparable, editors can aggregate scores meaningfully.</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Public reader feed surfaces accepted work with AI-extracted keywords.</a:t>
            </a:r>
            <a:endParaRPr lang="en-US" sz="1200" dirty="0"/>
          </a:p>
        </p:txBody>
      </p:sp>
      <p:sp>
        <p:nvSpPr>
          <p:cNvPr id="13" name="Shape 10"/>
          <p:cNvSpPr/>
          <p:nvPr/>
        </p:nvSpPr>
        <p:spPr>
          <a:xfrm>
            <a:off x="4526280" y="1554480"/>
            <a:ext cx="3520440" cy="4937760"/>
          </a:xfrm>
          <a:prstGeom prst="rect">
            <a:avLst/>
          </a:prstGeom>
          <a:solidFill>
            <a:srgbClr val="F7F8FB"/>
          </a:solidFill>
          <a:ln w="12700">
            <a:solidFill>
              <a:srgbClr val="E2E5EE"/>
            </a:solidFill>
            <a:prstDash val="solid"/>
          </a:ln>
        </p:spPr>
        <p:txBody>
          <a:bodyPr/>
          <a:lstStyle/>
          <a:p>
            <a:endParaRPr lang="en-US"/>
          </a:p>
        </p:txBody>
      </p:sp>
      <p:sp>
        <p:nvSpPr>
          <p:cNvPr id="14" name="Shape 11"/>
          <p:cNvSpPr/>
          <p:nvPr/>
        </p:nvSpPr>
        <p:spPr>
          <a:xfrm>
            <a:off x="4526280" y="1554480"/>
            <a:ext cx="3520440" cy="457200"/>
          </a:xfrm>
          <a:prstGeom prst="rect">
            <a:avLst/>
          </a:prstGeom>
          <a:solidFill>
            <a:srgbClr val="F4B942"/>
          </a:solidFill>
          <a:ln/>
        </p:spPr>
        <p:txBody>
          <a:bodyPr/>
          <a:lstStyle/>
          <a:p>
            <a:endParaRPr lang="en-US"/>
          </a:p>
        </p:txBody>
      </p:sp>
      <p:sp>
        <p:nvSpPr>
          <p:cNvPr id="15" name="Shape 12"/>
          <p:cNvSpPr/>
          <p:nvPr/>
        </p:nvSpPr>
        <p:spPr>
          <a:xfrm>
            <a:off x="4754880" y="1627632"/>
            <a:ext cx="310896" cy="310896"/>
          </a:xfrm>
          <a:prstGeom prst="ellipse">
            <a:avLst/>
          </a:prstGeom>
          <a:solidFill>
            <a:srgbClr val="FFFFFF"/>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4809744" y="1682496"/>
            <a:ext cx="201168" cy="201168"/>
          </a:xfrm>
          <a:prstGeom prst="rect">
            <a:avLst/>
          </a:prstGeom>
        </p:spPr>
      </p:pic>
      <p:sp>
        <p:nvSpPr>
          <p:cNvPr id="17" name="Text 13"/>
          <p:cNvSpPr/>
          <p:nvPr/>
        </p:nvSpPr>
        <p:spPr>
          <a:xfrm>
            <a:off x="5166360" y="1554480"/>
            <a:ext cx="2743200" cy="45720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Complements</a:t>
            </a:r>
            <a:endParaRPr lang="en-US" sz="1600" dirty="0"/>
          </a:p>
        </p:txBody>
      </p:sp>
      <p:sp>
        <p:nvSpPr>
          <p:cNvPr id="18" name="Text 14"/>
          <p:cNvSpPr/>
          <p:nvPr/>
        </p:nvSpPr>
        <p:spPr>
          <a:xfrm>
            <a:off x="4800600" y="2194560"/>
            <a:ext cx="3200400" cy="411480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 generates first drafts; humans always make the final call.</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TF-IDF and stylometry surface signals; editors verify before acting.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Audit log captures every AI call, so reviewers and editors can defend decisions.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Heuristic + Claude backends complement each other across cost / quality tiers.</a:t>
            </a:r>
            <a:endParaRPr lang="en-US" sz="1200" dirty="0"/>
          </a:p>
        </p:txBody>
      </p:sp>
      <p:sp>
        <p:nvSpPr>
          <p:cNvPr id="19" name="Shape 15"/>
          <p:cNvSpPr/>
          <p:nvPr/>
        </p:nvSpPr>
        <p:spPr>
          <a:xfrm>
            <a:off x="8503920" y="1554480"/>
            <a:ext cx="3520440" cy="4937760"/>
          </a:xfrm>
          <a:prstGeom prst="rect">
            <a:avLst/>
          </a:prstGeom>
          <a:solidFill>
            <a:srgbClr val="F7F8FB"/>
          </a:solidFill>
          <a:ln w="12700">
            <a:solidFill>
              <a:srgbClr val="E2E5EE"/>
            </a:solidFill>
            <a:prstDash val="solid"/>
          </a:ln>
        </p:spPr>
        <p:txBody>
          <a:bodyPr/>
          <a:lstStyle/>
          <a:p>
            <a:endParaRPr lang="en-US"/>
          </a:p>
        </p:txBody>
      </p:sp>
      <p:sp>
        <p:nvSpPr>
          <p:cNvPr id="20" name="Shape 16"/>
          <p:cNvSpPr/>
          <p:nvPr/>
        </p:nvSpPr>
        <p:spPr>
          <a:xfrm>
            <a:off x="8503920" y="1554480"/>
            <a:ext cx="3520440" cy="457200"/>
          </a:xfrm>
          <a:prstGeom prst="rect">
            <a:avLst/>
          </a:prstGeom>
          <a:solidFill>
            <a:srgbClr val="C2453B"/>
          </a:solidFill>
          <a:ln/>
        </p:spPr>
        <p:txBody>
          <a:bodyPr/>
          <a:lstStyle/>
          <a:p>
            <a:endParaRPr lang="en-US"/>
          </a:p>
        </p:txBody>
      </p:sp>
      <p:sp>
        <p:nvSpPr>
          <p:cNvPr id="21" name="Shape 17"/>
          <p:cNvSpPr/>
          <p:nvPr/>
        </p:nvSpPr>
        <p:spPr>
          <a:xfrm>
            <a:off x="8732520" y="1627632"/>
            <a:ext cx="310896" cy="310896"/>
          </a:xfrm>
          <a:prstGeom prst="ellipse">
            <a:avLst/>
          </a:prstGeom>
          <a:solidFill>
            <a:srgbClr val="FFFFFF"/>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787384" y="1682496"/>
            <a:ext cx="201168" cy="201168"/>
          </a:xfrm>
          <a:prstGeom prst="rect">
            <a:avLst/>
          </a:prstGeom>
        </p:spPr>
      </p:pic>
      <p:sp>
        <p:nvSpPr>
          <p:cNvPr id="23" name="Text 18"/>
          <p:cNvSpPr/>
          <p:nvPr/>
        </p:nvSpPr>
        <p:spPr>
          <a:xfrm>
            <a:off x="9144000" y="1554480"/>
            <a:ext cx="2743200" cy="45720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Challenges</a:t>
            </a:r>
            <a:endParaRPr lang="en-US" sz="1600" dirty="0"/>
          </a:p>
        </p:txBody>
      </p:sp>
      <p:sp>
        <p:nvSpPr>
          <p:cNvPr id="24" name="Text 19"/>
          <p:cNvSpPr/>
          <p:nvPr/>
        </p:nvSpPr>
        <p:spPr>
          <a:xfrm>
            <a:off x="8778240" y="2194560"/>
            <a:ext cx="3200400" cy="411480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AI-text detectors misclassify non-native English writing — risk of unfair flagging.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LLM bias may favour mainstream research traditions over niche subfields.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may over-trust the writing assistant and let style become homogeneous.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Cost of frontier LLMs at scale could become prohibitive without careful caching.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Live demo: the recreated v2</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Five role-aware dashboards with AI affordances</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DEMO</a:t>
            </a:r>
            <a:endParaRPr lang="en-US" sz="1100" dirty="0"/>
          </a:p>
        </p:txBody>
      </p:sp>
      <p:sp>
        <p:nvSpPr>
          <p:cNvPr id="7" name="Shape 5"/>
          <p:cNvSpPr/>
          <p:nvPr/>
        </p:nvSpPr>
        <p:spPr>
          <a:xfrm>
            <a:off x="548640" y="1600200"/>
            <a:ext cx="640080" cy="640080"/>
          </a:xfrm>
          <a:prstGeom prst="ellipse">
            <a:avLst/>
          </a:prstGeom>
          <a:solidFill>
            <a:srgbClr val="1E2761"/>
          </a:solidFill>
          <a:ln/>
        </p:spPr>
        <p:txBody>
          <a:bodyPr/>
          <a:lstStyle/>
          <a:p>
            <a:endParaRPr lang="en-US"/>
          </a:p>
        </p:txBody>
      </p:sp>
      <p:sp>
        <p:nvSpPr>
          <p:cNvPr id="8" name="Text 6"/>
          <p:cNvSpPr/>
          <p:nvPr/>
        </p:nvSpPr>
        <p:spPr>
          <a:xfrm>
            <a:off x="548640" y="16002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1325880" y="160020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Author submit page</a:t>
            </a:r>
            <a:endParaRPr lang="en-US" sz="1600" dirty="0"/>
          </a:p>
        </p:txBody>
      </p:sp>
      <p:sp>
        <p:nvSpPr>
          <p:cNvPr id="10" name="Text 8"/>
          <p:cNvSpPr/>
          <p:nvPr/>
        </p:nvSpPr>
        <p:spPr>
          <a:xfrm>
            <a:off x="1325880" y="196596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Three AI buttons (Polish · Suggest titles · Extract keywords) sit alongside the abstract.</a:t>
            </a:r>
            <a:endParaRPr lang="en-US" sz="1200" dirty="0"/>
          </a:p>
        </p:txBody>
      </p:sp>
      <p:sp>
        <p:nvSpPr>
          <p:cNvPr id="11" name="Shape 9"/>
          <p:cNvSpPr/>
          <p:nvPr/>
        </p:nvSpPr>
        <p:spPr>
          <a:xfrm>
            <a:off x="548640" y="2743200"/>
            <a:ext cx="640080" cy="640080"/>
          </a:xfrm>
          <a:prstGeom prst="ellipse">
            <a:avLst/>
          </a:prstGeom>
          <a:solidFill>
            <a:srgbClr val="1E2761"/>
          </a:solidFill>
          <a:ln/>
        </p:spPr>
        <p:txBody>
          <a:bodyPr/>
          <a:lstStyle/>
          <a:p>
            <a:endParaRPr lang="en-US"/>
          </a:p>
        </p:txBody>
      </p:sp>
      <p:sp>
        <p:nvSpPr>
          <p:cNvPr id="12" name="Text 10"/>
          <p:cNvSpPr/>
          <p:nvPr/>
        </p:nvSpPr>
        <p:spPr>
          <a:xfrm>
            <a:off x="548640" y="27432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1325880" y="274320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Editor dashboard</a:t>
            </a:r>
            <a:endParaRPr lang="en-US" sz="1600" dirty="0"/>
          </a:p>
        </p:txBody>
      </p:sp>
      <p:sp>
        <p:nvSpPr>
          <p:cNvPr id="14" name="Text 12"/>
          <p:cNvSpPr/>
          <p:nvPr/>
        </p:nvSpPr>
        <p:spPr>
          <a:xfrm>
            <a:off x="1325880" y="310896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Top-3 AI-ranked reviewers per paper with cosine score, plus manual override and final decision.</a:t>
            </a:r>
            <a:endParaRPr lang="en-US" sz="1200" dirty="0"/>
          </a:p>
        </p:txBody>
      </p:sp>
      <p:sp>
        <p:nvSpPr>
          <p:cNvPr id="15" name="Shape 13"/>
          <p:cNvSpPr/>
          <p:nvPr/>
        </p:nvSpPr>
        <p:spPr>
          <a:xfrm>
            <a:off x="548640" y="3886200"/>
            <a:ext cx="640080" cy="640080"/>
          </a:xfrm>
          <a:prstGeom prst="ellipse">
            <a:avLst/>
          </a:prstGeom>
          <a:solidFill>
            <a:srgbClr val="1E2761"/>
          </a:solidFill>
          <a:ln/>
        </p:spPr>
        <p:txBody>
          <a:bodyPr/>
          <a:lstStyle/>
          <a:p>
            <a:endParaRPr lang="en-US"/>
          </a:p>
        </p:txBody>
      </p:sp>
      <p:sp>
        <p:nvSpPr>
          <p:cNvPr id="16" name="Text 14"/>
          <p:cNvSpPr/>
          <p:nvPr/>
        </p:nvSpPr>
        <p:spPr>
          <a:xfrm>
            <a:off x="548640" y="38862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5"/>
          <p:cNvSpPr/>
          <p:nvPr/>
        </p:nvSpPr>
        <p:spPr>
          <a:xfrm>
            <a:off x="1325880" y="388620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Reviewer review</a:t>
            </a:r>
            <a:endParaRPr lang="en-US" sz="1600" dirty="0"/>
          </a:p>
        </p:txBody>
      </p:sp>
      <p:sp>
        <p:nvSpPr>
          <p:cNvPr id="18" name="Text 16"/>
          <p:cNvSpPr/>
          <p:nvPr/>
        </p:nvSpPr>
        <p:spPr>
          <a:xfrm>
            <a:off x="1325880" y="425196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"Generate AI draft" populates summary / strengths / weaknesses / scores / recommendation.</a:t>
            </a:r>
            <a:endParaRPr lang="en-US" sz="1200" dirty="0"/>
          </a:p>
        </p:txBody>
      </p:sp>
      <p:sp>
        <p:nvSpPr>
          <p:cNvPr id="19" name="Shape 17"/>
          <p:cNvSpPr/>
          <p:nvPr/>
        </p:nvSpPr>
        <p:spPr>
          <a:xfrm>
            <a:off x="548640" y="5029200"/>
            <a:ext cx="640080" cy="640080"/>
          </a:xfrm>
          <a:prstGeom prst="ellipse">
            <a:avLst/>
          </a:prstGeom>
          <a:solidFill>
            <a:srgbClr val="1E2761"/>
          </a:solidFill>
          <a:ln/>
        </p:spPr>
        <p:txBody>
          <a:bodyPr/>
          <a:lstStyle/>
          <a:p>
            <a:endParaRPr lang="en-US"/>
          </a:p>
        </p:txBody>
      </p:sp>
      <p:sp>
        <p:nvSpPr>
          <p:cNvPr id="20" name="Text 18"/>
          <p:cNvSpPr/>
          <p:nvPr/>
        </p:nvSpPr>
        <p:spPr>
          <a:xfrm>
            <a:off x="548640" y="50292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1" name="Text 19"/>
          <p:cNvSpPr/>
          <p:nvPr/>
        </p:nvSpPr>
        <p:spPr>
          <a:xfrm>
            <a:off x="1325880" y="502920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Public reader feed</a:t>
            </a:r>
            <a:endParaRPr lang="en-US" sz="1600" dirty="0"/>
          </a:p>
        </p:txBody>
      </p:sp>
      <p:sp>
        <p:nvSpPr>
          <p:cNvPr id="22" name="Text 20"/>
          <p:cNvSpPr/>
          <p:nvPr/>
        </p:nvSpPr>
        <p:spPr>
          <a:xfrm>
            <a:off x="1325880" y="539496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Newspaper-style grid of accepted articles, full-text search, public download — no login.</a:t>
            </a:r>
            <a:endParaRPr lang="en-US" sz="1200" dirty="0"/>
          </a:p>
        </p:txBody>
      </p:sp>
      <p:sp>
        <p:nvSpPr>
          <p:cNvPr id="23" name="Shape 21"/>
          <p:cNvSpPr/>
          <p:nvPr/>
        </p:nvSpPr>
        <p:spPr>
          <a:xfrm>
            <a:off x="7315200" y="1600200"/>
            <a:ext cx="4297680" cy="4206240"/>
          </a:xfrm>
          <a:prstGeom prst="rect">
            <a:avLst/>
          </a:prstGeom>
          <a:solidFill>
            <a:srgbClr val="141C49"/>
          </a:solidFill>
          <a:ln/>
        </p:spPr>
        <p:txBody>
          <a:bodyPr/>
          <a:lstStyle/>
          <a:p>
            <a:endParaRPr lang="en-US"/>
          </a:p>
        </p:txBody>
      </p:sp>
      <p:sp>
        <p:nvSpPr>
          <p:cNvPr id="24" name="Text 22"/>
          <p:cNvSpPr/>
          <p:nvPr/>
        </p:nvSpPr>
        <p:spPr>
          <a:xfrm>
            <a:off x="7498080" y="1737360"/>
            <a:ext cx="3931920" cy="32004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TO RUN LOCALLY</a:t>
            </a:r>
            <a:endParaRPr lang="en-US" sz="1100" dirty="0"/>
          </a:p>
        </p:txBody>
      </p:sp>
      <p:sp>
        <p:nvSpPr>
          <p:cNvPr id="25" name="Text 23"/>
          <p:cNvSpPr/>
          <p:nvPr/>
        </p:nvSpPr>
        <p:spPr>
          <a:xfrm>
            <a:off x="7498080" y="2148840"/>
            <a:ext cx="3931920" cy="3657600"/>
          </a:xfrm>
          <a:prstGeom prst="rect">
            <a:avLst/>
          </a:prstGeom>
          <a:noFill/>
          <a:ln/>
        </p:spPr>
        <p:txBody>
          <a:bodyPr wrap="square" lIns="0" tIns="0" rIns="0" bIns="0" rtlCol="0" anchor="ctr"/>
          <a:lstStyle/>
          <a:p>
            <a:pPr marL="0" indent="0">
              <a:buNone/>
            </a:pPr>
            <a:r>
              <a:rPr lang="en-US" sz="1300" dirty="0">
                <a:solidFill>
                  <a:srgbClr val="CADCFC"/>
                </a:solidFill>
                <a:latin typeface="Consolas" pitchFamily="34" charset="0"/>
                <a:ea typeface="Consolas" pitchFamily="34" charset="-122"/>
                <a:cs typeface="Consolas" pitchFamily="34" charset="-120"/>
              </a:rPr>
              <a:t>$ cd paper-submission-system-v2</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install</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run setup</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start</a:t>
            </a:r>
            <a:endParaRPr lang="en-US" sz="1300" dirty="0"/>
          </a:p>
          <a:p>
            <a:pPr marL="0" indent="0">
              <a:buNone/>
            </a:pPr>
            <a:endParaRPr lang="en-US" sz="1300" dirty="0"/>
          </a:p>
          <a:p>
            <a:pPr marL="0" indent="0">
              <a:buNone/>
            </a:pPr>
            <a:r>
              <a:rPr lang="en-US" sz="1300" b="1" dirty="0">
                <a:solidFill>
                  <a:srgbClr val="F4B942"/>
                </a:solidFill>
                <a:latin typeface="Consolas" pitchFamily="34" charset="0"/>
                <a:ea typeface="Consolas" pitchFamily="34" charset="-122"/>
                <a:cs typeface="Consolas" pitchFamily="34" charset="-120"/>
              </a:rPr>
              <a:t>→ http://localhost:3000</a:t>
            </a:r>
            <a:endParaRPr lang="en-US" sz="1300" dirty="0"/>
          </a:p>
          <a:p>
            <a:pPr marL="0" indent="0">
              <a:buNone/>
            </a:pPr>
            <a:endParaRPr lang="en-US" sz="1300" dirty="0"/>
          </a:p>
          <a:p>
            <a:pPr marL="0" indent="0">
              <a:buNone/>
            </a:pPr>
            <a:r>
              <a:rPr lang="en-US" sz="1200" b="1" dirty="0">
                <a:solidFill>
                  <a:srgbClr val="FFFFFF"/>
                </a:solidFill>
                <a:latin typeface="Consolas" pitchFamily="34" charset="0"/>
                <a:ea typeface="Consolas" pitchFamily="34" charset="-122"/>
                <a:cs typeface="Consolas" pitchFamily="34" charset="-120"/>
              </a:rPr>
              <a:t>Demo accounts (Password123!):</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alice / bob — author</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reviewer_ml / db / se</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editor — manual+AI assignment</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admin — audit dashboard</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reader — public feed</a:t>
            </a:r>
            <a:endParaRPr lang="en-US" sz="1300" dirty="0"/>
          </a:p>
        </p:txBody>
      </p:sp>
      <p:sp>
        <p:nvSpPr>
          <p:cNvPr id="26" name="Shape 24"/>
          <p:cNvSpPr/>
          <p:nvPr/>
        </p:nvSpPr>
        <p:spPr>
          <a:xfrm>
            <a:off x="548640" y="5989320"/>
            <a:ext cx="11064240" cy="457200"/>
          </a:xfrm>
          <a:prstGeom prst="rect">
            <a:avLst/>
          </a:prstGeom>
          <a:solidFill>
            <a:srgbClr val="CADCFC"/>
          </a:solidFill>
          <a:ln/>
        </p:spPr>
        <p:txBody>
          <a:bodyPr/>
          <a:lstStyle/>
          <a:p>
            <a:endParaRPr lang="en-US"/>
          </a:p>
        </p:txBody>
      </p:sp>
      <p:sp>
        <p:nvSpPr>
          <p:cNvPr id="27" name="Text 25"/>
          <p:cNvSpPr/>
          <p:nvPr/>
        </p:nvSpPr>
        <p:spPr>
          <a:xfrm>
            <a:off x="548640" y="5989320"/>
            <a:ext cx="11064240" cy="457200"/>
          </a:xfrm>
          <a:prstGeom prst="rect">
            <a:avLst/>
          </a:prstGeom>
          <a:noFill/>
          <a:ln/>
        </p:spPr>
        <p:txBody>
          <a:bodyPr wrap="square" lIns="0" tIns="0" rIns="0" bIns="0" rtlCol="0" anchor="ctr"/>
          <a:lstStyle/>
          <a:p>
            <a:pPr marL="0" indent="0" algn="ctr">
              <a:buNone/>
            </a:pPr>
            <a:r>
              <a:rPr lang="en-US" sz="1100" i="1" dirty="0">
                <a:solidFill>
                  <a:srgbClr val="1E2761"/>
                </a:solidFill>
                <a:latin typeface="Calibri" pitchFamily="34" charset="0"/>
                <a:ea typeface="Calibri" pitchFamily="34" charset="-122"/>
                <a:cs typeface="Calibri" pitchFamily="34" charset="-120"/>
              </a:rPr>
              <a:t>Default mode: heuristic backend (zero cost).  Add ANTHROPIC_API_KEY + LLM_PROVIDER=claude to upgrade — no other code changes.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Roadmap to Assessment 2</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A five-step plan from today through the Assessment 2 submission</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ROADMAP</a:t>
            </a:r>
            <a:endParaRPr lang="en-US" sz="1100" dirty="0"/>
          </a:p>
        </p:txBody>
      </p:sp>
      <p:sp>
        <p:nvSpPr>
          <p:cNvPr id="7" name="Shape 5"/>
          <p:cNvSpPr/>
          <p:nvPr/>
        </p:nvSpPr>
        <p:spPr>
          <a:xfrm>
            <a:off x="1211580" y="1828800"/>
            <a:ext cx="1097280" cy="1097280"/>
          </a:xfrm>
          <a:prstGeom prst="ellipse">
            <a:avLst/>
          </a:prstGeom>
          <a:solidFill>
            <a:srgbClr val="2E8B57"/>
          </a:solidFill>
          <a:ln/>
        </p:spPr>
        <p:txBody>
          <a:bodyPr/>
          <a:lstStyle/>
          <a:p>
            <a:endParaRPr lang="en-US"/>
          </a:p>
        </p:txBody>
      </p:sp>
      <p:sp>
        <p:nvSpPr>
          <p:cNvPr id="8" name="Text 6"/>
          <p:cNvSpPr/>
          <p:nvPr/>
        </p:nvSpPr>
        <p:spPr>
          <a:xfrm>
            <a:off x="121158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1</a:t>
            </a:r>
            <a:endParaRPr lang="en-US" sz="3600" dirty="0"/>
          </a:p>
        </p:txBody>
      </p:sp>
      <p:sp>
        <p:nvSpPr>
          <p:cNvPr id="9" name="Shape 7"/>
          <p:cNvSpPr/>
          <p:nvPr/>
        </p:nvSpPr>
        <p:spPr>
          <a:xfrm>
            <a:off x="2308860" y="2377440"/>
            <a:ext cx="1143000" cy="0"/>
          </a:xfrm>
          <a:prstGeom prst="line">
            <a:avLst/>
          </a:prstGeom>
          <a:noFill/>
          <a:ln w="38100">
            <a:solidFill>
              <a:srgbClr val="D5D9E5"/>
            </a:solidFill>
            <a:prstDash val="dash"/>
          </a:ln>
        </p:spPr>
        <p:txBody>
          <a:bodyPr/>
          <a:lstStyle/>
          <a:p>
            <a:endParaRPr lang="en-US"/>
          </a:p>
        </p:txBody>
      </p:sp>
      <p:sp>
        <p:nvSpPr>
          <p:cNvPr id="10" name="Text 8"/>
          <p:cNvSpPr/>
          <p:nvPr/>
        </p:nvSpPr>
        <p:spPr>
          <a:xfrm>
            <a:off x="64008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Now</a:t>
            </a:r>
            <a:endParaRPr lang="en-US" sz="1400" dirty="0"/>
          </a:p>
        </p:txBody>
      </p:sp>
      <p:sp>
        <p:nvSpPr>
          <p:cNvPr id="11" name="Text 9"/>
          <p:cNvSpPr/>
          <p:nvPr/>
        </p:nvSpPr>
        <p:spPr>
          <a:xfrm>
            <a:off x="68580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v2 codebase live · heuristic backend covers all four AI features end-to-end · audit table collecting usage</a:t>
            </a:r>
            <a:endParaRPr lang="en-US" sz="1100" dirty="0"/>
          </a:p>
        </p:txBody>
      </p:sp>
      <p:sp>
        <p:nvSpPr>
          <p:cNvPr id="12" name="Shape 10"/>
          <p:cNvSpPr/>
          <p:nvPr/>
        </p:nvSpPr>
        <p:spPr>
          <a:xfrm>
            <a:off x="3451860" y="1828800"/>
            <a:ext cx="1097280" cy="1097280"/>
          </a:xfrm>
          <a:prstGeom prst="ellipse">
            <a:avLst/>
          </a:prstGeom>
          <a:solidFill>
            <a:srgbClr val="F4B942"/>
          </a:solidFill>
          <a:ln/>
        </p:spPr>
        <p:txBody>
          <a:bodyPr/>
          <a:lstStyle/>
          <a:p>
            <a:endParaRPr lang="en-US"/>
          </a:p>
        </p:txBody>
      </p:sp>
      <p:sp>
        <p:nvSpPr>
          <p:cNvPr id="13" name="Text 11"/>
          <p:cNvSpPr/>
          <p:nvPr/>
        </p:nvSpPr>
        <p:spPr>
          <a:xfrm>
            <a:off x="345186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2</a:t>
            </a:r>
            <a:endParaRPr lang="en-US" sz="3600" dirty="0"/>
          </a:p>
        </p:txBody>
      </p:sp>
      <p:sp>
        <p:nvSpPr>
          <p:cNvPr id="14" name="Shape 12"/>
          <p:cNvSpPr/>
          <p:nvPr/>
        </p:nvSpPr>
        <p:spPr>
          <a:xfrm>
            <a:off x="4549140" y="2377440"/>
            <a:ext cx="1143000" cy="0"/>
          </a:xfrm>
          <a:prstGeom prst="line">
            <a:avLst/>
          </a:prstGeom>
          <a:noFill/>
          <a:ln w="38100">
            <a:solidFill>
              <a:srgbClr val="D5D9E5"/>
            </a:solidFill>
            <a:prstDash val="dash"/>
          </a:ln>
        </p:spPr>
        <p:txBody>
          <a:bodyPr/>
          <a:lstStyle/>
          <a:p>
            <a:endParaRPr lang="en-US"/>
          </a:p>
        </p:txBody>
      </p:sp>
      <p:sp>
        <p:nvSpPr>
          <p:cNvPr id="15" name="Text 13"/>
          <p:cNvSpPr/>
          <p:nvPr/>
        </p:nvSpPr>
        <p:spPr>
          <a:xfrm>
            <a:off x="288036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Week 1-2</a:t>
            </a:r>
            <a:endParaRPr lang="en-US" sz="1400" dirty="0"/>
          </a:p>
        </p:txBody>
      </p:sp>
      <p:sp>
        <p:nvSpPr>
          <p:cNvPr id="16" name="Text 14"/>
          <p:cNvSpPr/>
          <p:nvPr/>
        </p:nvSpPr>
        <p:spPr>
          <a:xfrm>
            <a:off x="292608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Activate Claude provider · benchmark draft quality vs heuristic on 10 sample papers · cost &amp; latency telemetry</a:t>
            </a:r>
            <a:endParaRPr lang="en-US" sz="1100" dirty="0"/>
          </a:p>
        </p:txBody>
      </p:sp>
      <p:sp>
        <p:nvSpPr>
          <p:cNvPr id="17" name="Shape 15"/>
          <p:cNvSpPr/>
          <p:nvPr/>
        </p:nvSpPr>
        <p:spPr>
          <a:xfrm>
            <a:off x="5692140" y="1828800"/>
            <a:ext cx="1097280" cy="1097280"/>
          </a:xfrm>
          <a:prstGeom prst="ellipse">
            <a:avLst/>
          </a:prstGeom>
          <a:solidFill>
            <a:srgbClr val="1E2761"/>
          </a:solidFill>
          <a:ln/>
        </p:spPr>
        <p:txBody>
          <a:bodyPr/>
          <a:lstStyle/>
          <a:p>
            <a:endParaRPr lang="en-US"/>
          </a:p>
        </p:txBody>
      </p:sp>
      <p:sp>
        <p:nvSpPr>
          <p:cNvPr id="18" name="Text 16"/>
          <p:cNvSpPr/>
          <p:nvPr/>
        </p:nvSpPr>
        <p:spPr>
          <a:xfrm>
            <a:off x="569214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3</a:t>
            </a:r>
            <a:endParaRPr lang="en-US" sz="3600" dirty="0"/>
          </a:p>
        </p:txBody>
      </p:sp>
      <p:sp>
        <p:nvSpPr>
          <p:cNvPr id="19" name="Shape 17"/>
          <p:cNvSpPr/>
          <p:nvPr/>
        </p:nvSpPr>
        <p:spPr>
          <a:xfrm>
            <a:off x="6789420" y="2377440"/>
            <a:ext cx="1143000" cy="0"/>
          </a:xfrm>
          <a:prstGeom prst="line">
            <a:avLst/>
          </a:prstGeom>
          <a:noFill/>
          <a:ln w="38100">
            <a:solidFill>
              <a:srgbClr val="D5D9E5"/>
            </a:solidFill>
            <a:prstDash val="dash"/>
          </a:ln>
        </p:spPr>
        <p:txBody>
          <a:bodyPr/>
          <a:lstStyle/>
          <a:p>
            <a:endParaRPr lang="en-US"/>
          </a:p>
        </p:txBody>
      </p:sp>
      <p:sp>
        <p:nvSpPr>
          <p:cNvPr id="20" name="Text 18"/>
          <p:cNvSpPr/>
          <p:nvPr/>
        </p:nvSpPr>
        <p:spPr>
          <a:xfrm>
            <a:off x="512064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Week 3-4</a:t>
            </a:r>
            <a:endParaRPr lang="en-US" sz="1400" dirty="0"/>
          </a:p>
        </p:txBody>
      </p:sp>
      <p:sp>
        <p:nvSpPr>
          <p:cNvPr id="21" name="Text 19"/>
          <p:cNvSpPr/>
          <p:nvPr/>
        </p:nvSpPr>
        <p:spPr>
          <a:xfrm>
            <a:off x="516636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Replace TF-IDF with sentence-transformers (@xenova/transformers, local) · re-evaluate matching precision</a:t>
            </a:r>
            <a:endParaRPr lang="en-US" sz="1100" dirty="0"/>
          </a:p>
        </p:txBody>
      </p:sp>
      <p:sp>
        <p:nvSpPr>
          <p:cNvPr id="22" name="Shape 20"/>
          <p:cNvSpPr/>
          <p:nvPr/>
        </p:nvSpPr>
        <p:spPr>
          <a:xfrm>
            <a:off x="7932420" y="1828800"/>
            <a:ext cx="1097280" cy="1097280"/>
          </a:xfrm>
          <a:prstGeom prst="ellipse">
            <a:avLst/>
          </a:prstGeom>
          <a:solidFill>
            <a:srgbClr val="1E2761"/>
          </a:solidFill>
          <a:ln/>
        </p:spPr>
        <p:txBody>
          <a:bodyPr/>
          <a:lstStyle/>
          <a:p>
            <a:endParaRPr lang="en-US"/>
          </a:p>
        </p:txBody>
      </p:sp>
      <p:sp>
        <p:nvSpPr>
          <p:cNvPr id="23" name="Text 21"/>
          <p:cNvSpPr/>
          <p:nvPr/>
        </p:nvSpPr>
        <p:spPr>
          <a:xfrm>
            <a:off x="793242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4</a:t>
            </a:r>
            <a:endParaRPr lang="en-US" sz="3600" dirty="0"/>
          </a:p>
        </p:txBody>
      </p:sp>
      <p:sp>
        <p:nvSpPr>
          <p:cNvPr id="24" name="Shape 22"/>
          <p:cNvSpPr/>
          <p:nvPr/>
        </p:nvSpPr>
        <p:spPr>
          <a:xfrm>
            <a:off x="9029700" y="2377440"/>
            <a:ext cx="1143000" cy="0"/>
          </a:xfrm>
          <a:prstGeom prst="line">
            <a:avLst/>
          </a:prstGeom>
          <a:noFill/>
          <a:ln w="38100">
            <a:solidFill>
              <a:srgbClr val="D5D9E5"/>
            </a:solidFill>
            <a:prstDash val="dash"/>
          </a:ln>
        </p:spPr>
        <p:txBody>
          <a:bodyPr/>
          <a:lstStyle/>
          <a:p>
            <a:endParaRPr lang="en-US"/>
          </a:p>
        </p:txBody>
      </p:sp>
      <p:sp>
        <p:nvSpPr>
          <p:cNvPr id="25" name="Text 23"/>
          <p:cNvSpPr/>
          <p:nvPr/>
        </p:nvSpPr>
        <p:spPr>
          <a:xfrm>
            <a:off x="736092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Week 5-6</a:t>
            </a:r>
            <a:endParaRPr lang="en-US" sz="1400" dirty="0"/>
          </a:p>
        </p:txBody>
      </p:sp>
      <p:sp>
        <p:nvSpPr>
          <p:cNvPr id="26" name="Text 24"/>
          <p:cNvSpPr/>
          <p:nvPr/>
        </p:nvSpPr>
        <p:spPr>
          <a:xfrm>
            <a:off x="740664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Add conflict-of-interest detector (institutional + co-authorship) · automated tests for regression</a:t>
            </a:r>
            <a:endParaRPr lang="en-US" sz="1100" dirty="0"/>
          </a:p>
        </p:txBody>
      </p:sp>
      <p:sp>
        <p:nvSpPr>
          <p:cNvPr id="27" name="Shape 25"/>
          <p:cNvSpPr/>
          <p:nvPr/>
        </p:nvSpPr>
        <p:spPr>
          <a:xfrm>
            <a:off x="10172700" y="1828800"/>
            <a:ext cx="1097280" cy="1097280"/>
          </a:xfrm>
          <a:prstGeom prst="ellipse">
            <a:avLst/>
          </a:prstGeom>
          <a:solidFill>
            <a:srgbClr val="1E2761"/>
          </a:solidFill>
          <a:ln/>
        </p:spPr>
        <p:txBody>
          <a:bodyPr/>
          <a:lstStyle/>
          <a:p>
            <a:endParaRPr lang="en-US"/>
          </a:p>
        </p:txBody>
      </p:sp>
      <p:sp>
        <p:nvSpPr>
          <p:cNvPr id="28" name="Text 26"/>
          <p:cNvSpPr/>
          <p:nvPr/>
        </p:nvSpPr>
        <p:spPr>
          <a:xfrm>
            <a:off x="1017270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5</a:t>
            </a:r>
            <a:endParaRPr lang="en-US" sz="3600" dirty="0"/>
          </a:p>
        </p:txBody>
      </p:sp>
      <p:sp>
        <p:nvSpPr>
          <p:cNvPr id="29" name="Text 27"/>
          <p:cNvSpPr/>
          <p:nvPr/>
        </p:nvSpPr>
        <p:spPr>
          <a:xfrm>
            <a:off x="960120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Submission</a:t>
            </a:r>
            <a:endParaRPr lang="en-US" sz="1400" dirty="0"/>
          </a:p>
        </p:txBody>
      </p:sp>
      <p:sp>
        <p:nvSpPr>
          <p:cNvPr id="30" name="Text 28"/>
          <p:cNvSpPr/>
          <p:nvPr/>
        </p:nvSpPr>
        <p:spPr>
          <a:xfrm>
            <a:off x="964692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Small user study with peers comparing reviewer thoroughness with vs without AI draft assistance</a:t>
            </a:r>
            <a:endParaRPr lang="en-US" sz="1100" dirty="0"/>
          </a:p>
        </p:txBody>
      </p:sp>
      <p:sp>
        <p:nvSpPr>
          <p:cNvPr id="31" name="Shape 29"/>
          <p:cNvSpPr/>
          <p:nvPr/>
        </p:nvSpPr>
        <p:spPr>
          <a:xfrm>
            <a:off x="548640" y="5943600"/>
            <a:ext cx="11064240" cy="548640"/>
          </a:xfrm>
          <a:prstGeom prst="rect">
            <a:avLst/>
          </a:prstGeom>
          <a:solidFill>
            <a:srgbClr val="1E2761"/>
          </a:solidFill>
          <a:ln/>
        </p:spPr>
        <p:txBody>
          <a:bodyPr/>
          <a:lstStyle/>
          <a:p>
            <a:endParaRPr lang="en-US"/>
          </a:p>
        </p:txBody>
      </p:sp>
      <p:sp>
        <p:nvSpPr>
          <p:cNvPr id="32" name="Text 30"/>
          <p:cNvSpPr/>
          <p:nvPr/>
        </p:nvSpPr>
        <p:spPr>
          <a:xfrm>
            <a:off x="548640" y="5943600"/>
            <a:ext cx="11064240" cy="54864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Takeaway: every Assessment-2 experiment has scaffolding waiting for it — the v2 codebase is the platform, not the prototype.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9601200" cy="640080"/>
          </a:xfrm>
          <a:prstGeom prst="rect">
            <a:avLst/>
          </a:prstGeom>
          <a:noFill/>
          <a:ln/>
        </p:spPr>
        <p:txBody>
          <a:bodyPr wrap="square" lIns="0" tIns="0" rIns="0" bIns="0" rtlCol="0" anchor="ctr"/>
          <a:lstStyle/>
          <a:p>
            <a:pPr marL="0" indent="0">
              <a:buNone/>
            </a:pPr>
            <a:r>
              <a:rPr lang="en-US" sz="3000" b="1" dirty="0">
                <a:solidFill>
                  <a:srgbClr val="0F1538"/>
                </a:solidFill>
                <a:latin typeface="Georgia" pitchFamily="34" charset="0"/>
                <a:ea typeface="Georgia" pitchFamily="34" charset="-122"/>
                <a:cs typeface="Georgia" pitchFamily="34" charset="-120"/>
              </a:rPr>
              <a:t>Key references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marL="0" indent="0">
              <a:buNone/>
            </a:pPr>
            <a:r>
              <a:rPr lang="en-US" sz="1300" i="1" dirty="0">
                <a:solidFill>
                  <a:srgbClr val="5C6488"/>
                </a:solidFill>
                <a:latin typeface="Calibri" pitchFamily="34" charset="0"/>
                <a:ea typeface="Calibri" pitchFamily="34" charset="-122"/>
                <a:cs typeface="Calibri" pitchFamily="34" charset="-120"/>
              </a:rPr>
              <a:t>Selected APA 7 sources — full list in the report</a:t>
            </a:r>
            <a:endParaRPr lang="en-US" sz="1300" dirty="0"/>
          </a:p>
        </p:txBody>
      </p:sp>
      <p:sp>
        <p:nvSpPr>
          <p:cNvPr id="5" name="Shape 3"/>
          <p:cNvSpPr/>
          <p:nvPr/>
        </p:nvSpPr>
        <p:spPr>
          <a:xfrm>
            <a:off x="10500055" y="365760"/>
            <a:ext cx="1280160" cy="384048"/>
          </a:xfrm>
          <a:prstGeom prst="rect">
            <a:avLst/>
          </a:prstGeom>
          <a:solidFill>
            <a:srgbClr val="F4B942"/>
          </a:solidFill>
          <a:ln/>
        </p:spPr>
        <p:txBody>
          <a:bodyPr/>
          <a:lstStyle/>
          <a:p>
            <a:endParaRPr lang="en-US"/>
          </a:p>
        </p:txBody>
      </p:sp>
      <p:sp>
        <p:nvSpPr>
          <p:cNvPr id="6" name="Text 4"/>
          <p:cNvSpPr/>
          <p:nvPr/>
        </p:nvSpPr>
        <p:spPr>
          <a:xfrm>
            <a:off x="10500055" y="365760"/>
            <a:ext cx="1280160" cy="384048"/>
          </a:xfrm>
          <a:prstGeom prst="rect">
            <a:avLst/>
          </a:prstGeom>
          <a:noFill/>
          <a:ln/>
        </p:spPr>
        <p:txBody>
          <a:bodyPr wrap="square" lIns="0" tIns="0" rIns="0" bIns="0" rtlCol="0" anchor="ctr"/>
          <a:lstStyle/>
          <a:p>
            <a:pPr marL="0" indent="0" algn="ctr">
              <a:buNone/>
            </a:pPr>
            <a:r>
              <a:rPr lang="en-US" sz="1100" b="1" kern="0" spc="200" dirty="0">
                <a:solidFill>
                  <a:srgbClr val="141C49"/>
                </a:solidFill>
                <a:latin typeface="Calibri" pitchFamily="34" charset="0"/>
                <a:ea typeface="Calibri" pitchFamily="34" charset="-122"/>
                <a:cs typeface="Calibri" pitchFamily="34" charset="-120"/>
              </a:rPr>
              <a:t>TASK 7</a:t>
            </a:r>
            <a:endParaRPr lang="en-US" sz="1100" dirty="0"/>
          </a:p>
        </p:txBody>
      </p:sp>
      <p:sp>
        <p:nvSpPr>
          <p:cNvPr id="7" name="Shape 5"/>
          <p:cNvSpPr/>
          <p:nvPr/>
        </p:nvSpPr>
        <p:spPr>
          <a:xfrm>
            <a:off x="548640" y="1645920"/>
            <a:ext cx="365760" cy="365760"/>
          </a:xfrm>
          <a:prstGeom prst="ellipse">
            <a:avLst/>
          </a:prstGeom>
          <a:solidFill>
            <a:srgbClr val="1E2761"/>
          </a:solidFill>
          <a:ln/>
        </p:spPr>
        <p:txBody>
          <a:bodyPr/>
          <a:lstStyle/>
          <a:p>
            <a:endParaRPr lang="en-US"/>
          </a:p>
        </p:txBody>
      </p:sp>
      <p:sp>
        <p:nvSpPr>
          <p:cNvPr id="8" name="Text 6"/>
          <p:cNvSpPr/>
          <p:nvPr/>
        </p:nvSpPr>
        <p:spPr>
          <a:xfrm>
            <a:off x="548640" y="16459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051560" y="160020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Anthropic. (2025). Claude documentation. https://docs.claude.com</a:t>
            </a:r>
            <a:endParaRPr lang="en-US" sz="1100" dirty="0"/>
          </a:p>
        </p:txBody>
      </p:sp>
      <p:sp>
        <p:nvSpPr>
          <p:cNvPr id="10" name="Shape 8"/>
          <p:cNvSpPr/>
          <p:nvPr/>
        </p:nvSpPr>
        <p:spPr>
          <a:xfrm>
            <a:off x="548640" y="2212848"/>
            <a:ext cx="365760" cy="365760"/>
          </a:xfrm>
          <a:prstGeom prst="ellipse">
            <a:avLst/>
          </a:prstGeom>
          <a:solidFill>
            <a:srgbClr val="1E2761"/>
          </a:solidFill>
          <a:ln/>
        </p:spPr>
        <p:txBody>
          <a:bodyPr/>
          <a:lstStyle/>
          <a:p>
            <a:endParaRPr lang="en-US"/>
          </a:p>
        </p:txBody>
      </p:sp>
      <p:sp>
        <p:nvSpPr>
          <p:cNvPr id="11" name="Text 9"/>
          <p:cNvSpPr/>
          <p:nvPr/>
        </p:nvSpPr>
        <p:spPr>
          <a:xfrm>
            <a:off x="548640" y="22128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51560" y="2167128"/>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Bender, E. M., Gebru, T., McMillan-Major, A., &amp; Shmitchell, S. (2021). On the dangers of stochastic parrots: Can language models be too big? FAccT '21, 610-623.</a:t>
            </a:r>
            <a:endParaRPr lang="en-US" sz="1100" dirty="0"/>
          </a:p>
        </p:txBody>
      </p:sp>
      <p:sp>
        <p:nvSpPr>
          <p:cNvPr id="13" name="Shape 11"/>
          <p:cNvSpPr/>
          <p:nvPr/>
        </p:nvSpPr>
        <p:spPr>
          <a:xfrm>
            <a:off x="548640" y="2779776"/>
            <a:ext cx="365760" cy="365760"/>
          </a:xfrm>
          <a:prstGeom prst="ellipse">
            <a:avLst/>
          </a:prstGeom>
          <a:solidFill>
            <a:srgbClr val="1E2761"/>
          </a:solidFill>
          <a:ln/>
        </p:spPr>
        <p:txBody>
          <a:bodyPr/>
          <a:lstStyle/>
          <a:p>
            <a:endParaRPr lang="en-US"/>
          </a:p>
        </p:txBody>
      </p:sp>
      <p:sp>
        <p:nvSpPr>
          <p:cNvPr id="14" name="Text 12"/>
          <p:cNvSpPr/>
          <p:nvPr/>
        </p:nvSpPr>
        <p:spPr>
          <a:xfrm>
            <a:off x="548640" y="27797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51560" y="2734056"/>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Brown, T. B., et al. (2020). Language models are few-shot learners. Advances in Neural Information Processing Systems, 33, 1877-1901.</a:t>
            </a:r>
            <a:endParaRPr lang="en-US" sz="1100" dirty="0"/>
          </a:p>
        </p:txBody>
      </p:sp>
      <p:sp>
        <p:nvSpPr>
          <p:cNvPr id="16" name="Shape 14"/>
          <p:cNvSpPr/>
          <p:nvPr/>
        </p:nvSpPr>
        <p:spPr>
          <a:xfrm>
            <a:off x="548640" y="3346704"/>
            <a:ext cx="365760" cy="365760"/>
          </a:xfrm>
          <a:prstGeom prst="ellipse">
            <a:avLst/>
          </a:prstGeom>
          <a:solidFill>
            <a:srgbClr val="1E2761"/>
          </a:solidFill>
          <a:ln/>
        </p:spPr>
        <p:txBody>
          <a:bodyPr/>
          <a:lstStyle/>
          <a:p>
            <a:endParaRPr lang="en-US"/>
          </a:p>
        </p:txBody>
      </p:sp>
      <p:sp>
        <p:nvSpPr>
          <p:cNvPr id="17" name="Text 15"/>
          <p:cNvSpPr/>
          <p:nvPr/>
        </p:nvSpPr>
        <p:spPr>
          <a:xfrm>
            <a:off x="548640" y="334670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051560" y="3300984"/>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Liang, W., Yuksekgonul, M., Mao, Y., Wu, E., &amp; Zou, J. (2023). GPT detectors are biased against non-native English writers. Patterns, 4(7), 100779.</a:t>
            </a:r>
            <a:endParaRPr lang="en-US" sz="1100" dirty="0"/>
          </a:p>
        </p:txBody>
      </p:sp>
      <p:sp>
        <p:nvSpPr>
          <p:cNvPr id="19" name="Shape 17"/>
          <p:cNvSpPr/>
          <p:nvPr/>
        </p:nvSpPr>
        <p:spPr>
          <a:xfrm>
            <a:off x="548640" y="3913632"/>
            <a:ext cx="365760" cy="365760"/>
          </a:xfrm>
          <a:prstGeom prst="ellipse">
            <a:avLst/>
          </a:prstGeom>
          <a:solidFill>
            <a:srgbClr val="1E2761"/>
          </a:solidFill>
          <a:ln/>
        </p:spPr>
        <p:txBody>
          <a:bodyPr/>
          <a:lstStyle/>
          <a:p>
            <a:endParaRPr lang="en-US"/>
          </a:p>
        </p:txBody>
      </p:sp>
      <p:sp>
        <p:nvSpPr>
          <p:cNvPr id="20" name="Text 18"/>
          <p:cNvSpPr/>
          <p:nvPr/>
        </p:nvSpPr>
        <p:spPr>
          <a:xfrm>
            <a:off x="548640" y="39136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051560" y="3867912"/>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Reimers, N., &amp; Gurevych, I. (2019). Sentence-BERT: Sentence embeddings using Siamese BERT-networks. EMNLP-IJCNLP, 3982-3992.</a:t>
            </a:r>
            <a:endParaRPr lang="en-US" sz="1100" dirty="0"/>
          </a:p>
        </p:txBody>
      </p:sp>
      <p:sp>
        <p:nvSpPr>
          <p:cNvPr id="22" name="Shape 20"/>
          <p:cNvSpPr/>
          <p:nvPr/>
        </p:nvSpPr>
        <p:spPr>
          <a:xfrm>
            <a:off x="548640" y="4480560"/>
            <a:ext cx="365760" cy="365760"/>
          </a:xfrm>
          <a:prstGeom prst="ellipse">
            <a:avLst/>
          </a:prstGeom>
          <a:solidFill>
            <a:srgbClr val="1E2761"/>
          </a:solidFill>
          <a:ln/>
        </p:spPr>
        <p:txBody>
          <a:bodyPr/>
          <a:lstStyle/>
          <a:p>
            <a:endParaRPr lang="en-US"/>
          </a:p>
        </p:txBody>
      </p:sp>
      <p:sp>
        <p:nvSpPr>
          <p:cNvPr id="23" name="Text 21"/>
          <p:cNvSpPr/>
          <p:nvPr/>
        </p:nvSpPr>
        <p:spPr>
          <a:xfrm>
            <a:off x="548640" y="44805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2"/>
          <p:cNvSpPr/>
          <p:nvPr/>
        </p:nvSpPr>
        <p:spPr>
          <a:xfrm>
            <a:off x="1051560" y="4434840"/>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Salton, G., &amp; Buckley, C. (1988). Term-weighting approaches in automatic text retrieval. Information Processing &amp; Management, 24(5), 513-523.</a:t>
            </a:r>
            <a:endParaRPr lang="en-US" sz="1100" dirty="0"/>
          </a:p>
        </p:txBody>
      </p:sp>
      <p:sp>
        <p:nvSpPr>
          <p:cNvPr id="25" name="Shape 23"/>
          <p:cNvSpPr/>
          <p:nvPr/>
        </p:nvSpPr>
        <p:spPr>
          <a:xfrm>
            <a:off x="548640" y="5047488"/>
            <a:ext cx="365760" cy="365760"/>
          </a:xfrm>
          <a:prstGeom prst="ellipse">
            <a:avLst/>
          </a:prstGeom>
          <a:solidFill>
            <a:srgbClr val="1E2761"/>
          </a:solidFill>
          <a:ln/>
        </p:spPr>
        <p:txBody>
          <a:bodyPr/>
          <a:lstStyle/>
          <a:p>
            <a:endParaRPr lang="en-US"/>
          </a:p>
        </p:txBody>
      </p:sp>
      <p:sp>
        <p:nvSpPr>
          <p:cNvPr id="26" name="Text 24"/>
          <p:cNvSpPr/>
          <p:nvPr/>
        </p:nvSpPr>
        <p:spPr>
          <a:xfrm>
            <a:off x="548640" y="50474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7" name="Text 25"/>
          <p:cNvSpPr/>
          <p:nvPr/>
        </p:nvSpPr>
        <p:spPr>
          <a:xfrm>
            <a:off x="1051560" y="5001768"/>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Vaswani, A., et al. (2017). Attention is all you need. Advances in Neural Information Processing Systems, 30.</a:t>
            </a:r>
            <a:endParaRPr lang="en-US" sz="1100" dirty="0"/>
          </a:p>
        </p:txBody>
      </p:sp>
      <p:sp>
        <p:nvSpPr>
          <p:cNvPr id="28" name="Shape 26"/>
          <p:cNvSpPr/>
          <p:nvPr/>
        </p:nvSpPr>
        <p:spPr>
          <a:xfrm>
            <a:off x="548640" y="5614416"/>
            <a:ext cx="365760" cy="365760"/>
          </a:xfrm>
          <a:prstGeom prst="ellipse">
            <a:avLst/>
          </a:prstGeom>
          <a:solidFill>
            <a:srgbClr val="1E2761"/>
          </a:solidFill>
          <a:ln/>
        </p:spPr>
        <p:txBody>
          <a:bodyPr/>
          <a:lstStyle/>
          <a:p>
            <a:endParaRPr lang="en-US"/>
          </a:p>
        </p:txBody>
      </p:sp>
      <p:sp>
        <p:nvSpPr>
          <p:cNvPr id="29" name="Text 27"/>
          <p:cNvSpPr/>
          <p:nvPr/>
        </p:nvSpPr>
        <p:spPr>
          <a:xfrm>
            <a:off x="548640" y="561441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0" name="Text 28"/>
          <p:cNvSpPr/>
          <p:nvPr/>
        </p:nvSpPr>
        <p:spPr>
          <a:xfrm>
            <a:off x="1051560" y="5568696"/>
            <a:ext cx="10515600" cy="502920"/>
          </a:xfrm>
          <a:prstGeom prst="rect">
            <a:avLst/>
          </a:prstGeom>
          <a:noFill/>
          <a:ln/>
        </p:spPr>
        <p:txBody>
          <a:bodyPr wrap="square" lIns="0" tIns="0" rIns="0" bIns="0" rtlCol="0" anchor="ctr"/>
          <a:lstStyle/>
          <a:p>
            <a:pPr marL="0" indent="0">
              <a:buNone/>
            </a:pPr>
            <a:r>
              <a:rPr lang="en-US" sz="1100" dirty="0">
                <a:solidFill>
                  <a:srgbClr val="0F1538"/>
                </a:solidFill>
                <a:latin typeface="Calibri" pitchFamily="34" charset="0"/>
                <a:ea typeface="Calibri" pitchFamily="34" charset="-122"/>
                <a:cs typeface="Calibri" pitchFamily="34" charset="-120"/>
              </a:rPr>
              <a:t>Weidinger, L., et al. (2022). Taxonomy of risks posed by language models. FAccT '22, 214-229.</a:t>
            </a:r>
            <a:endParaRPr lang="en-US" sz="1100" dirty="0"/>
          </a:p>
        </p:txBody>
      </p:sp>
      <p:sp>
        <p:nvSpPr>
          <p:cNvPr id="31" name="Text 29"/>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2" name="Text 30"/>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2377440"/>
            <a:ext cx="457200" cy="73152"/>
          </a:xfrm>
          <a:prstGeom prst="rect">
            <a:avLst/>
          </a:prstGeom>
          <a:solidFill>
            <a:srgbClr val="F4B942"/>
          </a:solidFill>
          <a:ln/>
        </p:spPr>
        <p:txBody>
          <a:bodyPr/>
          <a:lstStyle/>
          <a:p>
            <a:endParaRPr lang="en-US"/>
          </a:p>
        </p:txBody>
      </p:sp>
      <p:sp>
        <p:nvSpPr>
          <p:cNvPr id="3" name="Text 1"/>
          <p:cNvSpPr/>
          <p:nvPr/>
        </p:nvSpPr>
        <p:spPr>
          <a:xfrm>
            <a:off x="548640" y="2560320"/>
            <a:ext cx="10972800" cy="548640"/>
          </a:xfrm>
          <a:prstGeom prst="rect">
            <a:avLst/>
          </a:prstGeom>
          <a:noFill/>
          <a:ln/>
        </p:spPr>
        <p:txBody>
          <a:bodyPr wrap="square" lIns="0" tIns="0" rIns="0" bIns="0" rtlCol="0" anchor="ctr"/>
          <a:lstStyle/>
          <a:p>
            <a:pPr marL="0" indent="0">
              <a:buNone/>
            </a:pPr>
            <a:r>
              <a:rPr lang="en-US" sz="1600" b="1" kern="0" spc="800" dirty="0">
                <a:solidFill>
                  <a:srgbClr val="CADCFC"/>
                </a:solidFill>
                <a:latin typeface="Calibri" pitchFamily="34" charset="0"/>
                <a:ea typeface="Calibri" pitchFamily="34" charset="-122"/>
                <a:cs typeface="Calibri" pitchFamily="34" charset="-120"/>
              </a:rPr>
              <a:t>THANK YOU</a:t>
            </a:r>
            <a:endParaRPr lang="en-US" sz="1600" dirty="0"/>
          </a:p>
        </p:txBody>
      </p:sp>
      <p:sp>
        <p:nvSpPr>
          <p:cNvPr id="4" name="Text 2"/>
          <p:cNvSpPr/>
          <p:nvPr/>
        </p:nvSpPr>
        <p:spPr>
          <a:xfrm>
            <a:off x="548640" y="3108960"/>
            <a:ext cx="10972800" cy="164592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Questions, suggestions, or</a:t>
            </a:r>
            <a:endParaRPr lang="en-US" sz="4800" dirty="0"/>
          </a:p>
          <a:p>
            <a:pPr marL="0" indent="0">
              <a:buNone/>
            </a:pPr>
            <a:r>
              <a:rPr lang="en-US" sz="4800" b="1" dirty="0">
                <a:solidFill>
                  <a:srgbClr val="FFFFFF"/>
                </a:solidFill>
                <a:latin typeface="Georgia" pitchFamily="34" charset="0"/>
                <a:ea typeface="Georgia" pitchFamily="34" charset="-122"/>
                <a:cs typeface="Georgia" pitchFamily="34" charset="-120"/>
              </a:rPr>
              <a:t>budget approvals welcome.</a:t>
            </a:r>
            <a:endParaRPr lang="en-US" sz="4800" dirty="0"/>
          </a:p>
        </p:txBody>
      </p:sp>
      <p:sp>
        <p:nvSpPr>
          <p:cNvPr id="5" name="Text 3"/>
          <p:cNvSpPr/>
          <p:nvPr/>
        </p:nvSpPr>
        <p:spPr>
          <a:xfrm>
            <a:off x="548640" y="5120640"/>
            <a:ext cx="109728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Bhanu Gupta  ·</a:t>
            </a:r>
            <a:endParaRPr lang="en-US" sz="1600" dirty="0"/>
          </a:p>
        </p:txBody>
      </p:sp>
      <p:sp>
        <p:nvSpPr>
          <p:cNvPr id="6" name="Text 4"/>
          <p:cNvSpPr/>
          <p:nvPr/>
        </p:nvSpPr>
        <p:spPr>
          <a:xfrm>
            <a:off x="548640" y="5486400"/>
            <a:ext cx="10972800" cy="36576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Repo: paper-submission-system-v2  ·</a:t>
            </a:r>
            <a:endParaRPr lang="en-US" sz="1200" dirty="0"/>
          </a:p>
        </p:txBody>
      </p:sp>
      <p:sp>
        <p:nvSpPr>
          <p:cNvPr id="7" name="Shape 5"/>
          <p:cNvSpPr/>
          <p:nvPr/>
        </p:nvSpPr>
        <p:spPr>
          <a:xfrm>
            <a:off x="10728655" y="548640"/>
            <a:ext cx="822960" cy="822960"/>
          </a:xfrm>
          <a:prstGeom prst="ellipse">
            <a:avLst/>
          </a:prstGeom>
          <a:solidFill>
            <a:srgbClr val="141C49"/>
          </a:solidFill>
          <a:ln w="12700">
            <a:solidFill>
              <a:srgbClr val="F4B942"/>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0911535" y="731520"/>
            <a:ext cx="457200"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3443</Words>
  <Application>Microsoft Office PowerPoint</Application>
  <PresentationFormat>Widescreen</PresentationFormat>
  <Paragraphs>329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AI-augmented Paper Submission System</dc:title>
  <dc:subject>PptxGenJS Presentation</dc:subject>
  <dc:creator>Bhanu Gupta</dc:creator>
  <cp:lastModifiedBy>Bhanu Gupta</cp:lastModifiedBy>
  <cp:revision>2</cp:revision>
  <dcterms:created xsi:type="dcterms:W3CDTF">2026-05-04T20:56:34Z</dcterms:created>
  <dcterms:modified xsi:type="dcterms:W3CDTF">2026-05-06T20:54:40Z</dcterms:modified>
</cp:coreProperties>
</file>